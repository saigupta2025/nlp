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8" r:id="rId4"/>
    <p:sldId id="259" r:id="rId5"/>
    <p:sldId id="277" r:id="rId6"/>
    <p:sldId id="261" r:id="rId7"/>
    <p:sldId id="278" r:id="rId8"/>
    <p:sldId id="262" r:id="rId9"/>
    <p:sldId id="279" r:id="rId10"/>
    <p:sldId id="280" r:id="rId11"/>
    <p:sldId id="281" r:id="rId12"/>
    <p:sldId id="282" r:id="rId13"/>
    <p:sldId id="263" r:id="rId14"/>
    <p:sldId id="264" r:id="rId15"/>
    <p:sldId id="283" r:id="rId16"/>
    <p:sldId id="284" r:id="rId17"/>
    <p:sldId id="285" r:id="rId18"/>
    <p:sldId id="286" r:id="rId19"/>
    <p:sldId id="265" r:id="rId20"/>
    <p:sldId id="26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320" r:id="rId32"/>
    <p:sldId id="297" r:id="rId33"/>
    <p:sldId id="298" r:id="rId34"/>
    <p:sldId id="321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15" r:id="rId44"/>
    <p:sldId id="316" r:id="rId45"/>
    <p:sldId id="317" r:id="rId46"/>
    <p:sldId id="318" r:id="rId47"/>
    <p:sldId id="319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-902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4557"/>
            <a:ext cx="7772400" cy="2925893"/>
          </a:xfrm>
        </p:spPr>
        <p:txBody>
          <a:bodyPr>
            <a:normAutofit fontScale="90000"/>
          </a:bodyPr>
          <a:lstStyle/>
          <a:p>
            <a:r>
              <a:rPr lang="en-IN" sz="5400" b="1" dirty="0" smtClean="0"/>
              <a:t>UNIT 5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DISCOURSE ANALYSIS AND LEXICAL </a:t>
            </a:r>
            <a:r>
              <a:rPr lang="en-IN" b="1" dirty="0" smtClean="0"/>
              <a:t>RESOURCES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57010"/>
            <a:ext cx="6400800" cy="1828800"/>
          </a:xfrm>
        </p:spPr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What is Discourse?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Discourse refers to communication through spoken or written language.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is a formal term that encompasses the way in which language is used to convey ideas, engage in dialogue, and construct meaning within a particular context.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itchFamily="18" charset="0"/>
                <a:cs typeface="Times New Roman" pitchFamily="18" charset="0"/>
              </a:rPr>
              <a:t>Discourse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Discourse segmentation is the process of dividing a discourse into smaller units, such as sentences, clauses, paragraphs, or topics, to understand its structure and meaning more effectively.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These units, called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discourse segments, help in identifying boundaries and organizing the information for easier interpretation. 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Types of Discourse Segmentation 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1. </a:t>
            </a:r>
            <a:r>
              <a:rPr lang="en-IN" b="1" dirty="0" smtClean="0"/>
              <a:t>Sentence-Level Segmentation:</a:t>
            </a:r>
            <a:r>
              <a:rPr lang="en-IN" dirty="0" smtClean="0"/>
              <a:t> Splits a discourse into individual sentences. </a:t>
            </a:r>
          </a:p>
          <a:p>
            <a:pPr algn="just">
              <a:buNone/>
            </a:pPr>
            <a:r>
              <a:rPr lang="en-IN" dirty="0" smtClean="0"/>
              <a:t>2. </a:t>
            </a:r>
            <a:r>
              <a:rPr lang="en-IN" b="1" dirty="0" smtClean="0"/>
              <a:t>Topic-Based Segmentation:</a:t>
            </a:r>
            <a:r>
              <a:rPr lang="en-IN" dirty="0" smtClean="0"/>
              <a:t> Divides the discourse into sections based on the theme or subject. </a:t>
            </a:r>
          </a:p>
          <a:p>
            <a:pPr algn="just">
              <a:buNone/>
            </a:pPr>
            <a:r>
              <a:rPr lang="en-IN" dirty="0" smtClean="0"/>
              <a:t>3. </a:t>
            </a:r>
            <a:r>
              <a:rPr lang="en-IN" b="1" dirty="0" smtClean="0"/>
              <a:t>Dialogue Segmentation: </a:t>
            </a:r>
            <a:r>
              <a:rPr lang="en-IN" dirty="0" smtClean="0"/>
              <a:t>Segments dialogues into conversational turns or speaker utterances.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9605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 of Discourse Segmentation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506918" cy="508809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Input Text: </a:t>
            </a: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 went to the store. He bought some apples. Later, he decided to bake a pie." </a:t>
            </a:r>
          </a:p>
          <a:p>
            <a:pPr>
              <a:buNone/>
            </a:pPr>
            <a:r>
              <a:rPr lang="en-IN" b="1" dirty="0" smtClean="0"/>
              <a:t>Segmented Discourse: </a:t>
            </a:r>
          </a:p>
          <a:p>
            <a:pPr>
              <a:buNone/>
            </a:pPr>
            <a:r>
              <a:rPr lang="en-IN" dirty="0" smtClean="0"/>
              <a:t>	1. Sentence 1: </a:t>
            </a:r>
            <a:r>
              <a:rPr lang="en-IN" i="1" dirty="0" smtClean="0"/>
              <a:t>"John went to the store." </a:t>
            </a:r>
          </a:p>
          <a:p>
            <a:pPr>
              <a:buNone/>
            </a:pPr>
            <a:r>
              <a:rPr lang="en-IN" dirty="0" smtClean="0"/>
              <a:t>	2. Sentence 2: </a:t>
            </a:r>
            <a:r>
              <a:rPr lang="en-IN" i="1" dirty="0" smtClean="0"/>
              <a:t>"He bought some apples." </a:t>
            </a:r>
          </a:p>
          <a:p>
            <a:pPr>
              <a:buNone/>
            </a:pPr>
            <a:r>
              <a:rPr lang="en-IN" dirty="0" smtClean="0"/>
              <a:t>	3. Sentence 3: </a:t>
            </a:r>
            <a:r>
              <a:rPr lang="en-IN" i="1" dirty="0" smtClean="0"/>
              <a:t>"Later, he decided to bake a pie." </a:t>
            </a:r>
          </a:p>
          <a:p>
            <a:pPr algn="just">
              <a:buNone/>
            </a:pPr>
            <a:r>
              <a:rPr lang="en-IN" dirty="0" smtClean="0"/>
              <a:t>Each segment conveys a meaningful unit of information, contributing to the overall coherence of the discourse.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/>
          <a:lstStyle/>
          <a:p>
            <a:r>
              <a:rPr b="1">
                <a:latin typeface="+mn-lt"/>
              </a:rPr>
              <a:t>What is Coherence?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557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Coherence refers to the logical flow and connection between segments in a discourse.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coherent discourse enables the reader or listener to understand the relationships between ideas and follow the progression of thought</a:t>
            </a:r>
            <a:r>
              <a:rPr smtClean="0"/>
              <a:t>.</a:t>
            </a:r>
            <a:endParaRPr/>
          </a:p>
          <a:p>
            <a:pPr algn="just"/>
            <a:r>
              <a:t>Without coherence, sentences may be grammatically correct but meaningless </a:t>
            </a:r>
            <a:r>
              <a:rPr/>
              <a:t>together</a:t>
            </a:r>
            <a:r>
              <a:rPr smtClean="0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Types of Coherence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Local Coherence: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Connections between adjacent sentences or segments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Global Coherence: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Logical consistency across the entire discourse</a:t>
            </a:r>
            <a:r>
              <a:rPr lang="en-IN" dirty="0" smtClean="0"/>
              <a:t>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92321" cy="954555"/>
          </a:xfrm>
        </p:spPr>
        <p:txBody>
          <a:bodyPr/>
          <a:lstStyle/>
          <a:p>
            <a:r>
              <a:rPr lang="en-IN" b="1" dirty="0" smtClean="0"/>
              <a:t>Devices for Achieving Coherence 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367" y="1424066"/>
            <a:ext cx="8686800" cy="4998152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IN" b="1" dirty="0" smtClean="0"/>
              <a:t>1. Referential Devices </a:t>
            </a:r>
          </a:p>
          <a:p>
            <a:pPr lvl="1" algn="just"/>
            <a:r>
              <a:rPr lang="en-IN" b="1" dirty="0" smtClean="0"/>
              <a:t>Definition: </a:t>
            </a:r>
            <a:r>
              <a:rPr lang="en-IN" dirty="0" smtClean="0"/>
              <a:t>Use of pronouns or phrases to refer back to earlier elements in a discourse. </a:t>
            </a:r>
          </a:p>
          <a:p>
            <a:pPr algn="just">
              <a:buNone/>
            </a:pPr>
            <a:r>
              <a:rPr lang="en-IN" b="1" dirty="0" smtClean="0"/>
              <a:t>			Example: </a:t>
            </a:r>
          </a:p>
          <a:p>
            <a:pPr algn="just">
              <a:buNone/>
            </a:pPr>
            <a:r>
              <a:rPr lang="en-IN" b="1" dirty="0" smtClean="0"/>
              <a:t>			Text: </a:t>
            </a:r>
            <a:r>
              <a:rPr lang="en-IN" i="1" dirty="0" smtClean="0"/>
              <a:t>John bought a new car. He is very happy with it. </a:t>
            </a:r>
          </a:p>
          <a:p>
            <a:pPr algn="just">
              <a:buNone/>
            </a:pPr>
            <a:r>
              <a:rPr lang="en-IN" dirty="0" smtClean="0"/>
              <a:t>				o Explanation: </a:t>
            </a:r>
          </a:p>
          <a:p>
            <a:pPr algn="just">
              <a:buNone/>
            </a:pPr>
            <a:r>
              <a:rPr lang="en-IN" i="1" dirty="0" smtClean="0"/>
              <a:t>					-&gt; He refers back to John. </a:t>
            </a:r>
          </a:p>
          <a:p>
            <a:pPr algn="just">
              <a:buNone/>
            </a:pPr>
            <a:r>
              <a:rPr lang="en-IN" i="1" dirty="0" smtClean="0"/>
              <a:t>					-&gt; It refers back to a new car. </a:t>
            </a:r>
          </a:p>
          <a:p>
            <a:pPr algn="just">
              <a:buNone/>
            </a:pPr>
            <a:r>
              <a:rPr lang="en-IN" i="1" dirty="0" smtClean="0"/>
              <a:t>			These pronouns maintain coherence by avoiding repetition.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337" y="554636"/>
            <a:ext cx="8686800" cy="52165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2. Lexical Cohesion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Repetition of key terms or use of synonyms to link ideas. </a:t>
            </a:r>
          </a:p>
          <a:p>
            <a:pPr lvl="1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Example: </a:t>
            </a:r>
          </a:p>
          <a:p>
            <a:pPr lvl="1"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Text: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The project was challenging. Despite the difficulties, the team embraced the challenge and completed it successfully. </a:t>
            </a:r>
          </a:p>
          <a:p>
            <a:pPr lvl="1">
              <a:buNone/>
            </a:pP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Explanation: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3" algn="just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Challenging and challenge are repetitions of a key term. </a:t>
            </a:r>
          </a:p>
          <a:p>
            <a:pPr lvl="3" algn="just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Difficulties is a near-synonym, reinforcing the theme of overcoming obstacles. </a:t>
            </a:r>
          </a:p>
          <a:p>
            <a:pPr lvl="1">
              <a:buNone/>
            </a:pP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676"/>
            <a:ext cx="8229600" cy="554636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3. Conjunctions and Discourse Markers 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Definition: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Words or phrases that indicate relationships between sentences or ideas, such as addition, contrast, cause, or sequence. 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Example: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Text: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The team worked hard. However, the project was delayed due to unforeseen circumstances</a:t>
            </a: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Explanation: </a:t>
            </a:r>
          </a:p>
          <a:p>
            <a:pPr lvl="2" algn="just"/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However signals a contrast between the team's effort and the project's delay, maintaining coherence.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9626"/>
            <a:ext cx="8229600" cy="555653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 smtClean="0"/>
              <a:t>4. Ellipsis </a:t>
            </a:r>
          </a:p>
          <a:p>
            <a:pPr algn="just">
              <a:buNone/>
            </a:pPr>
            <a:r>
              <a:rPr lang="en-IN" b="1" dirty="0" smtClean="0"/>
              <a:t>	Definition: </a:t>
            </a:r>
            <a:r>
              <a:rPr lang="en-IN" dirty="0" smtClean="0"/>
              <a:t>Omitting repeated words or phrases to avoid redundancy while ensuring meaning remains clear. </a:t>
            </a:r>
          </a:p>
          <a:p>
            <a:endParaRPr lang="en-IN" dirty="0" smtClean="0"/>
          </a:p>
          <a:p>
            <a:r>
              <a:rPr lang="en-IN" b="1" dirty="0" smtClean="0"/>
              <a:t>Example: </a:t>
            </a:r>
          </a:p>
          <a:p>
            <a:pPr>
              <a:buNone/>
            </a:pPr>
            <a:r>
              <a:rPr lang="en-IN" b="1" dirty="0" smtClean="0"/>
              <a:t>	Text: </a:t>
            </a:r>
            <a:r>
              <a:rPr lang="en-IN" i="1" dirty="0" smtClean="0"/>
              <a:t>James likes pizza, and Sarah does too.</a:t>
            </a:r>
            <a:r>
              <a:rPr lang="en-IN" b="1" i="1" dirty="0" smtClean="0"/>
              <a:t> </a:t>
            </a:r>
          </a:p>
          <a:p>
            <a:pPr>
              <a:buNone/>
            </a:pPr>
            <a:r>
              <a:rPr lang="en-IN" dirty="0" smtClean="0"/>
              <a:t>		</a:t>
            </a:r>
            <a:r>
              <a:rPr lang="en-IN" b="1" dirty="0" smtClean="0"/>
              <a:t>Explanation: </a:t>
            </a:r>
          </a:p>
          <a:p>
            <a:pPr lvl="2"/>
            <a:r>
              <a:rPr lang="en-IN" dirty="0" smtClean="0"/>
              <a:t>The phrase </a:t>
            </a:r>
            <a:r>
              <a:rPr lang="en-IN" i="1" dirty="0" smtClean="0"/>
              <a:t>likes pizza is omitted after Sarah does, as it is implied. </a:t>
            </a:r>
          </a:p>
          <a:p>
            <a:pPr lvl="2"/>
            <a:r>
              <a:rPr lang="en-IN" dirty="0" smtClean="0"/>
              <a:t>This omission avoids redundancy while maintaining clarity and coherence 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 of Coherence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Coherent Text: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"Anna loves gardening. She spends her weekends planting flowers and vegetables. Her garden is admired by her neighbours." 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Coherence Explanation: </a:t>
            </a:r>
          </a:p>
          <a:p>
            <a:pPr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subject (Anna and her gardening activities) is maintained throughout.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Pronoun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"she" refers back to "Anna", ensuring cohesion.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sentences logically follow each other, expanding on Anna’s gardening.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/>
          <a:lstStyle/>
          <a:p>
            <a:r>
              <a:rPr b="1"/>
              <a:t>Models of Coherence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82262" cy="4525963"/>
          </a:xfrm>
        </p:spPr>
        <p:txBody>
          <a:bodyPr/>
          <a:lstStyle/>
          <a:p>
            <a:pPr algn="just"/>
            <a:r>
              <a:rPr smtClean="0"/>
              <a:t>Centering </a:t>
            </a:r>
            <a:r>
              <a:t>Theory: Focuses on entity continuity between sentences.</a:t>
            </a:r>
          </a:p>
          <a:p>
            <a:pPr algn="just"/>
            <a:r>
              <a:t>RST (Rhetorical Structure Theory): Analyzes relations like contrast, cause, elaboration.</a:t>
            </a:r>
          </a:p>
          <a:p>
            <a:pPr algn="just"/>
            <a:r>
              <a:t>Entity Grid Model: Represents discourse structure by tracking entities across sentences.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Coherence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mtClean="0"/>
              <a:t>Bad </a:t>
            </a:r>
            <a:r>
              <a:t>Coherence: 'I love pizza. The sun is hot. Dogs bark at night.'</a:t>
            </a:r>
          </a:p>
          <a:p>
            <a:pPr algn="just"/>
            <a:r>
              <a:t>Good </a:t>
            </a:r>
            <a:r>
              <a:rPr/>
              <a:t>Coherence</a:t>
            </a:r>
            <a:r>
              <a:rPr smtClean="0"/>
              <a:t>: 'I love pizza. My favorite is pepperoni. I eat it every weekend.'</a:t>
            </a:r>
            <a:endParaRPr/>
          </a:p>
          <a:p>
            <a:pPr algn="just"/>
            <a:r>
              <a:rPr smtClean="0"/>
              <a:t>Analysis</a:t>
            </a:r>
            <a:r>
              <a:t>: Coherence </a:t>
            </a:r>
            <a:r>
              <a:rPr/>
              <a:t>improves </a:t>
            </a:r>
            <a:r>
              <a:rPr smtClean="0"/>
              <a:t>when</a:t>
            </a:r>
            <a:r>
              <a:rPr lang="en-IN" dirty="0" smtClean="0"/>
              <a:t> </a:t>
            </a:r>
            <a:r>
              <a:rPr smtClean="0"/>
              <a:t>entities/topics </a:t>
            </a:r>
            <a:r>
              <a:t>remain consistent.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4656"/>
            <a:ext cx="8229600" cy="5601507"/>
          </a:xfrm>
        </p:spPr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Incoherent Text: </a:t>
            </a:r>
          </a:p>
          <a:p>
            <a:pPr algn="just">
              <a:buNone/>
            </a:pP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	"Anna loves gardening. The weather was cold last week. Many people travel during holidays." </a:t>
            </a: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Lack of Coherence: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There is no logical connection between the sentences.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topic shifts abruptly from gardening to weather to holidays. </a:t>
            </a: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Example of Topic-Based Segmentation and Coherence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Input Text: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"The weather was sunny and warm, perfect for a picnic. Sarah decided to invite her friends for a day at the park. They brought sandwiches, drinks to park. Later, they enjoyed playing Frisbee and relaxing under the trees</a:t>
            </a: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."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9725"/>
            <a:ext cx="8229600" cy="6011055"/>
          </a:xfrm>
        </p:spPr>
        <p:txBody>
          <a:bodyPr>
            <a:normAutofit/>
          </a:bodyPr>
          <a:lstStyle/>
          <a:p>
            <a:pPr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Segmented and Coherent Text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1. Segment 1: Setting the Scene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"The weather was sunny and warm, perfect for a picnic."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2. Segment 2: Planning the Activity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"Sarah decided to invite her friends for a day at the park."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3. Segment 3: Enjoying the Picnic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"They brought sandwiches, drinks to park. Later, they enjoyed playing Frisbee and relaxing under the trees."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4458"/>
            <a:ext cx="8229600" cy="5301705"/>
          </a:xfrm>
        </p:spPr>
        <p:txBody>
          <a:bodyPr/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Coherence Explanation: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Each segment builds on the previous one, maintaining a logical flow from the weather to Sarah’s decision and finally to the picnic activities.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r>
              <a:rPr b="1"/>
              <a:t>Reference Phenomena in Discourse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Reference phenomena are linguistic mechanisms used to link words or expressions within a discourse, enabling coherence and meaning. References connect elements in the text (referred to as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referents) to their mentions (referred to as anaphors or cataphors). 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4516"/>
          </a:xfrm>
        </p:spPr>
        <p:txBody>
          <a:bodyPr/>
          <a:lstStyle/>
          <a:p>
            <a:r>
              <a:rPr lang="en-IN" b="1" dirty="0" smtClean="0"/>
              <a:t>Types of Reference Phenomena 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9154"/>
            <a:ext cx="8229600" cy="512663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 smtClean="0"/>
              <a:t>1. Anaphora: </a:t>
            </a:r>
          </a:p>
          <a:p>
            <a:pPr lvl="1" algn="just"/>
            <a:r>
              <a:rPr lang="en-IN" dirty="0" smtClean="0"/>
              <a:t>Refers back to an earlier expression in the discourse. </a:t>
            </a:r>
          </a:p>
          <a:p>
            <a:pPr lvl="1" algn="just"/>
            <a:r>
              <a:rPr lang="en-IN" dirty="0" smtClean="0"/>
              <a:t>Example: </a:t>
            </a:r>
            <a:r>
              <a:rPr lang="en-IN" i="1" dirty="0" smtClean="0"/>
              <a:t>"John arrived late. He apologized" </a:t>
            </a:r>
          </a:p>
          <a:p>
            <a:pPr lvl="2" algn="just"/>
            <a:r>
              <a:rPr lang="en-IN" i="1" dirty="0" smtClean="0"/>
              <a:t>He refers back to John. </a:t>
            </a:r>
          </a:p>
          <a:p>
            <a:pPr>
              <a:buNone/>
            </a:pPr>
            <a:r>
              <a:rPr lang="en-IN" b="1" dirty="0" smtClean="0"/>
              <a:t>2. Cataphora: </a:t>
            </a:r>
          </a:p>
          <a:p>
            <a:pPr lvl="1" algn="just"/>
            <a:r>
              <a:rPr lang="en-IN" dirty="0" smtClean="0"/>
              <a:t>Refers forward to an expression introduced later in the discourse. </a:t>
            </a:r>
          </a:p>
          <a:p>
            <a:pPr lvl="1" algn="just"/>
            <a:r>
              <a:rPr lang="en-IN" dirty="0" smtClean="0"/>
              <a:t>Example: </a:t>
            </a:r>
            <a:r>
              <a:rPr lang="en-IN" i="1" dirty="0" smtClean="0"/>
              <a:t>"Before he spoke, James took a deep breath." </a:t>
            </a:r>
          </a:p>
          <a:p>
            <a:pPr lvl="2" algn="just"/>
            <a:r>
              <a:rPr lang="en-IN" i="1" dirty="0" smtClean="0"/>
              <a:t>He refers to James, which appears later in the sentence. </a:t>
            </a:r>
          </a:p>
          <a:p>
            <a:pPr lvl="2" algn="just">
              <a:buNone/>
            </a:pPr>
            <a:endParaRPr lang="en-IN" i="1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54636"/>
            <a:ext cx="8416977" cy="596608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/>
              <a:t>3. Exophora: </a:t>
            </a:r>
          </a:p>
          <a:p>
            <a:pPr lvl="1" algn="just"/>
            <a:r>
              <a:rPr lang="en-IN" dirty="0" smtClean="0"/>
              <a:t>Refers to something outside the discourse, often in the surrounding physical context. </a:t>
            </a:r>
          </a:p>
          <a:p>
            <a:pPr lvl="1" algn="just"/>
            <a:r>
              <a:rPr lang="en-IN" dirty="0" smtClean="0"/>
              <a:t>Example: </a:t>
            </a:r>
            <a:r>
              <a:rPr lang="en-IN" i="1" dirty="0" smtClean="0"/>
              <a:t>"Look at that!" </a:t>
            </a:r>
          </a:p>
          <a:p>
            <a:pPr lvl="2" algn="just"/>
            <a:r>
              <a:rPr lang="en-IN" i="1" dirty="0" smtClean="0"/>
              <a:t>That refers to something visible in the environment. </a:t>
            </a:r>
          </a:p>
          <a:p>
            <a:pPr algn="just">
              <a:buNone/>
            </a:pPr>
            <a:r>
              <a:rPr lang="en-IN" b="1" dirty="0" smtClean="0"/>
              <a:t>4. Endophora: </a:t>
            </a:r>
          </a:p>
          <a:p>
            <a:pPr lvl="1" algn="just"/>
            <a:r>
              <a:rPr lang="en-IN" dirty="0" smtClean="0"/>
              <a:t>Refers to elements within the discourse. Includes both anaphora and cataphora. </a:t>
            </a:r>
          </a:p>
          <a:p>
            <a:pPr lvl="1" algn="just"/>
            <a:r>
              <a:rPr lang="en-IN" dirty="0" smtClean="0"/>
              <a:t>Example </a:t>
            </a:r>
          </a:p>
          <a:p>
            <a:pPr lvl="2" algn="just"/>
            <a:r>
              <a:rPr lang="en-IN" i="1" dirty="0" smtClean="0"/>
              <a:t>When she saw him, </a:t>
            </a:r>
            <a:r>
              <a:rPr lang="en-IN" b="1" i="1" dirty="0" smtClean="0"/>
              <a:t>Mary smiled at John. </a:t>
            </a:r>
          </a:p>
          <a:p>
            <a:pPr lvl="3" algn="just"/>
            <a:r>
              <a:rPr lang="en-IN" dirty="0" smtClean="0"/>
              <a:t>"She" is anaphoric, referring back to "Mary." </a:t>
            </a:r>
          </a:p>
          <a:p>
            <a:pPr lvl="3" algn="just"/>
            <a:r>
              <a:rPr lang="en-IN" dirty="0" smtClean="0"/>
              <a:t>"Him" is </a:t>
            </a:r>
            <a:r>
              <a:rPr lang="en-IN" dirty="0" err="1" smtClean="0"/>
              <a:t>cataphoric</a:t>
            </a:r>
            <a:r>
              <a:rPr lang="en-IN" dirty="0" smtClean="0"/>
              <a:t>, referring forward to "John." </a:t>
            </a:r>
          </a:p>
          <a:p>
            <a:pPr lvl="2" algn="just"/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Anaphora Resolution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Anaphora resolution involves identifying the antecedent (the referent) for a given anaphor.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Hobbs’ Algorithm</a:t>
            </a:r>
          </a:p>
          <a:p>
            <a:pPr marL="514350" indent="-514350"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Hobbs' algorithm is a syntactic approach for resolving pronominal anaphora. It is computationally efficient and widely used in natural language processing (NLP). 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Steps of Hobbs’ Algorithm: </a:t>
            </a:r>
            <a:br>
              <a:rPr lang="en-IN" b="1" dirty="0" smtClean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	1. Parse the sentences to generate syntactic trees. </a:t>
            </a:r>
          </a:p>
          <a:p>
            <a:pPr algn="just">
              <a:buNone/>
            </a:pPr>
            <a:r>
              <a:rPr lang="en-IN" dirty="0" smtClean="0"/>
              <a:t>	2. Start at the anaphor and traverse the syntactic tree in a breadth-first manner. </a:t>
            </a:r>
          </a:p>
          <a:p>
            <a:pPr algn="just">
              <a:buNone/>
            </a:pPr>
            <a:r>
              <a:rPr lang="en-IN" dirty="0" smtClean="0"/>
              <a:t>	3. Check each potential antecedent for compatibility (e.g., gender, number, syntactic role). </a:t>
            </a:r>
          </a:p>
          <a:p>
            <a:pPr algn="just">
              <a:buNone/>
            </a:pPr>
            <a:r>
              <a:rPr lang="en-IN" dirty="0" smtClean="0"/>
              <a:t>	4. Select the most suitable antecedent. 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9666"/>
            <a:ext cx="8229600" cy="5616497"/>
          </a:xfrm>
        </p:spPr>
        <p:txBody>
          <a:bodyPr/>
          <a:lstStyle/>
          <a:p>
            <a:pPr algn="just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Input Text: </a:t>
            </a: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"John left early because he was tired."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Anaphor: he.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Antecedent: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Hobbs’ algorithm identifies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 as the referent by traversing the tree and matching syntactic and semantic features.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Centering Algorithm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Centering Algorithm is a technique used to ensure coherence in a discourse by analyzing how entities (like people, objects, or ideas) are referenced across sentences.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helps identify the most important subject (called the center) of a sentence and how it connects to the next sentence.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972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Steps in the Centering Algorithm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54244"/>
            <a:ext cx="8416977" cy="5231566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1. Identify Forward-Looking Centers (Cf):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List all entities in the current sentence.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"John went to the park. He played soccer there."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Sentence 1: Forward-looking centers = {John, park}. 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2. Find the Backward-Looking Center (Cb):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Determine the most important entity from the previous sentence that connects to the current sentence.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Example: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Sentence 2: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He refers to John, making John the backward-looking center. </a:t>
            </a:r>
          </a:p>
          <a:p>
            <a:pPr lvl="1">
              <a:buNone/>
            </a:pP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4616"/>
            <a:ext cx="8229600" cy="58161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/>
              <a:t>3. Rank the Forward-Looking Centers (Cf): </a:t>
            </a:r>
          </a:p>
          <a:p>
            <a:pPr lvl="1" algn="just"/>
            <a:r>
              <a:rPr lang="en-IN" dirty="0" smtClean="0"/>
              <a:t>Rank the entities based on their importance (subjects &gt; objects &gt; others). </a:t>
            </a:r>
          </a:p>
          <a:p>
            <a:pPr lvl="1" algn="just"/>
            <a:r>
              <a:rPr lang="en-IN" dirty="0" smtClean="0"/>
              <a:t>Forward-looking centers are ranked based on their importance in the sentence. </a:t>
            </a:r>
          </a:p>
          <a:p>
            <a:pPr lvl="1">
              <a:buNone/>
            </a:pPr>
            <a:r>
              <a:rPr lang="en-IN" dirty="0" smtClean="0"/>
              <a:t>	Typically, </a:t>
            </a:r>
            <a:r>
              <a:rPr lang="en-IN" b="1" dirty="0" smtClean="0"/>
              <a:t>subjects (e.g., "John") are ranked higher than objects (e.g., "the park"). </a:t>
            </a:r>
          </a:p>
          <a:p>
            <a:pPr>
              <a:buNone/>
            </a:pPr>
            <a:r>
              <a:rPr lang="en-IN" b="1" dirty="0" smtClean="0"/>
              <a:t>4. Check Transitions for Coherence: </a:t>
            </a:r>
          </a:p>
          <a:p>
            <a:pPr lvl="1" algn="just">
              <a:buNone/>
            </a:pPr>
            <a:r>
              <a:rPr lang="en-IN" dirty="0" smtClean="0"/>
              <a:t>Coherence in discourse depends on how the backward-looking center (Cb) changes across sentences. The goal is to minimize unnecessary changes. 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Example of Centering Algorithm in Action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33064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b="1" dirty="0" smtClean="0"/>
              <a:t>Text: </a:t>
            </a:r>
            <a:r>
              <a:rPr lang="en-IN" b="1" i="1" dirty="0" smtClean="0"/>
              <a:t>"Mary went to the store. She bought apples. The apples were fresh." </a:t>
            </a:r>
          </a:p>
          <a:p>
            <a:pPr algn="just">
              <a:buNone/>
            </a:pPr>
            <a:r>
              <a:rPr lang="en-IN" b="1" dirty="0" smtClean="0"/>
              <a:t>Step-by-Step Process: </a:t>
            </a:r>
          </a:p>
          <a:p>
            <a:pPr algn="just">
              <a:buNone/>
            </a:pPr>
            <a:r>
              <a:rPr lang="en-IN" dirty="0" smtClean="0"/>
              <a:t>1. </a:t>
            </a:r>
            <a:r>
              <a:rPr lang="en-IN" b="1" dirty="0" smtClean="0"/>
              <a:t>Sentence 1: </a:t>
            </a:r>
            <a:r>
              <a:rPr lang="en-IN" b="1" i="1" dirty="0" smtClean="0"/>
              <a:t>"Mary went to the store." </a:t>
            </a:r>
          </a:p>
          <a:p>
            <a:pPr lvl="1" algn="just"/>
            <a:r>
              <a:rPr lang="en-IN" dirty="0" smtClean="0"/>
              <a:t>Forward-looking centers (Cf) = {Mary, store}. </a:t>
            </a:r>
          </a:p>
          <a:p>
            <a:pPr lvl="1" algn="just"/>
            <a:r>
              <a:rPr lang="en-IN" dirty="0" smtClean="0"/>
              <a:t>No backward-looking center (Cb) since this is the first sentence. </a:t>
            </a:r>
          </a:p>
          <a:p>
            <a:pPr algn="just">
              <a:buNone/>
            </a:pPr>
            <a:r>
              <a:rPr lang="en-IN" dirty="0" smtClean="0"/>
              <a:t>2. </a:t>
            </a:r>
            <a:r>
              <a:rPr lang="en-IN" b="1" dirty="0" smtClean="0"/>
              <a:t>Sentence 2: </a:t>
            </a:r>
            <a:r>
              <a:rPr lang="en-IN" b="1" i="1" dirty="0" smtClean="0"/>
              <a:t>"She bought apples." </a:t>
            </a:r>
          </a:p>
          <a:p>
            <a:pPr lvl="1" algn="just"/>
            <a:r>
              <a:rPr lang="en-IN" dirty="0" smtClean="0"/>
              <a:t>Forward-looking centers (Cf) = {She (Mary), apples}. </a:t>
            </a:r>
          </a:p>
          <a:p>
            <a:pPr lvl="1" algn="just"/>
            <a:r>
              <a:rPr lang="en-IN" dirty="0" smtClean="0"/>
              <a:t>Backward-looking center (Cb) = </a:t>
            </a:r>
            <a:r>
              <a:rPr lang="en-IN" i="1" dirty="0" smtClean="0"/>
              <a:t>Mary (connected via She). 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4598"/>
            <a:ext cx="8229600" cy="5511566"/>
          </a:xfrm>
        </p:spPr>
        <p:txBody>
          <a:bodyPr/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Sentence 3: </a:t>
            </a: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"The apples were fresh."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Forward-looking centers (Cf) = {apples}.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Backward-looking center (Cb) =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apples (connected to the previous mention of apples)</a:t>
            </a:r>
          </a:p>
          <a:p>
            <a:pPr lvl="1" algn="just"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lvl="1" indent="-742950" algn="just"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Coherence: </a:t>
            </a:r>
            <a:endParaRPr lang="en-IN" sz="32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backward-looking center shifts smoothly from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Mary to apples as the discourse progresses, maintaining logical flow and coherence.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COREFERENCE RESOLUTION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err="1" smtClean="0"/>
              <a:t>Coreference</a:t>
            </a:r>
            <a:r>
              <a:rPr lang="en-IN" dirty="0" smtClean="0"/>
              <a:t> resolution is the task of identifying all expressions in a text that refer to the same entity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IN" dirty="0" smtClean="0"/>
              <a:t>In other words, it finds which pronouns, names, or noun phrases refer to the same real-world object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4696"/>
            <a:ext cx="8229600" cy="59361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/>
              <a:t>Example:</a:t>
            </a:r>
          </a:p>
          <a:p>
            <a:pPr>
              <a:buNone/>
            </a:pPr>
            <a:r>
              <a:rPr lang="en-IN" dirty="0" smtClean="0"/>
              <a:t>	</a:t>
            </a:r>
            <a:r>
              <a:rPr lang="en-IN" dirty="0" err="1" smtClean="0"/>
              <a:t>Rahul</a:t>
            </a:r>
            <a:r>
              <a:rPr lang="en-IN" dirty="0" smtClean="0"/>
              <a:t> went to the library. He borrowed a book on AI.</a:t>
            </a:r>
          </a:p>
          <a:p>
            <a:pPr>
              <a:buNone/>
            </a:pPr>
            <a:r>
              <a:rPr lang="en-IN" dirty="0" smtClean="0"/>
              <a:t>Here:</a:t>
            </a:r>
          </a:p>
          <a:p>
            <a:pPr>
              <a:buNone/>
            </a:pPr>
            <a:r>
              <a:rPr lang="en-IN" b="1" dirty="0" smtClean="0"/>
              <a:t>	</a:t>
            </a:r>
            <a:r>
              <a:rPr lang="en-IN" dirty="0" smtClean="0"/>
              <a:t>"</a:t>
            </a:r>
            <a:r>
              <a:rPr lang="en-IN" dirty="0" err="1" smtClean="0"/>
              <a:t>Rahul</a:t>
            </a:r>
            <a:r>
              <a:rPr lang="en-IN" dirty="0" smtClean="0"/>
              <a:t>" and "He" refer to the same person.</a:t>
            </a:r>
          </a:p>
          <a:p>
            <a:pPr>
              <a:buNone/>
            </a:pPr>
            <a:r>
              <a:rPr lang="en-IN" dirty="0" smtClean="0"/>
              <a:t>	The system should identify that both are </a:t>
            </a:r>
            <a:r>
              <a:rPr lang="en-IN" dirty="0" err="1" smtClean="0"/>
              <a:t>coreferent</a:t>
            </a:r>
            <a:r>
              <a:rPr lang="en-IN" dirty="0" smtClean="0"/>
              <a:t> (belong to the same entity).</a:t>
            </a:r>
          </a:p>
          <a:p>
            <a:pPr>
              <a:buNone/>
            </a:pPr>
            <a:r>
              <a:rPr lang="en-IN" dirty="0" smtClean="0"/>
              <a:t>	</a:t>
            </a:r>
          </a:p>
          <a:p>
            <a:pPr>
              <a:buNone/>
            </a:pPr>
            <a:r>
              <a:rPr lang="en-IN" dirty="0" smtClean="0"/>
              <a:t>So, the </a:t>
            </a:r>
            <a:r>
              <a:rPr lang="en-IN" b="1" dirty="0" err="1" smtClean="0"/>
              <a:t>coreference</a:t>
            </a:r>
            <a:r>
              <a:rPr lang="en-IN" b="1" dirty="0" smtClean="0"/>
              <a:t> chain</a:t>
            </a:r>
            <a:r>
              <a:rPr lang="en-IN" dirty="0" smtClean="0"/>
              <a:t> is:		{</a:t>
            </a:r>
            <a:r>
              <a:rPr lang="en-IN" dirty="0" err="1" smtClean="0"/>
              <a:t>Rahul</a:t>
            </a:r>
            <a:r>
              <a:rPr lang="en-IN" dirty="0" smtClean="0"/>
              <a:t>, He}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Types of Coreference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0482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IN" b="1" dirty="0" smtClean="0"/>
              <a:t>Pronominal </a:t>
            </a:r>
            <a:r>
              <a:rPr lang="en-IN" b="1" dirty="0" err="1" smtClean="0"/>
              <a:t>Coreference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 smtClean="0"/>
              <a:t>A pronoun refers back to a noun phrase (its antecedent)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IN" i="1" dirty="0" err="1" smtClean="0"/>
              <a:t>Priya</a:t>
            </a:r>
            <a:r>
              <a:rPr lang="en-IN" dirty="0" smtClean="0"/>
              <a:t> bought a new car. She loves it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." </a:t>
            </a:r>
          </a:p>
          <a:p>
            <a:pPr lvl="2" algn="just"/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</a:t>
            </a:r>
            <a:r>
              <a:rPr lang="en-IN" dirty="0" err="1" smtClean="0"/>
              <a:t>Priya</a:t>
            </a:r>
            <a:r>
              <a:rPr lang="en-IN" dirty="0" smtClean="0"/>
              <a:t>, She}</a:t>
            </a: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IN" b="1" dirty="0" smtClean="0"/>
              <a:t>Nominal (Noun Phrase) </a:t>
            </a:r>
            <a:r>
              <a:rPr lang="en-IN" b="1" dirty="0" err="1" smtClean="0"/>
              <a:t>Coreference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 smtClean="0"/>
              <a:t>Two noun phrases refer to the same entity, even if they use different words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IN" i="1" dirty="0" err="1" smtClean="0"/>
              <a:t>Ratan</a:t>
            </a:r>
            <a:r>
              <a:rPr lang="en-IN" i="1" dirty="0" smtClean="0"/>
              <a:t> Tata</a:t>
            </a:r>
            <a:r>
              <a:rPr lang="en-IN" dirty="0" smtClean="0"/>
              <a:t> is an industrialist. The chairman of Tata Sons is known for philanthropy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.“</a:t>
            </a:r>
          </a:p>
          <a:p>
            <a:pPr lvl="1" algn="just">
              <a:buNone/>
            </a:pPr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</a:t>
            </a:r>
            <a:r>
              <a:rPr lang="en-IN" dirty="0" err="1" smtClean="0"/>
              <a:t>Ratan</a:t>
            </a:r>
            <a:r>
              <a:rPr lang="en-IN" dirty="0" smtClean="0"/>
              <a:t> Tata, the chairman of Tata Sons}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4515"/>
            <a:ext cx="8229600" cy="5321509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IN" b="1" dirty="0" smtClean="0"/>
              <a:t>Appositive </a:t>
            </a:r>
            <a:r>
              <a:rPr lang="en-IN" b="1" dirty="0" err="1" smtClean="0"/>
              <a:t>Coreference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 smtClean="0"/>
              <a:t>Two noun phrases placed next to each other refer to the same entity, usually separated by commas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IN" i="1" dirty="0" err="1" smtClean="0"/>
              <a:t>Barack</a:t>
            </a:r>
            <a:r>
              <a:rPr lang="en-IN" i="1" dirty="0" smtClean="0"/>
              <a:t> </a:t>
            </a:r>
            <a:r>
              <a:rPr lang="en-IN" i="1" dirty="0" err="1" smtClean="0"/>
              <a:t>Obama</a:t>
            </a:r>
            <a:r>
              <a:rPr lang="en-IN" dirty="0" smtClean="0"/>
              <a:t>, the former US president, visited India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." </a:t>
            </a:r>
          </a:p>
          <a:p>
            <a:pPr lvl="1" algn="just">
              <a:buNone/>
            </a:pPr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</a:t>
            </a:r>
            <a:r>
              <a:rPr lang="en-IN" dirty="0" err="1" smtClean="0"/>
              <a:t>Barack</a:t>
            </a:r>
            <a:r>
              <a:rPr lang="en-IN" dirty="0" smtClean="0"/>
              <a:t> </a:t>
            </a:r>
            <a:r>
              <a:rPr lang="en-IN" dirty="0" err="1" smtClean="0"/>
              <a:t>Obama</a:t>
            </a:r>
            <a:r>
              <a:rPr lang="en-IN" dirty="0" smtClean="0"/>
              <a:t>, the former US president}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IN" b="1" dirty="0" smtClean="0"/>
              <a:t>Predicate Nominative </a:t>
            </a:r>
            <a:r>
              <a:rPr lang="en-IN" b="1" dirty="0" err="1" smtClean="0"/>
              <a:t>Coreference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 smtClean="0"/>
              <a:t>Occurs when a noun phrase and its complement (linked by “is”, “was”, etc.) refer to the same entity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IN" i="1" dirty="0" smtClean="0"/>
              <a:t>Dr. </a:t>
            </a:r>
            <a:r>
              <a:rPr lang="en-IN" i="1" dirty="0" err="1" smtClean="0"/>
              <a:t>Kalam</a:t>
            </a:r>
            <a:r>
              <a:rPr lang="en-IN" dirty="0" smtClean="0"/>
              <a:t> was the President of India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“ </a:t>
            </a:r>
          </a:p>
          <a:p>
            <a:pPr lvl="1" algn="just">
              <a:buNone/>
            </a:pPr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{Dr. </a:t>
            </a:r>
            <a:r>
              <a:rPr lang="en-IN" dirty="0" err="1" smtClean="0"/>
              <a:t>Kalam</a:t>
            </a:r>
            <a:r>
              <a:rPr lang="en-IN" dirty="0" smtClean="0"/>
              <a:t>, the President of India}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794"/>
            <a:ext cx="8229600" cy="6265888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dirty="0" smtClean="0"/>
              <a:t>5. </a:t>
            </a:r>
            <a:r>
              <a:rPr lang="en-IN" b="1" dirty="0" smtClean="0"/>
              <a:t>Demonstrative </a:t>
            </a:r>
            <a:r>
              <a:rPr lang="en-IN" b="1" dirty="0" err="1" smtClean="0"/>
              <a:t>Coreference</a:t>
            </a:r>
            <a:r>
              <a:rPr lang="en-IN" dirty="0" smtClean="0"/>
              <a:t>: A demonstrative pronoun (this, that, these, those) refers to a previously mentioned entity or event.</a:t>
            </a:r>
          </a:p>
          <a:p>
            <a:pPr algn="just">
              <a:buNone/>
            </a:pPr>
            <a:r>
              <a:rPr lang="en-IN" b="1" dirty="0" smtClean="0"/>
              <a:t>	Example:  “</a:t>
            </a:r>
            <a:r>
              <a:rPr lang="en-IN" dirty="0" smtClean="0"/>
              <a:t>T</a:t>
            </a:r>
            <a:r>
              <a:rPr lang="en-IN" i="1" dirty="0" smtClean="0"/>
              <a:t>he match was exciting.</a:t>
            </a:r>
            <a:r>
              <a:rPr lang="en-IN" dirty="0" smtClean="0"/>
              <a:t> That was unexpected”</a:t>
            </a:r>
          </a:p>
          <a:p>
            <a:pPr algn="just">
              <a:buNone/>
            </a:pPr>
            <a:r>
              <a:rPr lang="en-IN" b="1" dirty="0" smtClean="0"/>
              <a:t>	</a:t>
            </a:r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{The match was exciting, That}</a:t>
            </a:r>
          </a:p>
          <a:p>
            <a:pPr algn="just">
              <a:buNone/>
            </a:pPr>
            <a:r>
              <a:rPr lang="en-IN" dirty="0" smtClean="0"/>
              <a:t>6. </a:t>
            </a:r>
            <a:r>
              <a:rPr lang="en-IN" b="1" dirty="0" err="1" smtClean="0"/>
              <a:t>Cataphoric</a:t>
            </a:r>
            <a:r>
              <a:rPr lang="en-IN" b="1" dirty="0" smtClean="0"/>
              <a:t> Reference (Forward </a:t>
            </a:r>
            <a:r>
              <a:rPr lang="en-IN" b="1" dirty="0" err="1" smtClean="0"/>
              <a:t>Coreference</a:t>
            </a:r>
            <a:r>
              <a:rPr lang="en-IN" b="1" dirty="0" smtClean="0"/>
              <a:t>):</a:t>
            </a:r>
          </a:p>
          <a:p>
            <a:pPr algn="just">
              <a:buNone/>
            </a:pPr>
            <a:r>
              <a:rPr lang="en-IN" dirty="0" smtClean="0"/>
              <a:t>	When a pronoun refers forward to a noun that appears later in the text.</a:t>
            </a:r>
          </a:p>
          <a:p>
            <a:pPr algn="just">
              <a:buNone/>
            </a:pPr>
            <a:r>
              <a:rPr lang="en-IN" b="1" dirty="0" smtClean="0"/>
              <a:t>	Example: “</a:t>
            </a:r>
            <a:r>
              <a:rPr lang="en-IN" dirty="0" smtClean="0"/>
              <a:t>When she arrived, </a:t>
            </a:r>
            <a:r>
              <a:rPr lang="en-IN" i="1" dirty="0" smtClean="0"/>
              <a:t>Mary</a:t>
            </a:r>
            <a:r>
              <a:rPr lang="en-IN" dirty="0" smtClean="0"/>
              <a:t> was surprised”</a:t>
            </a:r>
          </a:p>
          <a:p>
            <a:pPr algn="just">
              <a:buNone/>
            </a:pPr>
            <a:r>
              <a:rPr lang="en-IN" b="1" dirty="0" smtClean="0"/>
              <a:t>	</a:t>
            </a:r>
            <a:r>
              <a:rPr lang="en-IN" b="1" dirty="0" err="1" smtClean="0"/>
              <a:t>Coreference</a:t>
            </a:r>
            <a:r>
              <a:rPr lang="en-IN" b="1" dirty="0" smtClean="0"/>
              <a:t> chain </a:t>
            </a:r>
            <a:r>
              <a:rPr lang="en-IN" dirty="0" smtClean="0"/>
              <a:t>→ {She, Mary}</a:t>
            </a:r>
            <a:endParaRPr lang="en-IN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Steps in Coreference Resolution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5511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1. Identify Mentions: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Locate all noun phrases or pronouns that could refer to an entity.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"John loves his dog."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Mentions: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John, his, dog.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2. Extract Features: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Analyze features like gender, number, semantics, and syntactic position.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 (male, singular) matches he (male, singular).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9528"/>
            <a:ext cx="8229600" cy="5406635"/>
          </a:xfrm>
        </p:spPr>
        <p:txBody>
          <a:bodyPr/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3. Create Candidate Chains: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Group potential references into chains based on matching features.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Chain: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{John, he}.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4. Resolve Coreference: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 algorithms or rules to determine the correct antecedent for each pronoun or noun phrase.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Algorithms for Coreference Resolution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5531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1. Rule-Based Methods: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 hand-crafted rules based on linguistic knowledge.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pronoun like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he typically refers to the nearest preceding male noun phrase. 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2. Machine Learning Approaches: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 supervised learning to train models on annotated datasets.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Features include syntactic roles, word embeddings, and distance between mentions.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4460"/>
            <a:ext cx="8229600" cy="5301704"/>
          </a:xfrm>
        </p:spPr>
        <p:txBody>
          <a:bodyPr/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3. Neural Network Models: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Leverage deep learning to capture complex relationships.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Transformers like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BERT can model contextual relationships in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coreference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tasks.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Examples of Coreference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561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b="1" dirty="0" smtClean="0"/>
              <a:t>Example 1: Simple Coreference </a:t>
            </a:r>
          </a:p>
          <a:p>
            <a:r>
              <a:rPr lang="en-IN" b="1" dirty="0" smtClean="0"/>
              <a:t>Text: </a:t>
            </a:r>
            <a:r>
              <a:rPr lang="en-IN" i="1" dirty="0" smtClean="0"/>
              <a:t>"Alice visited the park. She enjoyed the walk."</a:t>
            </a:r>
            <a:r>
              <a:rPr lang="en-IN" b="1" i="1" dirty="0" smtClean="0"/>
              <a:t> </a:t>
            </a:r>
          </a:p>
          <a:p>
            <a:pPr lvl="1"/>
            <a:r>
              <a:rPr lang="en-IN" dirty="0" smtClean="0"/>
              <a:t>Coreference: </a:t>
            </a:r>
            <a:r>
              <a:rPr lang="en-IN" i="1" dirty="0" smtClean="0"/>
              <a:t>Alice ↔ She.</a:t>
            </a:r>
          </a:p>
          <a:p>
            <a:pPr>
              <a:buNone/>
            </a:pPr>
            <a:r>
              <a:rPr lang="en-IN" b="1" dirty="0" smtClean="0"/>
              <a:t>Example 2: Complex Coreference </a:t>
            </a:r>
          </a:p>
          <a:p>
            <a:r>
              <a:rPr lang="en-IN" b="1" dirty="0" smtClean="0"/>
              <a:t>Text: </a:t>
            </a:r>
            <a:r>
              <a:rPr lang="en-IN" i="1" dirty="0" smtClean="0"/>
              <a:t>"The team worked hard. Their efforts paid off in the end." </a:t>
            </a:r>
          </a:p>
          <a:p>
            <a:pPr lvl="1"/>
            <a:r>
              <a:rPr lang="en-IN" dirty="0" smtClean="0"/>
              <a:t>Coreference: </a:t>
            </a:r>
            <a:r>
              <a:rPr lang="en-IN" i="1" dirty="0" smtClean="0"/>
              <a:t>The team ↔ Their. </a:t>
            </a:r>
          </a:p>
          <a:p>
            <a:pPr>
              <a:buNone/>
            </a:pPr>
            <a:r>
              <a:rPr lang="en-IN" b="1" dirty="0" smtClean="0"/>
              <a:t>Example 3: Split Antecedent </a:t>
            </a:r>
          </a:p>
          <a:p>
            <a:r>
              <a:rPr lang="en-IN" b="1" dirty="0" smtClean="0"/>
              <a:t>Text: </a:t>
            </a:r>
            <a:r>
              <a:rPr lang="en-IN" i="1" dirty="0" smtClean="0"/>
              <a:t>"John greeted Mary. They went to the café." </a:t>
            </a:r>
          </a:p>
          <a:p>
            <a:pPr lvl="1"/>
            <a:r>
              <a:rPr lang="en-IN" dirty="0" smtClean="0"/>
              <a:t>Coreference: </a:t>
            </a:r>
            <a:r>
              <a:rPr lang="en-IN" i="1" dirty="0" smtClean="0"/>
              <a:t>John + Mary ↔ They. </a:t>
            </a:r>
          </a:p>
          <a:p>
            <a:pPr lvl="1">
              <a:buNone/>
            </a:pPr>
            <a:endParaRPr lang="en-IN" i="1" dirty="0" smtClean="0"/>
          </a:p>
          <a:p>
            <a:pPr lvl="1">
              <a:buNone/>
            </a:pPr>
            <a:endParaRPr lang="en-IN" i="1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56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Applications of Coreference Resolution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78034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1. Chatbots and Virtual Assistants: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Enable contextual understanding to maintain coherent conversations.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"What is </a:t>
            </a:r>
            <a:r>
              <a:rPr lang="en-IN" i="1" dirty="0" err="1" smtClean="0">
                <a:latin typeface="Times New Roman" pitchFamily="18" charset="0"/>
                <a:cs typeface="Times New Roman" pitchFamily="18" charset="0"/>
              </a:rPr>
              <a:t>Elon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 Musk's company? Tell me more about it."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Resolves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it to </a:t>
            </a:r>
            <a:r>
              <a:rPr lang="en-IN" i="1" dirty="0" err="1" smtClean="0">
                <a:latin typeface="Times New Roman" pitchFamily="18" charset="0"/>
                <a:cs typeface="Times New Roman" pitchFamily="18" charset="0"/>
              </a:rPr>
              <a:t>Elon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 Musk's company.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2. Machine Translation: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Ensures proper pronoun reference in target languages.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3. Text Summarization: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Helps group mentions of the same entity to create concise summaries. 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4. Question Answering Systems: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Resolves references in follow-up questions.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"Who won the race? Was he happy?"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RESOURCES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the context of Natural Language Processing (NLP), resources refer to tools, datasets, and frameworks that help in various tasks like text analysis, machine learning, and language understanding.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These resources provide foundational data and methods for processing, analyzing, and understanding language.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498"/>
            <a:ext cx="8229600" cy="5636302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Porter Stemmer 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 stemming algorithm that reduces words to their base or root form by removing common suffixes. 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Helps in text normalization by treating words like </a:t>
            </a:r>
            <a:r>
              <a:rPr lang="en-IN" sz="3200" i="1" dirty="0" smtClean="0">
                <a:latin typeface="Times New Roman" pitchFamily="18" charset="0"/>
                <a:cs typeface="Times New Roman" pitchFamily="18" charset="0"/>
              </a:rPr>
              <a:t>"running" and "runner" as the same root word, "run." </a:t>
            </a:r>
          </a:p>
          <a:p>
            <a:pPr lvl="1" algn="just"/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Input: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"playing, played, playful" </a:t>
            </a:r>
          </a:p>
          <a:p>
            <a:pPr lvl="2"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"play"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Porter Stemming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4223"/>
            <a:ext cx="8229600" cy="548639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sz="4000" b="1" dirty="0" smtClean="0"/>
              <a:t>Step 1:</a:t>
            </a:r>
            <a:r>
              <a:rPr lang="en-IN" dirty="0" smtClean="0"/>
              <a:t> </a:t>
            </a:r>
            <a:r>
              <a:rPr lang="en-IN" b="1" dirty="0" smtClean="0"/>
              <a:t>Removal of Plurals and Past Participle Forms</a:t>
            </a:r>
          </a:p>
          <a:p>
            <a:pPr algn="just">
              <a:buNone/>
            </a:pPr>
            <a:r>
              <a:rPr lang="en-IN" dirty="0" smtClean="0"/>
              <a:t>	This step removes simple suffixes such as </a:t>
            </a:r>
            <a:r>
              <a:rPr lang="en-IN" i="1" dirty="0" smtClean="0"/>
              <a:t>s</a:t>
            </a:r>
            <a:r>
              <a:rPr lang="en-IN" dirty="0" smtClean="0"/>
              <a:t>, </a:t>
            </a:r>
            <a:r>
              <a:rPr lang="en-IN" i="1" dirty="0" err="1" smtClean="0"/>
              <a:t>es</a:t>
            </a:r>
            <a:r>
              <a:rPr lang="en-IN" dirty="0" smtClean="0"/>
              <a:t>, </a:t>
            </a:r>
            <a:r>
              <a:rPr lang="en-IN" i="1" dirty="0" err="1" smtClean="0"/>
              <a:t>ed</a:t>
            </a:r>
            <a:r>
              <a:rPr lang="en-IN" dirty="0" smtClean="0"/>
              <a:t>, and </a:t>
            </a:r>
            <a:r>
              <a:rPr lang="en-IN" i="1" dirty="0" err="1" smtClean="0"/>
              <a:t>ing</a:t>
            </a:r>
            <a:r>
              <a:rPr lang="en-IN" dirty="0" smtClean="0"/>
              <a:t>. It also handles cases like </a:t>
            </a:r>
            <a:r>
              <a:rPr lang="en-IN" i="1" dirty="0" smtClean="0"/>
              <a:t>caresses → caress</a:t>
            </a:r>
            <a:r>
              <a:rPr lang="en-IN" dirty="0" smtClean="0"/>
              <a:t> and </a:t>
            </a:r>
            <a:r>
              <a:rPr lang="en-IN" i="1" dirty="0" smtClean="0"/>
              <a:t>agreed → agree</a:t>
            </a:r>
            <a:r>
              <a:rPr lang="en-IN" dirty="0" smtClean="0"/>
              <a:t>. The algorithm checks if removing </a:t>
            </a:r>
            <a:r>
              <a:rPr lang="en-IN" i="1" dirty="0" smtClean="0"/>
              <a:t>-</a:t>
            </a:r>
            <a:r>
              <a:rPr lang="en-IN" i="1" dirty="0" err="1" smtClean="0"/>
              <a:t>ed</a:t>
            </a:r>
            <a:r>
              <a:rPr lang="en-IN" dirty="0" smtClean="0"/>
              <a:t> or </a:t>
            </a:r>
            <a:r>
              <a:rPr lang="en-IN" i="1" dirty="0" smtClean="0"/>
              <a:t>-</a:t>
            </a:r>
            <a:r>
              <a:rPr lang="en-IN" i="1" dirty="0" err="1" smtClean="0"/>
              <a:t>ing</a:t>
            </a:r>
            <a:r>
              <a:rPr lang="en-IN" dirty="0" smtClean="0"/>
              <a:t> leaves behind a stem that contains a vowel. If so, the suffix is removed.</a:t>
            </a:r>
          </a:p>
          <a:p>
            <a:pPr algn="just">
              <a:buNone/>
            </a:pPr>
            <a:r>
              <a:rPr lang="en-IN" dirty="0" smtClean="0"/>
              <a:t>	For example:</a:t>
            </a:r>
          </a:p>
          <a:p>
            <a:pPr lvl="1" algn="just"/>
            <a:r>
              <a:rPr lang="en-IN" i="1" dirty="0" smtClean="0"/>
              <a:t>caresses</a:t>
            </a:r>
            <a:r>
              <a:rPr lang="en-IN" dirty="0" smtClean="0"/>
              <a:t> → </a:t>
            </a:r>
            <a:r>
              <a:rPr lang="en-IN" i="1" dirty="0" smtClean="0"/>
              <a:t>caress</a:t>
            </a:r>
            <a:endParaRPr lang="en-IN" dirty="0" smtClean="0"/>
          </a:p>
          <a:p>
            <a:pPr lvl="1" algn="just"/>
            <a:r>
              <a:rPr lang="en-IN" i="1" dirty="0" smtClean="0"/>
              <a:t>ponies</a:t>
            </a:r>
            <a:r>
              <a:rPr lang="en-IN" dirty="0" smtClean="0"/>
              <a:t> → </a:t>
            </a:r>
            <a:r>
              <a:rPr lang="en-IN" i="1" dirty="0" err="1" smtClean="0"/>
              <a:t>poni</a:t>
            </a:r>
            <a:endParaRPr lang="en-IN" dirty="0" smtClean="0"/>
          </a:p>
          <a:p>
            <a:pPr lvl="1" algn="just"/>
            <a:r>
              <a:rPr lang="en-IN" i="1" dirty="0" smtClean="0"/>
              <a:t>caressed</a:t>
            </a:r>
            <a:r>
              <a:rPr lang="en-IN" dirty="0" smtClean="0"/>
              <a:t> → </a:t>
            </a:r>
            <a:r>
              <a:rPr lang="en-IN" i="1" dirty="0" smtClean="0"/>
              <a:t>caress</a:t>
            </a:r>
            <a:endParaRPr lang="en-IN" dirty="0" smtClean="0"/>
          </a:p>
          <a:p>
            <a:pPr lvl="1" algn="just"/>
            <a:r>
              <a:rPr lang="en-IN" i="1" dirty="0" smtClean="0"/>
              <a:t>agreed</a:t>
            </a:r>
            <a:r>
              <a:rPr lang="en-IN" dirty="0" smtClean="0"/>
              <a:t> → </a:t>
            </a:r>
            <a:r>
              <a:rPr lang="en-IN" i="1" dirty="0" smtClean="0"/>
              <a:t>agree</a:t>
            </a:r>
            <a:endParaRPr lang="en-IN" dirty="0" smtClean="0"/>
          </a:p>
          <a:p>
            <a:pPr lvl="1" algn="just"/>
            <a:r>
              <a:rPr lang="en-IN" i="1" dirty="0" smtClean="0"/>
              <a:t>plastered</a:t>
            </a:r>
            <a:r>
              <a:rPr lang="en-IN" dirty="0" smtClean="0"/>
              <a:t> → </a:t>
            </a:r>
            <a:r>
              <a:rPr lang="en-IN" i="1" dirty="0" smtClean="0"/>
              <a:t>plaster</a:t>
            </a:r>
            <a:endParaRPr lang="en-IN" dirty="0" smtClean="0"/>
          </a:p>
          <a:p>
            <a:pPr lvl="1" algn="just"/>
            <a:r>
              <a:rPr lang="en-IN" i="1" dirty="0" smtClean="0"/>
              <a:t>singing</a:t>
            </a:r>
            <a:r>
              <a:rPr lang="en-IN" dirty="0" smtClean="0"/>
              <a:t> → </a:t>
            </a:r>
            <a:r>
              <a:rPr lang="en-IN" i="1" dirty="0" smtClean="0"/>
              <a:t>sing</a:t>
            </a:r>
            <a:endParaRPr lang="en-IN" dirty="0" smtClean="0"/>
          </a:p>
          <a:p>
            <a:pPr algn="just">
              <a:buNone/>
            </a:pPr>
            <a:r>
              <a:rPr lang="en-IN" dirty="0" smtClean="0"/>
              <a:t>	This step helps remove the most common inflectional endings.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4716"/>
            <a:ext cx="8229600" cy="5691448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IN" b="1" dirty="0" smtClean="0"/>
              <a:t>Step 2:</a:t>
            </a:r>
            <a:r>
              <a:rPr lang="en-IN" dirty="0" smtClean="0"/>
              <a:t> </a:t>
            </a:r>
            <a:r>
              <a:rPr lang="en-IN" b="1" dirty="0" smtClean="0"/>
              <a:t>Suffix Replacement (Derivational Suffixes)</a:t>
            </a:r>
          </a:p>
          <a:p>
            <a:pPr algn="just">
              <a:buNone/>
            </a:pPr>
            <a:r>
              <a:rPr lang="en-IN" dirty="0" smtClean="0"/>
              <a:t>	The second step handles more complex suffixes that change the form of the word but not its core meaning. Suffixes like </a:t>
            </a:r>
            <a:r>
              <a:rPr lang="en-IN" i="1" dirty="0" smtClean="0"/>
              <a:t>-</a:t>
            </a:r>
            <a:r>
              <a:rPr lang="en-IN" i="1" dirty="0" err="1" smtClean="0"/>
              <a:t>ational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izer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fulness</a:t>
            </a:r>
            <a:r>
              <a:rPr lang="en-IN" dirty="0" smtClean="0"/>
              <a:t>, and </a:t>
            </a:r>
            <a:r>
              <a:rPr lang="en-IN" i="1" dirty="0" smtClean="0"/>
              <a:t>-</a:t>
            </a:r>
            <a:r>
              <a:rPr lang="en-IN" i="1" dirty="0" err="1" smtClean="0"/>
              <a:t>iveness</a:t>
            </a:r>
            <a:r>
              <a:rPr lang="en-IN" dirty="0" smtClean="0"/>
              <a:t> are replaced with simpler forms.</a:t>
            </a:r>
          </a:p>
          <a:p>
            <a:pPr>
              <a:buNone/>
            </a:pPr>
            <a:r>
              <a:rPr lang="fr-FR" dirty="0" smtClean="0"/>
              <a:t>Examples:</a:t>
            </a:r>
          </a:p>
          <a:p>
            <a:pPr lvl="1"/>
            <a:r>
              <a:rPr lang="fr-FR" i="1" dirty="0" err="1" smtClean="0"/>
              <a:t>relational</a:t>
            </a:r>
            <a:r>
              <a:rPr lang="fr-FR" dirty="0" smtClean="0"/>
              <a:t> → </a:t>
            </a:r>
            <a:r>
              <a:rPr lang="fr-FR" i="1" dirty="0" smtClean="0"/>
              <a:t>relate</a:t>
            </a:r>
            <a:endParaRPr lang="fr-FR" dirty="0" smtClean="0"/>
          </a:p>
          <a:p>
            <a:pPr lvl="1"/>
            <a:r>
              <a:rPr lang="fr-FR" i="1" dirty="0" err="1" smtClean="0"/>
              <a:t>conditional</a:t>
            </a:r>
            <a:r>
              <a:rPr lang="fr-FR" dirty="0" smtClean="0"/>
              <a:t> → </a:t>
            </a:r>
            <a:r>
              <a:rPr lang="fr-FR" i="1" dirty="0" smtClean="0"/>
              <a:t>condition</a:t>
            </a:r>
            <a:endParaRPr lang="fr-FR" dirty="0" smtClean="0"/>
          </a:p>
          <a:p>
            <a:pPr lvl="1"/>
            <a:r>
              <a:rPr lang="fr-FR" i="1" dirty="0" smtClean="0"/>
              <a:t>rational</a:t>
            </a:r>
            <a:r>
              <a:rPr lang="fr-FR" dirty="0" smtClean="0"/>
              <a:t> → </a:t>
            </a:r>
            <a:r>
              <a:rPr lang="fr-FR" i="1" dirty="0" smtClean="0"/>
              <a:t>ration</a:t>
            </a:r>
            <a:endParaRPr lang="fr-FR" dirty="0" smtClean="0"/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This step is important for reducing derived words to a more standard base</a:t>
            </a:r>
            <a:endParaRPr lang="en-I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676"/>
            <a:ext cx="8229600" cy="563148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b="1" dirty="0" smtClean="0"/>
              <a:t>Step 3: Further Suffix Reduction</a:t>
            </a:r>
          </a:p>
          <a:p>
            <a:pPr algn="just">
              <a:buNone/>
            </a:pPr>
            <a:r>
              <a:rPr lang="en-IN" dirty="0" smtClean="0"/>
              <a:t>In this step, additional suffixes such as </a:t>
            </a:r>
            <a:r>
              <a:rPr lang="en-IN" i="1" dirty="0" smtClean="0"/>
              <a:t>-</a:t>
            </a:r>
            <a:r>
              <a:rPr lang="en-IN" i="1" dirty="0" err="1" smtClean="0"/>
              <a:t>ness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icate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ful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ative</a:t>
            </a:r>
            <a:r>
              <a:rPr lang="en-IN" dirty="0" smtClean="0"/>
              <a:t>, and </a:t>
            </a:r>
            <a:r>
              <a:rPr lang="en-IN" i="1" dirty="0" smtClean="0"/>
              <a:t>-</a:t>
            </a:r>
            <a:r>
              <a:rPr lang="en-IN" i="1" dirty="0" err="1" smtClean="0"/>
              <a:t>alize</a:t>
            </a:r>
            <a:r>
              <a:rPr lang="en-IN" dirty="0" smtClean="0"/>
              <a:t> are processed. These suffixes often change adjectives or nouns but not the underlying concept.</a:t>
            </a:r>
          </a:p>
          <a:p>
            <a:pPr>
              <a:buNone/>
            </a:pPr>
            <a:r>
              <a:rPr lang="en-IN" b="1" dirty="0" smtClean="0"/>
              <a:t>Examples:</a:t>
            </a:r>
          </a:p>
          <a:p>
            <a:pPr lvl="1"/>
            <a:r>
              <a:rPr lang="en-IN" i="1" dirty="0" smtClean="0"/>
              <a:t>triplicate</a:t>
            </a:r>
            <a:r>
              <a:rPr lang="en-IN" dirty="0" smtClean="0"/>
              <a:t> → </a:t>
            </a:r>
            <a:r>
              <a:rPr lang="en-IN" i="1" dirty="0" err="1" smtClean="0"/>
              <a:t>triplic</a:t>
            </a:r>
            <a:endParaRPr lang="en-IN" dirty="0" smtClean="0"/>
          </a:p>
          <a:p>
            <a:pPr lvl="1"/>
            <a:r>
              <a:rPr lang="en-IN" i="1" dirty="0" smtClean="0"/>
              <a:t>formative</a:t>
            </a:r>
            <a:r>
              <a:rPr lang="en-IN" dirty="0" smtClean="0"/>
              <a:t> → </a:t>
            </a:r>
            <a:r>
              <a:rPr lang="en-IN" i="1" dirty="0" smtClean="0"/>
              <a:t>form</a:t>
            </a:r>
            <a:endParaRPr lang="en-IN" dirty="0" smtClean="0"/>
          </a:p>
          <a:p>
            <a:pPr lvl="1"/>
            <a:r>
              <a:rPr lang="en-IN" i="1" dirty="0" smtClean="0"/>
              <a:t>goodness</a:t>
            </a:r>
            <a:r>
              <a:rPr lang="en-IN" dirty="0" smtClean="0"/>
              <a:t> → </a:t>
            </a:r>
            <a:r>
              <a:rPr lang="en-IN" i="1" dirty="0" smtClean="0"/>
              <a:t>good</a:t>
            </a:r>
            <a:endParaRPr lang="en-IN" dirty="0" smtClean="0"/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This step refines the stemming process further, bringing different derived forms closer to a single representative root</a:t>
            </a:r>
            <a:endParaRPr lang="en-I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4774"/>
            <a:ext cx="8229600" cy="6190937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IN" b="1" dirty="0" smtClean="0"/>
              <a:t>Step 4: Removal of Additional Derivational Suffixes</a:t>
            </a:r>
          </a:p>
          <a:p>
            <a:pPr algn="just">
              <a:buNone/>
            </a:pPr>
            <a:r>
              <a:rPr lang="en-IN" dirty="0" smtClean="0"/>
              <a:t>This phase removes suffixes like </a:t>
            </a:r>
            <a:r>
              <a:rPr lang="en-IN" i="1" dirty="0" smtClean="0"/>
              <a:t>-al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ance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ence</a:t>
            </a:r>
            <a:r>
              <a:rPr lang="en-IN" dirty="0" smtClean="0"/>
              <a:t>, </a:t>
            </a:r>
            <a:r>
              <a:rPr lang="en-IN" i="1" dirty="0" smtClean="0"/>
              <a:t>-</a:t>
            </a:r>
            <a:r>
              <a:rPr lang="en-IN" i="1" dirty="0" err="1" smtClean="0"/>
              <a:t>ment</a:t>
            </a:r>
            <a:r>
              <a:rPr lang="en-IN" dirty="0" smtClean="0"/>
              <a:t>, </a:t>
            </a:r>
            <a:r>
              <a:rPr lang="en-IN" i="1" dirty="0" smtClean="0"/>
              <a:t>-able</a:t>
            </a:r>
            <a:r>
              <a:rPr lang="en-IN" dirty="0" smtClean="0"/>
              <a:t>, and </a:t>
            </a:r>
            <a:r>
              <a:rPr lang="en-IN" i="1" dirty="0" smtClean="0"/>
              <a:t>-</a:t>
            </a:r>
            <a:r>
              <a:rPr lang="en-IN" i="1" dirty="0" err="1" smtClean="0"/>
              <a:t>ible</a:t>
            </a:r>
            <a:r>
              <a:rPr lang="en-IN" dirty="0" smtClean="0"/>
              <a:t>. However, the removal is only done if the remaining stem satisfies the measure condition m &gt; 1. This ensures that very short or meaningless stems are not produced.</a:t>
            </a:r>
          </a:p>
          <a:p>
            <a:pPr algn="just">
              <a:buNone/>
            </a:pPr>
            <a:r>
              <a:rPr lang="en-IN" b="1" dirty="0" smtClean="0"/>
              <a:t>Examples:</a:t>
            </a:r>
          </a:p>
          <a:p>
            <a:pPr lvl="1" algn="just"/>
            <a:r>
              <a:rPr lang="en-IN" i="1" dirty="0" smtClean="0"/>
              <a:t>allowance</a:t>
            </a:r>
            <a:r>
              <a:rPr lang="en-IN" dirty="0" smtClean="0"/>
              <a:t> → </a:t>
            </a:r>
            <a:r>
              <a:rPr lang="en-IN" i="1" dirty="0" smtClean="0"/>
              <a:t>allow</a:t>
            </a:r>
            <a:endParaRPr lang="en-IN" dirty="0" smtClean="0"/>
          </a:p>
          <a:p>
            <a:pPr lvl="1"/>
            <a:r>
              <a:rPr lang="en-IN" i="1" dirty="0" smtClean="0"/>
              <a:t>inference</a:t>
            </a:r>
            <a:r>
              <a:rPr lang="en-IN" dirty="0" smtClean="0"/>
              <a:t> → </a:t>
            </a:r>
            <a:r>
              <a:rPr lang="en-IN" i="1" dirty="0" smtClean="0"/>
              <a:t>infer</a:t>
            </a:r>
          </a:p>
          <a:p>
            <a:pPr marL="342900" lvl="1" indent="-342900">
              <a:buNone/>
            </a:pPr>
            <a:endParaRPr lang="en-IN" dirty="0" smtClean="0"/>
          </a:p>
          <a:p>
            <a:pPr marL="342900" lvl="1" indent="-342900">
              <a:buNone/>
            </a:pPr>
            <a:r>
              <a:rPr lang="en-IN" dirty="0" smtClean="0"/>
              <a:t>This step ensures that complex derived words are properly reduced to meaningful bases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9784"/>
            <a:ext cx="8229600" cy="620592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 smtClean="0"/>
              <a:t>Step 5: Final Adjustment</a:t>
            </a:r>
          </a:p>
          <a:p>
            <a:pPr algn="just">
              <a:buNone/>
            </a:pPr>
            <a:r>
              <a:rPr lang="en-IN" dirty="0" smtClean="0"/>
              <a:t>In the final step, the algorithm removes a terminal </a:t>
            </a:r>
            <a:r>
              <a:rPr lang="en-IN" i="1" dirty="0" smtClean="0"/>
              <a:t>-e</a:t>
            </a:r>
            <a:r>
              <a:rPr lang="en-IN" dirty="0" smtClean="0"/>
              <a:t> (if it exists) under certain conditions. The </a:t>
            </a:r>
            <a:r>
              <a:rPr lang="en-IN" i="1" dirty="0" smtClean="0"/>
              <a:t>-e</a:t>
            </a:r>
            <a:r>
              <a:rPr lang="en-IN" dirty="0" smtClean="0"/>
              <a:t> is only removed if doing so doesn’t leave the stem too short.</a:t>
            </a:r>
          </a:p>
          <a:p>
            <a:pPr>
              <a:buNone/>
            </a:pPr>
            <a:r>
              <a:rPr lang="en-IN" b="1" dirty="0" smtClean="0"/>
              <a:t>Examples:</a:t>
            </a:r>
          </a:p>
          <a:p>
            <a:pPr lvl="1"/>
            <a:r>
              <a:rPr lang="en-IN" i="1" dirty="0" smtClean="0"/>
              <a:t>probate</a:t>
            </a:r>
            <a:r>
              <a:rPr lang="en-IN" dirty="0" smtClean="0"/>
              <a:t> → </a:t>
            </a:r>
            <a:r>
              <a:rPr lang="en-IN" i="1" dirty="0" err="1" smtClean="0"/>
              <a:t>probat</a:t>
            </a:r>
            <a:endParaRPr lang="en-IN" dirty="0" smtClean="0"/>
          </a:p>
          <a:p>
            <a:pPr lvl="1"/>
            <a:r>
              <a:rPr lang="en-IN" i="1" dirty="0" smtClean="0"/>
              <a:t>rate</a:t>
            </a:r>
            <a:r>
              <a:rPr lang="en-IN" dirty="0" smtClean="0"/>
              <a:t> → </a:t>
            </a:r>
            <a:r>
              <a:rPr lang="en-IN" i="1" dirty="0" smtClean="0"/>
              <a:t>rate</a:t>
            </a:r>
            <a:r>
              <a:rPr lang="en-IN" dirty="0" smtClean="0"/>
              <a:t> (unchanged, since removing </a:t>
            </a:r>
            <a:r>
              <a:rPr lang="en-IN" i="1" dirty="0" smtClean="0"/>
              <a:t>-e</a:t>
            </a:r>
            <a:r>
              <a:rPr lang="en-IN" dirty="0" smtClean="0"/>
              <a:t> would not meet the rule condition)</a:t>
            </a:r>
          </a:p>
          <a:p>
            <a:pPr lvl="1"/>
            <a:r>
              <a:rPr lang="en-IN" i="1" dirty="0" smtClean="0"/>
              <a:t>cease</a:t>
            </a:r>
            <a:r>
              <a:rPr lang="en-IN" dirty="0" smtClean="0"/>
              <a:t> → </a:t>
            </a:r>
            <a:r>
              <a:rPr lang="en-IN" i="1" dirty="0" err="1" smtClean="0"/>
              <a:t>ceas</a:t>
            </a:r>
            <a:endParaRPr lang="en-IN" i="1" dirty="0" smtClean="0"/>
          </a:p>
          <a:p>
            <a:pPr lvl="1"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This step provides the final refinement, ensuring the resulting stems are consistent</a:t>
            </a:r>
            <a:endParaRPr lang="en-I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9626"/>
            <a:ext cx="8229600" cy="598107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2. Lemmatizer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tool that converts words to their dictionary base form (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lemma), considering the word’s meaning and context.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Unlike stemming, it ensures that the base form is a real word and more linguistically accurate.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Input: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"better"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"good" </a:t>
            </a: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4715"/>
            <a:ext cx="8229600" cy="5691449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3. Penn Treebank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 dataset containing annotated syntactic structures and part-of-speech tags for English text. 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Why it is used: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Provides a standardized corpus for training and testing NLP models. </a:t>
            </a:r>
          </a:p>
          <a:p>
            <a:pPr lvl="1" algn="just"/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Example Annotation: </a:t>
            </a:r>
          </a:p>
          <a:p>
            <a:pPr lvl="2"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Sentence: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"The dog barked loudly." </a:t>
            </a:r>
          </a:p>
          <a:p>
            <a:pPr lvl="2"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POS Tags: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[The/DT dog/NN barked/VBD loudly/RB]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4538"/>
            <a:ext cx="8229600" cy="542162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4. Brill's Tagger </a:t>
            </a:r>
            <a:endParaRPr lang="en-IN" sz="36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 rule-based part-of-speech (POS) tagger developed by Eric Brill. 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Assigns grammatical tags to words based on contextual rules. </a:t>
            </a:r>
          </a:p>
          <a:p>
            <a:pPr lvl="1" algn="just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Sentence: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"She runs fast." </a:t>
            </a:r>
          </a:p>
          <a:p>
            <a:pPr lvl="2" algn="just"/>
            <a:r>
              <a:rPr lang="de-DE" sz="2800" dirty="0" smtClean="0">
                <a:latin typeface="Times New Roman" pitchFamily="18" charset="0"/>
                <a:cs typeface="Times New Roman" pitchFamily="18" charset="0"/>
              </a:rPr>
              <a:t>POS Tags: </a:t>
            </a:r>
            <a:r>
              <a:rPr lang="de-DE" sz="2800" i="1" dirty="0" smtClean="0">
                <a:latin typeface="Times New Roman" pitchFamily="18" charset="0"/>
                <a:cs typeface="Times New Roman" pitchFamily="18" charset="0"/>
              </a:rPr>
              <a:t>She/PRP runs/VBZ fast/RB </a:t>
            </a:r>
          </a:p>
          <a:p>
            <a:pPr algn="just"/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4538"/>
            <a:ext cx="8229600" cy="566628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5. WordNet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lexical database for the English language that groups words into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synsets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(synonym sets) and provides relationships like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hypernyms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(broader terms) and hyponyms (specific terms).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Supports tasks like word sense disambiguation and semantic analysis.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Word: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"car"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Synsets: {automobile, motorcar} </a:t>
            </a:r>
          </a:p>
          <a:p>
            <a:pPr lvl="2" algn="just"/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Hypernym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"vehicle" </a:t>
            </a: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4577"/>
            <a:ext cx="8229600" cy="602604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PropBank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corpus annotated with information about verb arguments and their roles in sentences (semantic role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labeling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Enables understanding of sentence semantics by identifying "who did what to whom."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Sentence: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"John gave Mary a book."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Roles: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John (giver), Mary (recipient), book (object) </a:t>
            </a: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676"/>
            <a:ext cx="8229600" cy="563148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FrameNet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database that groups words into semantic frames—concepts that capture the relationships between words in context.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Helps in understanding the broader context of sentences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Frame: </a:t>
            </a:r>
            <a:r>
              <a:rPr lang="en-IN" i="1" dirty="0" err="1" smtClean="0">
                <a:latin typeface="Times New Roman" pitchFamily="18" charset="0"/>
                <a:cs typeface="Times New Roman" pitchFamily="18" charset="0"/>
              </a:rPr>
              <a:t>Commerce_buy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Sentence: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"She bought a car from the dealer."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Roles: Buyer (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She), Goods (car), Seller (dealer)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9626"/>
            <a:ext cx="8229600" cy="5556537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8. Brown Corpus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One of the first large, annotated corpora of English text, covering diverse genres like fiction, news, and academic writing.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Provides a standard dataset for linguistic analysis and training language models. 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Contains over 1 million words categorized into genres like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news and editorials. </a:t>
            </a: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4558"/>
            <a:ext cx="8229600" cy="54516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9. British National Corpus (BNC) </a:t>
            </a:r>
          </a:p>
          <a:p>
            <a:pPr lvl="1"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it is: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100-million-word text corpus that represents modern British English from various contexts like books, conversations, and broadcasts.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it’s used: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Useful for understanding language trends, dialects, and usage patterns in British English. </a:t>
            </a:r>
          </a:p>
          <a:p>
            <a:pPr lvl="1"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Provides frequency counts of word usage, e.g., 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"colour" is more common than "</a:t>
            </a:r>
            <a:r>
              <a:rPr lang="en-IN" i="1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." </a:t>
            </a: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2597</Words>
  <Application>Microsoft Office PowerPoint</Application>
  <PresentationFormat>On-screen Show (4:3)</PresentationFormat>
  <Paragraphs>340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UNIT 5  DISCOURSE ANALYSIS AND LEXICAL RESOURCES</vt:lpstr>
      <vt:lpstr>What is Discourse?</vt:lpstr>
      <vt:lpstr>Discourse Segmentation</vt:lpstr>
      <vt:lpstr>Types of Discourse Segmentation </vt:lpstr>
      <vt:lpstr>Example of Discourse Segmentation </vt:lpstr>
      <vt:lpstr>What is Coherence?</vt:lpstr>
      <vt:lpstr>Types of Coherence </vt:lpstr>
      <vt:lpstr>Devices for Achieving Coherence </vt:lpstr>
      <vt:lpstr>PowerPoint Presentation</vt:lpstr>
      <vt:lpstr>PowerPoint Presentation</vt:lpstr>
      <vt:lpstr>PowerPoint Presentation</vt:lpstr>
      <vt:lpstr>Example of Coherence </vt:lpstr>
      <vt:lpstr>Models of Coherence</vt:lpstr>
      <vt:lpstr>Coherence Example</vt:lpstr>
      <vt:lpstr>PowerPoint Presentation</vt:lpstr>
      <vt:lpstr>Example of Topic-Based Segmentation and Coherence </vt:lpstr>
      <vt:lpstr>PowerPoint Presentation</vt:lpstr>
      <vt:lpstr>PowerPoint Presentation</vt:lpstr>
      <vt:lpstr>Reference Phenomena in Discourse</vt:lpstr>
      <vt:lpstr>Types of Reference Phenomena </vt:lpstr>
      <vt:lpstr>PowerPoint Presentation</vt:lpstr>
      <vt:lpstr>Anaphora Resolution </vt:lpstr>
      <vt:lpstr> Steps of Hobbs’ Algorithm:  </vt:lpstr>
      <vt:lpstr>PowerPoint Presentation</vt:lpstr>
      <vt:lpstr>Centering Algorithm </vt:lpstr>
      <vt:lpstr>Steps in the Centering Algorithm </vt:lpstr>
      <vt:lpstr>PowerPoint Presentation</vt:lpstr>
      <vt:lpstr>Example of Centering Algorithm in Action </vt:lpstr>
      <vt:lpstr>PowerPoint Presentation</vt:lpstr>
      <vt:lpstr>COREFERENCE RESOLUTION </vt:lpstr>
      <vt:lpstr>PowerPoint Presentation</vt:lpstr>
      <vt:lpstr>Types of Coreference </vt:lpstr>
      <vt:lpstr>PowerPoint Presentation</vt:lpstr>
      <vt:lpstr>PowerPoint Presentation</vt:lpstr>
      <vt:lpstr>Steps in Coreference Resolution </vt:lpstr>
      <vt:lpstr>PowerPoint Presentation</vt:lpstr>
      <vt:lpstr>Algorithms for Coreference Resolution </vt:lpstr>
      <vt:lpstr>PowerPoint Presentation</vt:lpstr>
      <vt:lpstr>Examples of Coreference </vt:lpstr>
      <vt:lpstr>Applications of Coreference Resolution </vt:lpstr>
      <vt:lpstr>RESOURCES </vt:lpstr>
      <vt:lpstr>PowerPoint Presentation</vt:lpstr>
      <vt:lpstr>Porter Stemming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 DISCOURSE ANALYSIS AND LEXICAL RESOURCES:</dc:title>
  <dc:subject/>
  <dc:creator/>
  <cp:keywords/>
  <dc:description>generated using python-pptx</dc:description>
  <cp:lastModifiedBy>Windows User</cp:lastModifiedBy>
  <cp:revision>150</cp:revision>
  <dcterms:created xsi:type="dcterms:W3CDTF">2013-01-27T09:14:16Z</dcterms:created>
  <dcterms:modified xsi:type="dcterms:W3CDTF">2026-04-02T06:27:51Z</dcterms:modified>
  <cp:category/>
</cp:coreProperties>
</file>