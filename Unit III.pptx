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312" r:id="rId2"/>
    <p:sldId id="313" r:id="rId3"/>
    <p:sldId id="314" r:id="rId4"/>
    <p:sldId id="315" r:id="rId5"/>
    <p:sldId id="320" r:id="rId6"/>
    <p:sldId id="316" r:id="rId7"/>
    <p:sldId id="317" r:id="rId8"/>
    <p:sldId id="318" r:id="rId9"/>
    <p:sldId id="319" r:id="rId10"/>
    <p:sldId id="262" r:id="rId11"/>
    <p:sldId id="321" r:id="rId12"/>
    <p:sldId id="322" r:id="rId13"/>
    <p:sldId id="323" r:id="rId14"/>
    <p:sldId id="324" r:id="rId15"/>
    <p:sldId id="325" r:id="rId16"/>
    <p:sldId id="326" r:id="rId17"/>
    <p:sldId id="267" r:id="rId18"/>
    <p:sldId id="268" r:id="rId19"/>
    <p:sldId id="269" r:id="rId20"/>
    <p:sldId id="270" r:id="rId21"/>
    <p:sldId id="271" r:id="rId22"/>
    <p:sldId id="272" r:id="rId23"/>
    <p:sldId id="274" r:id="rId24"/>
    <p:sldId id="275" r:id="rId25"/>
    <p:sldId id="328" r:id="rId26"/>
    <p:sldId id="329" r:id="rId27"/>
    <p:sldId id="330" r:id="rId28"/>
    <p:sldId id="355" r:id="rId29"/>
    <p:sldId id="331" r:id="rId30"/>
    <p:sldId id="332" r:id="rId31"/>
    <p:sldId id="279" r:id="rId32"/>
    <p:sldId id="353" r:id="rId33"/>
    <p:sldId id="354" r:id="rId34"/>
    <p:sldId id="333" r:id="rId35"/>
    <p:sldId id="336" r:id="rId36"/>
    <p:sldId id="337" r:id="rId37"/>
    <p:sldId id="338" r:id="rId38"/>
    <p:sldId id="365" r:id="rId39"/>
    <p:sldId id="366" r:id="rId40"/>
    <p:sldId id="339" r:id="rId41"/>
    <p:sldId id="288" r:id="rId42"/>
    <p:sldId id="340" r:id="rId43"/>
    <p:sldId id="341" r:id="rId44"/>
    <p:sldId id="342" r:id="rId45"/>
    <p:sldId id="343" r:id="rId46"/>
    <p:sldId id="346" r:id="rId47"/>
    <p:sldId id="347" r:id="rId48"/>
    <p:sldId id="348" r:id="rId49"/>
    <p:sldId id="349" r:id="rId50"/>
    <p:sldId id="360" r:id="rId51"/>
    <p:sldId id="361" r:id="rId52"/>
    <p:sldId id="359" r:id="rId53"/>
    <p:sldId id="363" r:id="rId54"/>
    <p:sldId id="364" r:id="rId55"/>
    <p:sldId id="357" r:id="rId56"/>
    <p:sldId id="291" r:id="rId57"/>
    <p:sldId id="292" r:id="rId58"/>
    <p:sldId id="293" r:id="rId59"/>
    <p:sldId id="358" r:id="rId60"/>
    <p:sldId id="294" r:id="rId61"/>
    <p:sldId id="295" r:id="rId62"/>
    <p:sldId id="296" r:id="rId63"/>
    <p:sldId id="297" r:id="rId64"/>
    <p:sldId id="350" r:id="rId65"/>
    <p:sldId id="351" r:id="rId66"/>
    <p:sldId id="352" r:id="rId67"/>
    <p:sldId id="298" r:id="rId68"/>
    <p:sldId id="299" r:id="rId69"/>
    <p:sldId id="367" r:id="rId70"/>
    <p:sldId id="368" r:id="rId71"/>
    <p:sldId id="302" r:id="rId72"/>
    <p:sldId id="369" r:id="rId73"/>
    <p:sldId id="370" r:id="rId74"/>
    <p:sldId id="371" r:id="rId75"/>
    <p:sldId id="372" r:id="rId76"/>
    <p:sldId id="373" r:id="rId77"/>
    <p:sldId id="374" r:id="rId78"/>
    <p:sldId id="375" r:id="rId79"/>
    <p:sldId id="377" r:id="rId80"/>
    <p:sldId id="378" r:id="rId81"/>
    <p:sldId id="379" r:id="rId82"/>
    <p:sldId id="380" r:id="rId83"/>
    <p:sldId id="381" r:id="rId84"/>
    <p:sldId id="382" r:id="rId85"/>
    <p:sldId id="383" r:id="rId86"/>
    <p:sldId id="384" r:id="rId87"/>
    <p:sldId id="385" r:id="rId88"/>
    <p:sldId id="386" r:id="rId89"/>
    <p:sldId id="387" r:id="rId90"/>
    <p:sldId id="306" r:id="rId91"/>
    <p:sldId id="307" r:id="rId92"/>
    <p:sldId id="388" r:id="rId93"/>
    <p:sldId id="309" r:id="rId94"/>
    <p:sldId id="389" r:id="rId95"/>
    <p:sldId id="310" r:id="rId96"/>
    <p:sldId id="311" r:id="rId9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xmlns="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2D6AEC3-B4C9-4923-9E1A-D990A0D7732F}" v="2" dt="2025-11-15T13:50:42.09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9" d="100"/>
          <a:sy n="89" d="100"/>
        </p:scale>
        <p:origin x="-1094" y="-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87" Type="http://schemas.openxmlformats.org/officeDocument/2006/relationships/slide" Target="slides/slide86.xml"/><Relationship Id="rId102" Type="http://schemas.microsoft.com/office/2016/11/relationships/changesInfo" Target="changesInfos/changesInfo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100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slide" Target="slides/slide92.xml"/><Relationship Id="rId98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03" Type="http://schemas.microsoft.com/office/2015/10/relationships/revisionInfo" Target="revisionInfo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viewProps" Target="viewProps.xml"/><Relationship Id="rId10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emanth bikkina" userId="dffd0b610bf80bde" providerId="LiveId" clId="{CA3FCBC6-B759-4186-B73C-2B754EFCD012}"/>
    <pc:docChg chg="undo custSel modSld">
      <pc:chgData name="Hemanth bikkina" userId="dffd0b610bf80bde" providerId="LiveId" clId="{CA3FCBC6-B759-4186-B73C-2B754EFCD012}" dt="2025-11-15T16:41:07.132" v="5" actId="1076"/>
      <pc:docMkLst>
        <pc:docMk/>
      </pc:docMkLst>
      <pc:sldChg chg="modSp mod">
        <pc:chgData name="Hemanth bikkina" userId="dffd0b610bf80bde" providerId="LiveId" clId="{CA3FCBC6-B759-4186-B73C-2B754EFCD012}" dt="2025-11-15T13:50:41.700" v="4" actId="20577"/>
        <pc:sldMkLst>
          <pc:docMk/>
          <pc:sldMk cId="0" sldId="262"/>
        </pc:sldMkLst>
        <pc:spChg chg="mod">
          <ac:chgData name="Hemanth bikkina" userId="dffd0b610bf80bde" providerId="LiveId" clId="{CA3FCBC6-B759-4186-B73C-2B754EFCD012}" dt="2025-11-15T13:50:41.700" v="4" actId="20577"/>
          <ac:spMkLst>
            <pc:docMk/>
            <pc:sldMk cId="0" sldId="262"/>
            <ac:spMk id="3" creationId="{00000000-0000-0000-0000-000000000000}"/>
          </ac:spMkLst>
        </pc:spChg>
      </pc:sldChg>
      <pc:sldChg chg="modSp mod">
        <pc:chgData name="Hemanth bikkina" userId="dffd0b610bf80bde" providerId="LiveId" clId="{CA3FCBC6-B759-4186-B73C-2B754EFCD012}" dt="2025-11-15T16:41:07.132" v="5" actId="1076"/>
        <pc:sldMkLst>
          <pc:docMk/>
          <pc:sldMk cId="0" sldId="333"/>
        </pc:sldMkLst>
        <pc:spChg chg="mod">
          <ac:chgData name="Hemanth bikkina" userId="dffd0b610bf80bde" providerId="LiveId" clId="{CA3FCBC6-B759-4186-B73C-2B754EFCD012}" dt="2025-11-15T16:41:07.132" v="5" actId="1076"/>
          <ac:spMkLst>
            <pc:docMk/>
            <pc:sldMk cId="0" sldId="333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2/20/2026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2/20/2026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2/20/2026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2/20/2026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2/20/2026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2/20/2026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pPr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1295400"/>
            <a:ext cx="7772400" cy="1470025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UNIT III</a:t>
            </a:r>
            <a:br>
              <a:rPr lang="en-IN" b="1" dirty="0"/>
            </a:br>
            <a:r>
              <a:rPr lang="en-IN" b="1" dirty="0"/>
              <a:t/>
            </a:r>
            <a:br>
              <a:rPr lang="en-IN" b="1" dirty="0"/>
            </a:br>
            <a:r>
              <a:rPr lang="en-IN" b="1" dirty="0"/>
              <a:t>SYNTACTIC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962400"/>
            <a:ext cx="6400800" cy="2133600"/>
          </a:xfrm>
        </p:spPr>
        <p:txBody>
          <a:bodyPr>
            <a:normAutofit/>
          </a:bodyPr>
          <a:lstStyle/>
          <a:p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What is Syntactic Analysis?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Parsing is analyzing sentence structure.</a:t>
            </a:r>
          </a:p>
          <a:p>
            <a:r>
              <a:rPr lang="en-IN" dirty="0"/>
              <a:t>Checks grammatical correctness.</a:t>
            </a:r>
          </a:p>
          <a:p>
            <a:r>
              <a:rPr lang="en-IN" dirty="0"/>
              <a:t>Produces a parse tree based on grammar.</a:t>
            </a:r>
          </a:p>
          <a:p>
            <a:r>
              <a:rPr lang="en-IN" dirty="0"/>
              <a:t>Essential for many NLP tasks.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Goals of Syntactic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Identify syntactic structure.</a:t>
            </a:r>
          </a:p>
          <a:p>
            <a:r>
              <a:rPr lang="en-IN" dirty="0"/>
              <a:t>Support semantic interpretation.</a:t>
            </a:r>
          </a:p>
          <a:p>
            <a:pPr algn="just"/>
            <a:r>
              <a:rPr lang="en-IN" dirty="0"/>
              <a:t>Enable applications like machine translation, QA systems, chatbots.</a:t>
            </a:r>
          </a:p>
          <a:p>
            <a:r>
              <a:rPr lang="en-IN" dirty="0"/>
              <a:t>Provide a basis for higher-level analysis.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What is a Grammar?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IN" dirty="0"/>
              <a:t>A formal set of rules that defines valid sentence structures.</a:t>
            </a:r>
          </a:p>
          <a:p>
            <a:pPr algn="just"/>
            <a:r>
              <a:rPr lang="en-IN" dirty="0"/>
              <a:t>Consists of syntax rules for forming phrases.</a:t>
            </a:r>
          </a:p>
          <a:p>
            <a:pPr algn="just"/>
            <a:r>
              <a:rPr lang="en-IN" dirty="0"/>
              <a:t>NLP uses formal grammars like CFGs.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What is a Context-Free Grammar (CFG)?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708525"/>
          </a:xfrm>
        </p:spPr>
        <p:txBody>
          <a:bodyPr>
            <a:normAutofit lnSpcReduction="10000"/>
          </a:bodyPr>
          <a:lstStyle/>
          <a:p>
            <a:pPr algn="just"/>
            <a:r>
              <a:rPr lang="en-IN" dirty="0"/>
              <a:t>A </a:t>
            </a:r>
            <a:r>
              <a:rPr lang="en-IN" b="1" dirty="0"/>
              <a:t>context-free grammar (CFG)</a:t>
            </a:r>
            <a:r>
              <a:rPr lang="en-IN" dirty="0"/>
              <a:t> is a formal grammar used to generate all possible strings in a given formal language.</a:t>
            </a:r>
          </a:p>
          <a:p>
            <a:pPr algn="just"/>
            <a:r>
              <a:rPr lang="en-IN" dirty="0"/>
              <a:t>CFGs are widely used in computer science and linguistics to describe the syntax of programming languages and natural languages. </a:t>
            </a:r>
          </a:p>
          <a:p>
            <a:pPr algn="just"/>
            <a:r>
              <a:rPr lang="en-IN" dirty="0"/>
              <a:t>The "context-free" part means that the rules for rewriting a non-terminal symbol don't depend on the symbols surrounding it.</a:t>
            </a:r>
          </a:p>
          <a:p>
            <a:pPr algn="just"/>
            <a:endParaRPr lang="en-IN" dirty="0"/>
          </a:p>
          <a:p>
            <a:endParaRPr lang="en-IN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Components of CFG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IN" dirty="0"/>
              <a:t>A CFG is a 4-tuple (V, </a:t>
            </a:r>
            <a:r>
              <a:rPr lang="el-GR" dirty="0"/>
              <a:t>Σ, </a:t>
            </a:r>
            <a:r>
              <a:rPr lang="en-IN" dirty="0"/>
              <a:t>R, S):</a:t>
            </a:r>
            <a:endParaRPr lang="en-IN" b="1" dirty="0"/>
          </a:p>
          <a:p>
            <a:r>
              <a:rPr lang="en-IN" b="1" dirty="0"/>
              <a:t>Non-terminals (V)</a:t>
            </a:r>
            <a:r>
              <a:rPr lang="en-IN" dirty="0"/>
              <a:t>: S, NP, VP, etc.</a:t>
            </a:r>
          </a:p>
          <a:p>
            <a:r>
              <a:rPr lang="en-IN" b="1" dirty="0"/>
              <a:t>Terminals (</a:t>
            </a:r>
            <a:r>
              <a:rPr lang="el-GR" b="1" dirty="0"/>
              <a:t>Σ</a:t>
            </a:r>
            <a:r>
              <a:rPr lang="en-IN" dirty="0"/>
              <a:t>): actual words like 'dog', 'chased'</a:t>
            </a:r>
          </a:p>
          <a:p>
            <a:r>
              <a:rPr lang="en-IN" b="1" dirty="0"/>
              <a:t>Start symbol (S)</a:t>
            </a:r>
            <a:r>
              <a:rPr lang="en-IN" dirty="0"/>
              <a:t>: usually S</a:t>
            </a:r>
          </a:p>
          <a:p>
            <a:r>
              <a:rPr lang="en-IN" b="1" dirty="0"/>
              <a:t>Production Rules (R)</a:t>
            </a:r>
            <a:r>
              <a:rPr lang="en-IN" dirty="0"/>
              <a:t>:</a:t>
            </a:r>
          </a:p>
          <a:p>
            <a:pPr lvl="1" indent="785813">
              <a:buNone/>
            </a:pPr>
            <a:r>
              <a:rPr lang="en-IN" dirty="0"/>
              <a:t>S → NP VP</a:t>
            </a:r>
          </a:p>
          <a:p>
            <a:pPr lvl="1" indent="785813">
              <a:buNone/>
            </a:pPr>
            <a:r>
              <a:rPr lang="en-IN" dirty="0"/>
              <a:t>NP → Det N</a:t>
            </a:r>
          </a:p>
          <a:p>
            <a:pPr lvl="1" indent="785813">
              <a:buNone/>
            </a:pPr>
            <a:r>
              <a:rPr lang="en-IN" dirty="0"/>
              <a:t>VP → V NP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Example CFG Rules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600200"/>
            <a:ext cx="8416977" cy="4525963"/>
          </a:xfrm>
        </p:spPr>
        <p:txBody>
          <a:bodyPr>
            <a:normAutofit fontScale="70000" lnSpcReduction="20000"/>
          </a:bodyPr>
          <a:lstStyle/>
          <a:p>
            <a:r>
              <a:rPr lang="en-IN" dirty="0"/>
              <a:t>For example, a simple CFG for a subset of English might include rules like: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dirty="0"/>
              <a:t>	S → NP VP	 (A sentence is a noun phrase followed by a verb phrase)</a:t>
            </a:r>
          </a:p>
          <a:p>
            <a:pPr>
              <a:buNone/>
            </a:pPr>
            <a:r>
              <a:rPr lang="en-IN" dirty="0"/>
              <a:t>	NP → </a:t>
            </a:r>
            <a:r>
              <a:rPr lang="en-IN" dirty="0" err="1"/>
              <a:t>Det</a:t>
            </a:r>
            <a:r>
              <a:rPr lang="en-IN" dirty="0"/>
              <a:t> N     	(A noun phrase is a determiner followed by a noun)</a:t>
            </a:r>
          </a:p>
          <a:p>
            <a:pPr>
              <a:buNone/>
            </a:pPr>
            <a:r>
              <a:rPr lang="en-IN" dirty="0"/>
              <a:t>	VP → V NP		(A verb phrase is a verb followed by a noun phrase)</a:t>
            </a:r>
          </a:p>
          <a:p>
            <a:pPr>
              <a:buNone/>
            </a:pPr>
            <a:r>
              <a:rPr lang="en-IN" dirty="0"/>
              <a:t>		</a:t>
            </a:r>
          </a:p>
          <a:p>
            <a:pPr>
              <a:buNone/>
            </a:pPr>
            <a:r>
              <a:rPr lang="en-IN" dirty="0"/>
              <a:t>And lexical rules like:</a:t>
            </a:r>
          </a:p>
          <a:p>
            <a:pPr>
              <a:buNone/>
            </a:pPr>
            <a:r>
              <a:rPr lang="en-IN" dirty="0"/>
              <a:t> 	</a:t>
            </a:r>
          </a:p>
          <a:p>
            <a:pPr>
              <a:buNone/>
            </a:pPr>
            <a:r>
              <a:rPr lang="en-IN" dirty="0"/>
              <a:t>	</a:t>
            </a:r>
            <a:r>
              <a:rPr lang="en-IN" dirty="0" err="1"/>
              <a:t>Det</a:t>
            </a:r>
            <a:r>
              <a:rPr lang="en-IN" dirty="0"/>
              <a:t> → 'a' | 'the'</a:t>
            </a:r>
          </a:p>
          <a:p>
            <a:pPr>
              <a:buNone/>
            </a:pPr>
            <a:r>
              <a:rPr lang="en-IN" dirty="0"/>
              <a:t>	N → 'dog' | 'cat'</a:t>
            </a:r>
          </a:p>
          <a:p>
            <a:pPr>
              <a:buNone/>
            </a:pPr>
            <a:r>
              <a:rPr lang="en-IN" dirty="0"/>
              <a:t>	V → 'chased' | 'saw'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Sentence Derivation </a:t>
            </a:r>
            <a:r>
              <a:rPr lang="en-IN" dirty="0"/>
              <a:t>– </a:t>
            </a:r>
            <a:br>
              <a:rPr lang="en-IN" dirty="0"/>
            </a:br>
            <a:r>
              <a:rPr lang="en-IN" dirty="0"/>
              <a:t>"the dog chased a cat"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IN" dirty="0"/>
              <a:t> S → NP VP</a:t>
            </a:r>
          </a:p>
          <a:p>
            <a:pPr>
              <a:buNone/>
            </a:pPr>
            <a:r>
              <a:rPr lang="en-IN" dirty="0"/>
              <a:t>	→ Det N VP</a:t>
            </a:r>
          </a:p>
          <a:p>
            <a:pPr>
              <a:buNone/>
            </a:pPr>
            <a:r>
              <a:rPr lang="en-IN" dirty="0"/>
              <a:t>	→ the N VP</a:t>
            </a:r>
          </a:p>
          <a:p>
            <a:pPr>
              <a:buNone/>
            </a:pPr>
            <a:r>
              <a:rPr lang="en-IN" dirty="0"/>
              <a:t>	→ the dog VP</a:t>
            </a:r>
          </a:p>
          <a:p>
            <a:pPr>
              <a:buNone/>
            </a:pPr>
            <a:r>
              <a:rPr lang="en-IN" dirty="0"/>
              <a:t>	→ the dog V NP</a:t>
            </a:r>
          </a:p>
          <a:p>
            <a:pPr>
              <a:buNone/>
            </a:pPr>
            <a:r>
              <a:rPr lang="en-IN" dirty="0"/>
              <a:t>	→ the dog chased Det N</a:t>
            </a:r>
          </a:p>
          <a:p>
            <a:pPr>
              <a:buNone/>
            </a:pPr>
            <a:r>
              <a:rPr lang="en-IN" dirty="0"/>
              <a:t>	→ the dog chased a cat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Parse Tree (text-based drawing)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0" y="1600200"/>
            <a:ext cx="5105400" cy="4525963"/>
          </a:xfrm>
        </p:spPr>
        <p:txBody>
          <a:bodyPr/>
          <a:lstStyle/>
          <a:p>
            <a:pPr lvl="3" indent="-520700">
              <a:buNone/>
            </a:pPr>
            <a:r>
              <a:rPr lang="en-IN" sz="3200" dirty="0"/>
              <a:t>  S</a:t>
            </a:r>
          </a:p>
          <a:p>
            <a:pPr>
              <a:buNone/>
            </a:pPr>
            <a:r>
              <a:rPr lang="en-IN" dirty="0"/>
              <a:t>         /  	    \</a:t>
            </a:r>
          </a:p>
          <a:p>
            <a:pPr>
              <a:buNone/>
            </a:pPr>
            <a:r>
              <a:rPr lang="en-IN" dirty="0"/>
              <a:t>      NP              VP</a:t>
            </a:r>
          </a:p>
          <a:p>
            <a:pPr>
              <a:buNone/>
            </a:pPr>
            <a:r>
              <a:rPr lang="en-IN" dirty="0"/>
              <a:t>     / \            /        \</a:t>
            </a:r>
          </a:p>
          <a:p>
            <a:pPr>
              <a:buNone/>
            </a:pPr>
            <a:r>
              <a:rPr lang="en-IN" dirty="0"/>
              <a:t> Det  N       V           NP</a:t>
            </a:r>
          </a:p>
          <a:p>
            <a:pPr>
              <a:buNone/>
            </a:pPr>
            <a:r>
              <a:rPr lang="en-IN" dirty="0"/>
              <a:t>   |      |        |           /   \</a:t>
            </a:r>
          </a:p>
          <a:p>
            <a:pPr>
              <a:buNone/>
            </a:pPr>
            <a:r>
              <a:rPr lang="en-IN" dirty="0"/>
              <a:t>  the  dog  chased  a 	cat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Grammar Rules for English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IN" dirty="0"/>
              <a:t>The grammar rules for English, particularly in the context of computational linguistics, are an extensive set of production rules used to describe the syntactic structure of sentences.</a:t>
            </a:r>
            <a:endParaRPr lang="en-IN" b="1" dirty="0"/>
          </a:p>
          <a:p>
            <a:pPr algn="just"/>
            <a:r>
              <a:rPr lang="en-IN" dirty="0"/>
              <a:t>Grammar defines the structure of a language.</a:t>
            </a:r>
          </a:p>
          <a:p>
            <a:pPr algn="just"/>
            <a:r>
              <a:rPr lang="en-IN" dirty="0"/>
              <a:t>In NLP, grammar helps in understanding sentence structure.</a:t>
            </a:r>
          </a:p>
          <a:p>
            <a:pPr algn="just"/>
            <a:r>
              <a:rPr lang="en-IN" dirty="0"/>
              <a:t>Includes rules for word order, agreement, and syntax.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34634"/>
          </a:xfrm>
        </p:spPr>
        <p:txBody>
          <a:bodyPr/>
          <a:lstStyle/>
          <a:p>
            <a:r>
              <a:rPr lang="en-IN" b="1" dirty="0"/>
              <a:t>Types of Grammar Rules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7240" y="1349114"/>
            <a:ext cx="8229600" cy="4941940"/>
          </a:xfrm>
        </p:spPr>
        <p:txBody>
          <a:bodyPr>
            <a:normAutofit fontScale="92500" lnSpcReduction="20000"/>
          </a:bodyPr>
          <a:lstStyle/>
          <a:p>
            <a:pPr lvl="1" algn="just"/>
            <a:r>
              <a:rPr lang="en-IN" sz="4000" dirty="0"/>
              <a:t> Syntax Rules: Sentence structure.</a:t>
            </a:r>
          </a:p>
          <a:p>
            <a:pPr lvl="1" algn="just"/>
            <a:endParaRPr lang="en-IN" sz="4000" dirty="0"/>
          </a:p>
          <a:p>
            <a:pPr lvl="1" algn="just"/>
            <a:r>
              <a:rPr lang="en-IN" sz="4000" dirty="0"/>
              <a:t> Morphological Rules: Word formation</a:t>
            </a:r>
          </a:p>
          <a:p>
            <a:pPr lvl="1" algn="just"/>
            <a:endParaRPr lang="en-IN" sz="4000" dirty="0"/>
          </a:p>
          <a:p>
            <a:pPr lvl="1" algn="just"/>
            <a:r>
              <a:rPr lang="en-IN" sz="4000" dirty="0"/>
              <a:t> Agreement Rules: Subject-verb agreement, etc.</a:t>
            </a:r>
          </a:p>
          <a:p>
            <a:pPr lvl="1" algn="just"/>
            <a:endParaRPr lang="en-IN" sz="4000" dirty="0"/>
          </a:p>
          <a:p>
            <a:pPr lvl="1" algn="just"/>
            <a:r>
              <a:rPr lang="en-IN" sz="4000" dirty="0"/>
              <a:t> Phrase Structure Rules: How phrases are formed.</a:t>
            </a:r>
          </a:p>
          <a:p>
            <a:pPr algn="just"/>
            <a:endParaRPr lang="en-IN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Phrase Structure Rules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IN" dirty="0"/>
              <a:t>Rules that define sentence formation using phrases.</a:t>
            </a:r>
          </a:p>
          <a:p>
            <a:pPr>
              <a:buNone/>
            </a:pPr>
            <a:r>
              <a:rPr lang="en-IN" dirty="0"/>
              <a:t>Example: S → NP VP</a:t>
            </a:r>
          </a:p>
          <a:p>
            <a:r>
              <a:rPr lang="en-IN" dirty="0"/>
              <a:t>NP → Det N | Det </a:t>
            </a:r>
            <a:r>
              <a:rPr lang="en-IN" dirty="0" err="1"/>
              <a:t>Adj</a:t>
            </a:r>
            <a:r>
              <a:rPr lang="en-IN" dirty="0"/>
              <a:t> N</a:t>
            </a:r>
          </a:p>
          <a:p>
            <a:r>
              <a:rPr lang="en-IN" dirty="0"/>
              <a:t>VP → V NP | V NP PP</a:t>
            </a:r>
          </a:p>
          <a:p>
            <a:r>
              <a:rPr lang="en-IN" dirty="0"/>
              <a:t>PP → P NP	A Prepositional Phrase consists of a Preposition followed by a Noun Phrase.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Example Sentence Parsing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Sentence: 'The big dog chased the cat.'</a:t>
            </a:r>
          </a:p>
          <a:p>
            <a:pPr lvl="2"/>
            <a:r>
              <a:rPr lang="en-IN" sz="3200" dirty="0"/>
              <a:t>S → NP VP</a:t>
            </a:r>
          </a:p>
          <a:p>
            <a:pPr lvl="2"/>
            <a:r>
              <a:rPr lang="en-IN" sz="3200" dirty="0"/>
              <a:t>NP → Det </a:t>
            </a:r>
            <a:r>
              <a:rPr lang="en-IN" sz="3200" dirty="0" err="1"/>
              <a:t>Adj</a:t>
            </a:r>
            <a:r>
              <a:rPr lang="en-IN" sz="3200" dirty="0"/>
              <a:t> N → The big dog</a:t>
            </a:r>
          </a:p>
          <a:p>
            <a:pPr lvl="2"/>
            <a:r>
              <a:rPr lang="en-IN" sz="3200" dirty="0"/>
              <a:t>VP → V NP → chased NP</a:t>
            </a:r>
          </a:p>
          <a:p>
            <a:pPr lvl="2"/>
            <a:r>
              <a:rPr lang="en-IN" sz="3200" dirty="0"/>
              <a:t>NP → Det N → the cat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Subject-Verb Agreement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Subjects and verbs must agree in number.</a:t>
            </a:r>
          </a:p>
          <a:p>
            <a:r>
              <a:rPr lang="en-IN" dirty="0"/>
              <a:t>Correct: 'She walks.'</a:t>
            </a:r>
          </a:p>
          <a:p>
            <a:r>
              <a:rPr lang="en-IN" dirty="0"/>
              <a:t>Incorrect: 'She walk.'</a:t>
            </a:r>
          </a:p>
          <a:p>
            <a:r>
              <a:rPr lang="en-IN" dirty="0"/>
              <a:t>Important for syntactic correctness.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Tense and Aspect Rules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Tense: Past, Present, Future.</a:t>
            </a:r>
          </a:p>
          <a:p>
            <a:r>
              <a:rPr lang="en-IN" dirty="0"/>
              <a:t>Aspect: Simple, Perfect, Progressive.</a:t>
            </a:r>
          </a:p>
          <a:p>
            <a:r>
              <a:rPr lang="en-IN" dirty="0"/>
              <a:t>Helps in understanding verb usage.</a:t>
            </a:r>
          </a:p>
          <a:p>
            <a:r>
              <a:rPr lang="en-IN" dirty="0"/>
              <a:t>Examples: 'He is eating', 'He has eaten', 'He ate'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Word Order in English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IN" dirty="0"/>
              <a:t>Standard word order: Subject-Verb-Object (SVO).</a:t>
            </a:r>
          </a:p>
          <a:p>
            <a:pPr algn="just"/>
            <a:r>
              <a:rPr lang="en-IN" dirty="0"/>
              <a:t>Example: 'John eats an apple.'</a:t>
            </a:r>
          </a:p>
          <a:p>
            <a:pPr algn="just"/>
            <a:r>
              <a:rPr lang="en-IN" dirty="0"/>
              <a:t>Modifiers typically follow the word they modify.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/>
              <a:t>Parse Trees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t>Parse trees visually represent how a sentence is derived using CFG rules.</a:t>
            </a:r>
          </a:p>
          <a:p>
            <a:pPr algn="just"/>
            <a:r>
              <a:t>They show hierarchical structure from S to terminals.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b="1"/>
              <a:t>Leftmost and Rightmost Derivations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t>Leftmost: expand the leftmost non-terminal first.</a:t>
            </a:r>
          </a:p>
          <a:p>
            <a:pPr algn="just"/>
            <a:r>
              <a:t>Rightmost: expand the rightmost non-terminal first.</a:t>
            </a:r>
          </a:p>
          <a:p>
            <a:pPr algn="just"/>
            <a:r>
              <a:t>Both result in the same final sentence but different derivation paths.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/>
              <a:t>Example Derivation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dirty="0"/>
              <a:t>Sentence: 'The dog chased the cat'</a:t>
            </a:r>
          </a:p>
          <a:p>
            <a:pPr>
              <a:buNone/>
            </a:pPr>
            <a:r>
              <a:rPr dirty="0"/>
              <a:t>Rules:</a:t>
            </a:r>
          </a:p>
          <a:p>
            <a:r>
              <a:rPr dirty="0"/>
              <a:t>S → NP VP</a:t>
            </a:r>
          </a:p>
          <a:p>
            <a:r>
              <a:rPr dirty="0"/>
              <a:t>NP → Det N</a:t>
            </a:r>
          </a:p>
          <a:p>
            <a:r>
              <a:rPr dirty="0"/>
              <a:t>VP → V NP</a:t>
            </a:r>
          </a:p>
          <a:p>
            <a:pPr>
              <a:buNone/>
            </a:pPr>
            <a:r>
              <a:rPr dirty="0"/>
              <a:t>Derivation (Leftmost):</a:t>
            </a:r>
          </a:p>
          <a:p>
            <a:r>
              <a:rPr dirty="0"/>
              <a:t>S → NP VP → Det N VP → Det N V NP → ...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/>
              <a:t>Bracket Notation for Trees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t>Another way to represent parse trees:</a:t>
            </a:r>
          </a:p>
          <a:p>
            <a:pPr algn="just"/>
            <a:r>
              <a:t>[S [NP [Det The] [N dog]] [VP [V chased] [NP [Det the] [N cat]]]]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/>
              <a:t>Why Parse Trees Matter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dirty="0"/>
              <a:t>They help in semantic interpretation, identifying syntactic roles (subject, object), and guiding downstream NLP tasks.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/>
              <a:t>Treebanks in NLP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algn="just"/>
            <a:r>
              <a:rPr lang="en-IN" dirty="0"/>
              <a:t>A </a:t>
            </a:r>
            <a:r>
              <a:rPr lang="en-IN" b="1" dirty="0" err="1"/>
              <a:t>treebank</a:t>
            </a:r>
            <a:r>
              <a:rPr lang="en-IN" dirty="0"/>
              <a:t> is a large, annotated corpus of text where each sentence is paired with its </a:t>
            </a:r>
            <a:r>
              <a:rPr lang="en-IN" b="1" dirty="0"/>
              <a:t>syntactic analysis</a:t>
            </a:r>
            <a:r>
              <a:rPr lang="en-IN" dirty="0"/>
              <a:t>, typically in the form of a parse tree.</a:t>
            </a:r>
          </a:p>
          <a:p>
            <a:pPr algn="just"/>
            <a:r>
              <a:rPr lang="en-IN" dirty="0"/>
              <a:t>Think of it as a collection of sentences that have already been parsed by human linguists, providing a "gold standard" for what a correct parse should look like.</a:t>
            </a:r>
          </a:p>
          <a:p>
            <a:pPr algn="just"/>
            <a:r>
              <a:t>Most common format: constituency-based parse trees (e.g., Penn Treebank).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/>
              <a:t>Treebank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Sentence: 'The cat sleeps'</a:t>
            </a:r>
          </a:p>
          <a:p>
            <a:r>
              <a:t>Annotated tree: [S [NP [Det The] [N cat]] [VP [V sleeps]]]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6038"/>
            <a:ext cx="7547548" cy="943313"/>
          </a:xfrm>
        </p:spPr>
        <p:txBody>
          <a:bodyPr>
            <a:normAutofit fontScale="90000"/>
          </a:bodyPr>
          <a:lstStyle/>
          <a:p>
            <a:r>
              <a:rPr b="1"/>
              <a:t>Parse Tree Example from Treebank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6389" y="1563786"/>
            <a:ext cx="914400" cy="4572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0" y="2413410"/>
            <a:ext cx="914400" cy="4572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NP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0" y="2413410"/>
            <a:ext cx="914400" cy="4572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VP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0" y="3327810"/>
            <a:ext cx="914400" cy="4572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Det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0" y="3327810"/>
            <a:ext cx="914400" cy="4572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N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3327810"/>
            <a:ext cx="914400" cy="4572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V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0" y="4242210"/>
            <a:ext cx="914400" cy="4572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The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0" y="4242210"/>
            <a:ext cx="914400" cy="4572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cat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0" y="4242210"/>
            <a:ext cx="914400" cy="4572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sleeps</a:t>
            </a:r>
          </a:p>
        </p:txBody>
      </p:sp>
      <p:cxnSp>
        <p:nvCxnSpPr>
          <p:cNvPr id="13" name="Straight Arrow Connector 12"/>
          <p:cNvCxnSpPr>
            <a:stCxn id="3" idx="2"/>
          </p:cNvCxnSpPr>
          <p:nvPr/>
        </p:nvCxnSpPr>
        <p:spPr>
          <a:xfrm rot="16200000" flipH="1">
            <a:off x="5061985" y="1532589"/>
            <a:ext cx="392425" cy="136921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stCxn id="3" idx="2"/>
            <a:endCxn id="4" idx="0"/>
          </p:cNvCxnSpPr>
          <p:nvPr/>
        </p:nvCxnSpPr>
        <p:spPr>
          <a:xfrm rot="5400000">
            <a:off x="3690783" y="1530604"/>
            <a:ext cx="392424" cy="1373189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stCxn id="4" idx="2"/>
          </p:cNvCxnSpPr>
          <p:nvPr/>
        </p:nvCxnSpPr>
        <p:spPr>
          <a:xfrm rot="16200000" flipH="1">
            <a:off x="3417757" y="2653252"/>
            <a:ext cx="457200" cy="89191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stCxn id="4" idx="2"/>
            <a:endCxn id="6" idx="0"/>
          </p:cNvCxnSpPr>
          <p:nvPr/>
        </p:nvCxnSpPr>
        <p:spPr>
          <a:xfrm rot="5400000">
            <a:off x="2514600" y="2642010"/>
            <a:ext cx="457200" cy="9144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>
            <a:stCxn id="5" idx="2"/>
            <a:endCxn id="8" idx="0"/>
          </p:cNvCxnSpPr>
          <p:nvPr/>
        </p:nvCxnSpPr>
        <p:spPr>
          <a:xfrm rot="5400000">
            <a:off x="5715000" y="3099210"/>
            <a:ext cx="457200" cy="15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stCxn id="6" idx="2"/>
            <a:endCxn id="9" idx="0"/>
          </p:cNvCxnSpPr>
          <p:nvPr/>
        </p:nvCxnSpPr>
        <p:spPr>
          <a:xfrm rot="5400000">
            <a:off x="2057400" y="4013610"/>
            <a:ext cx="457200" cy="15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 rot="5400000">
            <a:off x="3886994" y="4012816"/>
            <a:ext cx="457200" cy="15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 rot="5400000">
            <a:off x="5716588" y="4013610"/>
            <a:ext cx="457200" cy="15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64695"/>
            <a:ext cx="8229600" cy="939565"/>
          </a:xfrm>
        </p:spPr>
        <p:txBody>
          <a:bodyPr/>
          <a:lstStyle/>
          <a:p>
            <a:r>
              <a:rPr b="1"/>
              <a:t>Introduction to Normal Forms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93888"/>
            <a:ext cx="8229600" cy="4432275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IN" dirty="0"/>
              <a:t>In </a:t>
            </a:r>
            <a:r>
              <a:rPr lang="en-IN" b="1" dirty="0"/>
              <a:t>Context-Free Grammar (CFG)</a:t>
            </a:r>
            <a:r>
              <a:rPr lang="en-IN" dirty="0"/>
              <a:t>, the production rules can be written in different ways. Sometimes, they may be complicated and not suitable for parsing algorithms (like CYK parsing).</a:t>
            </a:r>
          </a:p>
          <a:p>
            <a:pPr algn="just"/>
            <a:r>
              <a:rPr lang="en-IN" dirty="0"/>
              <a:t>To simplify, grammars can be converted into </a:t>
            </a:r>
            <a:r>
              <a:rPr lang="en-IN" b="1" dirty="0"/>
              <a:t>normal forms</a:t>
            </a:r>
            <a:r>
              <a:rPr lang="en-IN" dirty="0"/>
              <a:t>, where production rules follow strict structural patterns.</a:t>
            </a:r>
          </a:p>
          <a:p>
            <a:pPr algn="just"/>
            <a:r>
              <a:rPr lang="en-IN" dirty="0"/>
              <a:t>The two most common normal forms are </a:t>
            </a:r>
            <a:r>
              <a:rPr lang="en-IN" b="1" dirty="0"/>
              <a:t>Chomsky Normal Form (CNF)</a:t>
            </a:r>
            <a:r>
              <a:rPr lang="en-IN" dirty="0"/>
              <a:t> and </a:t>
            </a:r>
            <a:r>
              <a:rPr lang="en-IN" b="1" dirty="0"/>
              <a:t>Greibach Normal Form (GNF)</a:t>
            </a:r>
            <a:r>
              <a:rPr lang="en-IN" dirty="0"/>
              <a:t>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/>
              <a:t>Why Use Normal Forms?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 simplify parsing and transformation.</a:t>
            </a:r>
          </a:p>
          <a:p>
            <a:r>
              <a:t>Enable use of standard parsing techniques.</a:t>
            </a:r>
          </a:p>
          <a:p>
            <a:r>
              <a:t>Ensure consistency and clarity in grammar.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b="1"/>
              <a:t>Chomsky Normal Form (CNF)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45570"/>
          </a:xfrm>
        </p:spPr>
        <p:txBody>
          <a:bodyPr>
            <a:normAutofit/>
          </a:bodyPr>
          <a:lstStyle/>
          <a:p>
            <a:pPr algn="just">
              <a:buNone/>
            </a:pPr>
            <a:r>
              <a:rPr lang="en-IN" dirty="0"/>
              <a:t>A CFG is said to be in </a:t>
            </a:r>
            <a:r>
              <a:rPr lang="en-IN" b="1" dirty="0"/>
              <a:t>Chomsky Normal Form</a:t>
            </a:r>
            <a:r>
              <a:rPr lang="en-IN" dirty="0"/>
              <a:t> if every production rule is of one of the following forms:</a:t>
            </a:r>
          </a:p>
          <a:p>
            <a:pPr marL="514350" indent="-514350">
              <a:buFont typeface="+mj-lt"/>
              <a:buAutoNum type="arabicPeriod"/>
            </a:pPr>
            <a:r>
              <a:rPr lang="en-IN" b="1" dirty="0"/>
              <a:t>Binary form</a:t>
            </a:r>
            <a:r>
              <a:rPr lang="en-IN" dirty="0"/>
              <a:t>:</a:t>
            </a:r>
          </a:p>
          <a:p>
            <a:pPr>
              <a:buNone/>
            </a:pPr>
            <a:r>
              <a:rPr lang="en-IN" dirty="0"/>
              <a:t>			A→BC</a:t>
            </a:r>
          </a:p>
          <a:p>
            <a:pPr>
              <a:buNone/>
            </a:pPr>
            <a:r>
              <a:rPr lang="en-IN" dirty="0"/>
              <a:t>			Where A,B,C are non-terminal symbols.</a:t>
            </a:r>
          </a:p>
          <a:p>
            <a:pPr>
              <a:buNone/>
            </a:pPr>
            <a:r>
              <a:rPr lang="en-IN" dirty="0"/>
              <a:t>			B and C cannot be the start symbol.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9843" y="284814"/>
            <a:ext cx="8649324" cy="6295868"/>
          </a:xfrm>
        </p:spPr>
        <p:txBody>
          <a:bodyPr>
            <a:normAutofit/>
          </a:bodyPr>
          <a:lstStyle/>
          <a:p>
            <a:pPr marL="514350" indent="-514350">
              <a:buNone/>
            </a:pPr>
            <a:r>
              <a:rPr lang="en-IN" sz="2800" b="1" dirty="0">
                <a:latin typeface="Times New Roman" pitchFamily="18" charset="0"/>
                <a:cs typeface="Times New Roman" pitchFamily="18" charset="0"/>
              </a:rPr>
              <a:t>2. Terminal form</a:t>
            </a:r>
            <a:r>
              <a:rPr lang="en-IN" sz="2800" dirty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lvl="1">
              <a:buNone/>
            </a:pPr>
            <a:r>
              <a:rPr lang="en-IN" dirty="0">
                <a:latin typeface="Times New Roman" pitchFamily="18" charset="0"/>
                <a:cs typeface="Times New Roman" pitchFamily="18" charset="0"/>
              </a:rPr>
              <a:t>				A→ a</a:t>
            </a:r>
          </a:p>
          <a:p>
            <a:pPr lvl="1">
              <a:buNone/>
            </a:pPr>
            <a:r>
              <a:rPr lang="en-IN" dirty="0">
                <a:latin typeface="Times New Roman" pitchFamily="18" charset="0"/>
                <a:cs typeface="Times New Roman" pitchFamily="18" charset="0"/>
              </a:rPr>
              <a:t>Where A is a non-terminal and a is a terminal symbol.</a:t>
            </a:r>
          </a:p>
          <a:p>
            <a:pPr lvl="1" indent="-742950">
              <a:buNone/>
            </a:pPr>
            <a:r>
              <a:rPr lang="en-IN" b="1" dirty="0">
                <a:latin typeface="Times New Roman" pitchFamily="18" charset="0"/>
                <a:cs typeface="Times New Roman" pitchFamily="18" charset="0"/>
              </a:rPr>
              <a:t>3. Special case (optional)</a:t>
            </a:r>
          </a:p>
          <a:p>
            <a:pPr lvl="1"/>
            <a:r>
              <a:rPr lang="en-IN" dirty="0">
                <a:latin typeface="Times New Roman" pitchFamily="18" charset="0"/>
                <a:cs typeface="Times New Roman" pitchFamily="18" charset="0"/>
              </a:rPr>
              <a:t>S→ϵ, only if the grammar generates the empty string.</a:t>
            </a:r>
          </a:p>
          <a:p>
            <a:pPr lvl="1"/>
            <a:r>
              <a:rPr lang="en-IN" dirty="0">
                <a:latin typeface="Times New Roman" pitchFamily="18" charset="0"/>
                <a:cs typeface="Times New Roman" pitchFamily="18" charset="0"/>
              </a:rPr>
              <a:t>This is allowed only if S is the start symbol.</a:t>
            </a:r>
          </a:p>
          <a:p>
            <a:pPr lvl="1">
              <a:buNone/>
            </a:pPr>
            <a:endParaRPr lang="en-IN" dirty="0">
              <a:latin typeface="Times New Roman" pitchFamily="18" charset="0"/>
              <a:cs typeface="Times New Roman" pitchFamily="18" charset="0"/>
            </a:endParaRPr>
          </a:p>
          <a:p>
            <a:pPr lvl="1" indent="-742950">
              <a:buNone/>
            </a:pPr>
            <a:r>
              <a:rPr lang="en-IN" b="1" dirty="0">
                <a:latin typeface="Times New Roman" pitchFamily="18" charset="0"/>
                <a:cs typeface="Times New Roman" pitchFamily="18" charset="0"/>
              </a:rPr>
              <a:t>Note: 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No rule in CNF can have:</a:t>
            </a:r>
          </a:p>
          <a:p>
            <a:r>
              <a:rPr lang="en-IN" sz="2800" dirty="0">
                <a:latin typeface="Times New Roman" pitchFamily="18" charset="0"/>
                <a:cs typeface="Times New Roman" pitchFamily="18" charset="0"/>
              </a:rPr>
              <a:t>More than two non-terminals on the right-hand side.</a:t>
            </a:r>
          </a:p>
          <a:p>
            <a:r>
              <a:rPr lang="en-IN" sz="2800" dirty="0">
                <a:latin typeface="Times New Roman" pitchFamily="18" charset="0"/>
                <a:cs typeface="Times New Roman" pitchFamily="18" charset="0"/>
              </a:rPr>
              <a:t>A mix of terminals and non-terminals together.</a:t>
            </a:r>
          </a:p>
          <a:p>
            <a:r>
              <a:rPr lang="en-IN" sz="2800" dirty="0">
                <a:latin typeface="Times New Roman" pitchFamily="18" charset="0"/>
                <a:cs typeface="Times New Roman" pitchFamily="18" charset="0"/>
              </a:rPr>
              <a:t>Empty productions (except start symbol).</a:t>
            </a:r>
          </a:p>
          <a:p>
            <a:r>
              <a:rPr lang="en-IN" sz="2800" dirty="0">
                <a:latin typeface="Times New Roman" pitchFamily="18" charset="0"/>
                <a:cs typeface="Times New Roman" pitchFamily="18" charset="0"/>
              </a:rPr>
              <a:t>Unit productions (like A→B)</a:t>
            </a:r>
          </a:p>
          <a:p>
            <a:pPr lvl="1" indent="-742950">
              <a:buNone/>
            </a:pPr>
            <a:endParaRPr lang="en-IN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Steps to Convert CFG to CN</a:t>
            </a:r>
            <a:endParaRPr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995472"/>
          </a:xfrm>
        </p:spPr>
        <p:txBody>
          <a:bodyPr>
            <a:normAutofit fontScale="77500" lnSpcReduction="20000"/>
          </a:bodyPr>
          <a:lstStyle/>
          <a:p>
            <a:pPr algn="just">
              <a:buNone/>
            </a:pPr>
            <a:r>
              <a:rPr lang="en-IN" b="1" dirty="0"/>
              <a:t>Step 1: Remove null (ε) productions</a:t>
            </a:r>
          </a:p>
          <a:p>
            <a:pPr algn="just">
              <a:buNone/>
            </a:pPr>
            <a:r>
              <a:rPr lang="en-IN" dirty="0"/>
              <a:t>If you have rules like A→ϵ remove them (unless A is start symbol).</a:t>
            </a:r>
          </a:p>
          <a:p>
            <a:pPr algn="just">
              <a:buNone/>
            </a:pPr>
            <a:r>
              <a:rPr lang="en-IN" b="1" dirty="0"/>
              <a:t>Step 2: Remove unit productions</a:t>
            </a:r>
          </a:p>
          <a:p>
            <a:pPr algn="just">
              <a:buNone/>
            </a:pPr>
            <a:r>
              <a:rPr lang="en-IN" dirty="0"/>
              <a:t>Rules like A→B Replace them with </a:t>
            </a:r>
            <a:r>
              <a:rPr lang="en-IN" dirty="0" err="1"/>
              <a:t>A→α</a:t>
            </a:r>
            <a:r>
              <a:rPr lang="en-IN" dirty="0"/>
              <a:t> where </a:t>
            </a:r>
            <a:r>
              <a:rPr lang="en-IN" dirty="0" err="1"/>
              <a:t>B→α</a:t>
            </a:r>
            <a:endParaRPr lang="en-IN" dirty="0"/>
          </a:p>
          <a:p>
            <a:pPr algn="just">
              <a:buNone/>
            </a:pPr>
            <a:r>
              <a:rPr lang="en-IN" b="1" dirty="0"/>
              <a:t>Step 3: Remove useless symbols</a:t>
            </a:r>
          </a:p>
          <a:p>
            <a:pPr algn="just">
              <a:buNone/>
            </a:pPr>
            <a:r>
              <a:rPr lang="en-IN" dirty="0"/>
              <a:t>Non-terminals that do not derive terminals or cannot be reached from the start symbol.</a:t>
            </a:r>
          </a:p>
          <a:p>
            <a:pPr algn="just">
              <a:buNone/>
            </a:pPr>
            <a:r>
              <a:rPr lang="en-IN" b="1" dirty="0"/>
              <a:t>Step 4: Convert remaining productions</a:t>
            </a:r>
          </a:p>
          <a:p>
            <a:pPr algn="just">
              <a:buNone/>
            </a:pPr>
            <a:r>
              <a:rPr lang="en-IN" dirty="0"/>
              <a:t>If a production has more than 2 symbols on RHS, break them into binary rules.</a:t>
            </a:r>
          </a:p>
          <a:p>
            <a:pPr algn="just">
              <a:buNone/>
            </a:pPr>
            <a:r>
              <a:rPr lang="en-IN" dirty="0"/>
              <a:t>If a production mixes terminals and non-terminals, introduce new variables for terminals.</a:t>
            </a:r>
          </a:p>
          <a:p>
            <a:pPr>
              <a:buNone/>
            </a:pPr>
            <a:endParaRPr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Example: CNF Conversion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t>Original: S → ASA | aB, </a:t>
            </a:r>
            <a:endParaRPr lang="en-IN" dirty="0"/>
          </a:p>
          <a:p>
            <a:pPr>
              <a:buNone/>
            </a:pPr>
            <a:r>
              <a:rPr lang="en-IN" dirty="0"/>
              <a:t>					</a:t>
            </a:r>
            <a:r>
              <a:t>A → B | S, </a:t>
            </a:r>
            <a:endParaRPr lang="en-IN" dirty="0"/>
          </a:p>
          <a:p>
            <a:pPr>
              <a:buNone/>
            </a:pPr>
            <a:r>
              <a:rPr lang="en-IN" dirty="0"/>
              <a:t>					</a:t>
            </a:r>
            <a:r>
              <a:t>B → b</a:t>
            </a:r>
          </a:p>
          <a:p>
            <a:r>
              <a:t>Step-by-step transformation:</a:t>
            </a:r>
          </a:p>
          <a:p>
            <a:r>
              <a:t>Remove unit productions and simplify.</a:t>
            </a:r>
          </a:p>
          <a:p>
            <a:r>
              <a:t>Final CNF: S → AX | aB, </a:t>
            </a:r>
            <a:endParaRPr lang="en-IN" dirty="0"/>
          </a:p>
          <a:p>
            <a:pPr>
              <a:buNone/>
            </a:pPr>
            <a:r>
              <a:rPr lang="en-IN" dirty="0"/>
              <a:t>					  </a:t>
            </a:r>
            <a:r>
              <a:t>X → SA, </a:t>
            </a:r>
            <a:endParaRPr lang="en-IN" dirty="0"/>
          </a:p>
          <a:p>
            <a:pPr>
              <a:buNone/>
            </a:pPr>
            <a:r>
              <a:rPr lang="en-IN" dirty="0"/>
              <a:t>					  </a:t>
            </a:r>
            <a:r>
              <a:t>A → b | aB, </a:t>
            </a:r>
            <a:endParaRPr lang="en-IN" dirty="0"/>
          </a:p>
          <a:p>
            <a:pPr>
              <a:buNone/>
            </a:pPr>
            <a:r>
              <a:rPr lang="en-IN" dirty="0"/>
              <a:t>					  </a:t>
            </a:r>
            <a:r>
              <a:t>B → b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What is Dependency Grammar?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5257800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IN" dirty="0"/>
              <a:t>A grammar based on binary </a:t>
            </a:r>
            <a:r>
              <a:rPr lang="en-IN" b="1" dirty="0"/>
              <a:t>head–dependent</a:t>
            </a:r>
            <a:r>
              <a:rPr lang="en-IN" dirty="0"/>
              <a:t> relationships.</a:t>
            </a:r>
          </a:p>
          <a:p>
            <a:pPr algn="just"/>
            <a:r>
              <a:rPr lang="en-IN" dirty="0"/>
              <a:t>Each word (except the root) depends on another word.</a:t>
            </a:r>
          </a:p>
          <a:p>
            <a:pPr algn="just"/>
            <a:r>
              <a:rPr lang="en-IN" dirty="0"/>
              <a:t>Represents structure using directed links (arcs).</a:t>
            </a:r>
          </a:p>
          <a:p>
            <a:pPr algn="just"/>
            <a:r>
              <a:rPr lang="en-IN" dirty="0"/>
              <a:t>Words are connected by dependency arcs.</a:t>
            </a:r>
          </a:p>
          <a:p>
            <a:pPr algn="just">
              <a:buNone/>
            </a:pPr>
            <a:r>
              <a:rPr lang="en-IN" b="1" dirty="0"/>
              <a:t>Example</a:t>
            </a:r>
            <a:r>
              <a:rPr lang="en-IN" dirty="0"/>
              <a:t>:</a:t>
            </a:r>
          </a:p>
          <a:p>
            <a:pPr algn="just"/>
            <a:r>
              <a:rPr lang="en-IN" dirty="0"/>
              <a:t>Sentence: "She eats apples"</a:t>
            </a:r>
          </a:p>
          <a:p>
            <a:pPr algn="just"/>
            <a:r>
              <a:rPr lang="en-IN" dirty="0"/>
              <a:t>Head: "eats"</a:t>
            </a:r>
          </a:p>
          <a:p>
            <a:pPr algn="just"/>
            <a:r>
              <a:rPr lang="en-IN" dirty="0"/>
              <a:t>Dependents: "she" (subject), "apples" (object)</a:t>
            </a:r>
          </a:p>
          <a:p>
            <a:pPr algn="just"/>
            <a:endParaRPr lang="en-IN" dirty="0"/>
          </a:p>
          <a:p>
            <a:endParaRPr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000500"/>
            <a:ext cx="8229600" cy="511539"/>
          </a:xfrm>
        </p:spPr>
        <p:txBody>
          <a:bodyPr>
            <a:noAutofit/>
          </a:bodyPr>
          <a:lstStyle/>
          <a:p>
            <a:pPr algn="just"/>
            <a:r>
              <a:rPr lang="en-IN" sz="2000" dirty="0"/>
              <a:t>Fig. shows a sample dependency grammar parse, using the dependency formalism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99444" y="494675"/>
            <a:ext cx="8944556" cy="31021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4854" y="61265"/>
            <a:ext cx="5090096" cy="51570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Rectangle 4"/>
          <p:cNvSpPr/>
          <p:nvPr/>
        </p:nvSpPr>
        <p:spPr>
          <a:xfrm>
            <a:off x="224854" y="5218331"/>
            <a:ext cx="4572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IN" dirty="0"/>
              <a:t>A phrase structure tree from the Wall Street Journal component of the Penn Treebank</a:t>
            </a: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314950" y="3386311"/>
            <a:ext cx="3829050" cy="28616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Rectangle 6"/>
          <p:cNvSpPr/>
          <p:nvPr/>
        </p:nvSpPr>
        <p:spPr>
          <a:xfrm>
            <a:off x="5718749" y="6247967"/>
            <a:ext cx="31338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/>
              <a:t>The dependency tree produced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Benefits of Dependency Grammar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9381" y="1521542"/>
            <a:ext cx="8229600" cy="4525963"/>
          </a:xfrm>
        </p:spPr>
        <p:txBody>
          <a:bodyPr/>
          <a:lstStyle/>
          <a:p>
            <a:pPr algn="just"/>
            <a:r>
              <a:rPr lang="en-IN" dirty="0"/>
              <a:t>Close mapping to </a:t>
            </a:r>
            <a:r>
              <a:rPr lang="en-IN" b="1" dirty="0"/>
              <a:t>semantic roles</a:t>
            </a:r>
            <a:r>
              <a:rPr lang="en-IN" dirty="0"/>
              <a:t> (who did what to whom).</a:t>
            </a:r>
          </a:p>
          <a:p>
            <a:pPr algn="just"/>
            <a:r>
              <a:rPr lang="en-IN" dirty="0"/>
              <a:t>Effective for </a:t>
            </a:r>
            <a:r>
              <a:rPr lang="en-IN" b="1" dirty="0"/>
              <a:t>free word order</a:t>
            </a:r>
            <a:r>
              <a:rPr lang="en-IN" dirty="0"/>
              <a:t> languages like Hindi, Russian.</a:t>
            </a:r>
          </a:p>
          <a:p>
            <a:pPr algn="just"/>
            <a:r>
              <a:rPr lang="en-IN" dirty="0"/>
              <a:t>More compact and simpler than phrase structure trees.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9370" y="274638"/>
            <a:ext cx="7435122" cy="1143000"/>
          </a:xfrm>
        </p:spPr>
        <p:txBody>
          <a:bodyPr>
            <a:normAutofit fontScale="90000"/>
          </a:bodyPr>
          <a:lstStyle/>
          <a:p>
            <a:r>
              <a:rPr lang="en-IN" dirty="0"/>
              <a:t>What is Syntactic Parsing in NLP?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IN" b="1" dirty="0"/>
              <a:t>Syntactic parsing</a:t>
            </a:r>
            <a:r>
              <a:rPr lang="en-IN" dirty="0"/>
              <a:t> is the process of assigning a structural description (a parse tree) to a sentence according to a grammar.</a:t>
            </a:r>
            <a:endParaRPr lang="en-IN" b="1" dirty="0"/>
          </a:p>
          <a:p>
            <a:pPr algn="just"/>
            <a:r>
              <a:rPr lang="en-IN" b="1" dirty="0"/>
              <a:t>Parsing</a:t>
            </a:r>
            <a:r>
              <a:rPr lang="en-IN" dirty="0"/>
              <a:t> in Natural Language Processing (NLP) is the process of analyzing the </a:t>
            </a:r>
            <a:r>
              <a:rPr lang="en-IN" b="1" dirty="0"/>
              <a:t>grammatical structure</a:t>
            </a:r>
            <a:r>
              <a:rPr lang="en-IN" dirty="0"/>
              <a:t> of a sentence. </a:t>
            </a:r>
          </a:p>
          <a:p>
            <a:pPr algn="just"/>
            <a:r>
              <a:rPr lang="en-IN" dirty="0"/>
              <a:t>It identifies the syntactic roles of words and how they relate to each other to form valid structures according to a grammar.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Types of Parsing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708525"/>
          </a:xfrm>
        </p:spPr>
        <p:txBody>
          <a:bodyPr>
            <a:normAutofit fontScale="92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IN" dirty="0"/>
              <a:t>Constituency Parsing (Phrase Structure Parsing) </a:t>
            </a:r>
          </a:p>
          <a:p>
            <a:pPr marL="914400" lvl="1" indent="-514350"/>
            <a:r>
              <a:rPr lang="en-IN" dirty="0"/>
              <a:t>Breaks a sentence into sub-phrases (constituents)</a:t>
            </a:r>
          </a:p>
          <a:p>
            <a:pPr marL="914400" lvl="1" indent="-514350"/>
            <a:r>
              <a:rPr lang="en-IN" dirty="0"/>
              <a:t>Based on </a:t>
            </a:r>
            <a:r>
              <a:rPr lang="en-IN" b="1" dirty="0"/>
              <a:t>Context-Free Grammars (CFGs)</a:t>
            </a:r>
          </a:p>
          <a:p>
            <a:pPr marL="914400" lvl="1" indent="-514350"/>
            <a:r>
              <a:rPr lang="en-IN" b="1" dirty="0"/>
              <a:t>Example:  </a:t>
            </a:r>
            <a:r>
              <a:rPr lang="en-IN" dirty="0"/>
              <a:t>Sentence: </a:t>
            </a:r>
            <a:r>
              <a:rPr lang="en-IN" i="1" dirty="0"/>
              <a:t>"The dog barked“</a:t>
            </a:r>
          </a:p>
          <a:p>
            <a:pPr marL="3143250" lvl="6" indent="-514350">
              <a:buNone/>
            </a:pPr>
            <a:r>
              <a:rPr lang="en-IN" sz="2800" i="1" dirty="0"/>
              <a:t>Parse Tree</a:t>
            </a:r>
          </a:p>
          <a:p>
            <a:pPr marL="914400" lvl="1" indent="-514350" algn="ctr">
              <a:buNone/>
            </a:pPr>
            <a:r>
              <a:rPr lang="en-IN" dirty="0"/>
              <a:t>	S (Sentence)</a:t>
            </a:r>
            <a:br>
              <a:rPr lang="en-IN" dirty="0"/>
            </a:br>
            <a:r>
              <a:rPr lang="en-IN" dirty="0"/>
              <a:t>/     \</a:t>
            </a:r>
            <a:br>
              <a:rPr lang="en-IN" dirty="0"/>
            </a:br>
            <a:r>
              <a:rPr lang="en-IN" dirty="0"/>
              <a:t>NP     VP</a:t>
            </a:r>
            <a:br>
              <a:rPr lang="en-IN" dirty="0"/>
            </a:br>
            <a:r>
              <a:rPr lang="en-IN" dirty="0"/>
              <a:t>/ \       \</a:t>
            </a:r>
          </a:p>
          <a:p>
            <a:pPr marL="914400" lvl="1" indent="-514350" algn="ctr">
              <a:buNone/>
            </a:pPr>
            <a:r>
              <a:rPr lang="en-IN" dirty="0"/>
              <a:t>     Det N     V</a:t>
            </a:r>
            <a:br>
              <a:rPr lang="en-IN" dirty="0"/>
            </a:br>
            <a:r>
              <a:rPr lang="en-IN" dirty="0"/>
              <a:t>|     |     |</a:t>
            </a:r>
            <a:br>
              <a:rPr lang="en-IN" dirty="0"/>
            </a:br>
            <a:r>
              <a:rPr lang="en-IN" dirty="0"/>
              <a:t>	The dog  barked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89744"/>
            <a:ext cx="8229600" cy="5736419"/>
          </a:xfrm>
        </p:spPr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en-IN" dirty="0"/>
              <a:t>Dependency Parsing</a:t>
            </a:r>
          </a:p>
          <a:p>
            <a:pPr lvl="1"/>
            <a:r>
              <a:rPr lang="en-IN" dirty="0"/>
              <a:t>Focuses on </a:t>
            </a:r>
            <a:r>
              <a:rPr lang="en-IN" b="1" dirty="0"/>
              <a:t>head-dependent</a:t>
            </a:r>
            <a:r>
              <a:rPr lang="en-IN" dirty="0"/>
              <a:t> relations between words</a:t>
            </a:r>
          </a:p>
          <a:p>
            <a:pPr lvl="1"/>
            <a:r>
              <a:rPr lang="en-IN" dirty="0"/>
              <a:t>Each word (except the root) depends on another</a:t>
            </a:r>
          </a:p>
          <a:p>
            <a:pPr>
              <a:buNone/>
            </a:pPr>
            <a:r>
              <a:rPr lang="en-IN" dirty="0"/>
              <a:t>		Example:</a:t>
            </a:r>
          </a:p>
          <a:p>
            <a:pPr lvl="1"/>
            <a:r>
              <a:rPr lang="en-IN" dirty="0"/>
              <a:t>"barked" is the main verb (head)</a:t>
            </a:r>
          </a:p>
          <a:p>
            <a:pPr lvl="1"/>
            <a:r>
              <a:rPr lang="en-IN" dirty="0"/>
              <a:t>"dog" is the subject (depends on "barked")</a:t>
            </a:r>
          </a:p>
          <a:p>
            <a:pPr marL="514350" indent="-514350">
              <a:buNone/>
            </a:pPr>
            <a:endParaRPr lang="en-IN" dirty="0"/>
          </a:p>
          <a:p>
            <a:pPr marL="514350" indent="-514350">
              <a:buFont typeface="+mj-lt"/>
              <a:buAutoNum type="arabicPeriod" startAt="2"/>
            </a:pPr>
            <a:endParaRPr lang="en-IN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587" y="274638"/>
            <a:ext cx="7570033" cy="1119447"/>
          </a:xfrm>
        </p:spPr>
        <p:txBody>
          <a:bodyPr>
            <a:normAutofit/>
          </a:bodyPr>
          <a:lstStyle/>
          <a:p>
            <a:r>
              <a:rPr lang="en-IN" dirty="0"/>
              <a:t>Types of ambiguity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9862" y="1600200"/>
            <a:ext cx="8476938" cy="4525963"/>
          </a:xfrm>
        </p:spPr>
        <p:txBody>
          <a:bodyPr>
            <a:normAutofit fontScale="77500" lnSpcReduction="20000"/>
          </a:bodyPr>
          <a:lstStyle/>
          <a:p>
            <a:pPr marL="514350" indent="-514350" algn="just">
              <a:buAutoNum type="alphaLcPeriod"/>
            </a:pPr>
            <a:r>
              <a:rPr lang="en-IN" b="1" dirty="0"/>
              <a:t>Lexical ambiguity (word sense / POS):</a:t>
            </a:r>
            <a:r>
              <a:rPr lang="en-IN" dirty="0"/>
              <a:t> a word has multiple possible senses or POS tags.</a:t>
            </a:r>
            <a:br>
              <a:rPr lang="en-IN" dirty="0"/>
            </a:br>
            <a:r>
              <a:rPr lang="en-IN" dirty="0"/>
              <a:t>Example: </a:t>
            </a:r>
            <a:r>
              <a:rPr lang="en-IN" i="1" dirty="0"/>
              <a:t>“bank”</a:t>
            </a:r>
            <a:r>
              <a:rPr lang="en-IN" dirty="0"/>
              <a:t> → financial institution </a:t>
            </a:r>
            <a:r>
              <a:rPr lang="en-IN" dirty="0" err="1"/>
              <a:t>vs</a:t>
            </a:r>
            <a:r>
              <a:rPr lang="en-IN" dirty="0"/>
              <a:t> river bank. Or </a:t>
            </a:r>
            <a:r>
              <a:rPr lang="en-IN" i="1" dirty="0"/>
              <a:t>“duck”</a:t>
            </a:r>
            <a:r>
              <a:rPr lang="en-IN" dirty="0"/>
              <a:t> → noun (bird) </a:t>
            </a:r>
            <a:r>
              <a:rPr lang="en-IN" dirty="0" err="1"/>
              <a:t>vs</a:t>
            </a:r>
            <a:r>
              <a:rPr lang="en-IN" dirty="0"/>
              <a:t> verb (lower head).</a:t>
            </a:r>
          </a:p>
          <a:p>
            <a:pPr marL="514350" indent="-514350" algn="just">
              <a:buAutoNum type="alphaLcPeriod"/>
            </a:pPr>
            <a:r>
              <a:rPr lang="en-IN" b="1" dirty="0"/>
              <a:t>Syntactic (structural) ambiguity</a:t>
            </a:r>
            <a:r>
              <a:rPr lang="en-IN" dirty="0"/>
              <a:t> — same sequence of words, multiple valid tree</a:t>
            </a:r>
          </a:p>
          <a:p>
            <a:pPr>
              <a:buNone/>
            </a:pPr>
            <a:r>
              <a:rPr lang="en-IN" b="1" dirty="0"/>
              <a:t>		Prepositional-phrase (PP) attachment / modifier attachment:</a:t>
            </a:r>
            <a:r>
              <a:rPr lang="en-IN" dirty="0"/>
              <a:t/>
            </a:r>
            <a:br>
              <a:rPr lang="en-IN" dirty="0"/>
            </a:br>
            <a:r>
              <a:rPr lang="en-IN" dirty="0"/>
              <a:t>	</a:t>
            </a:r>
            <a:r>
              <a:rPr lang="en-IN" i="1" dirty="0"/>
              <a:t>“I saw the man with a telescope.”</a:t>
            </a:r>
            <a:r>
              <a:rPr lang="en-IN" dirty="0"/>
              <a:t/>
            </a:r>
            <a:br>
              <a:rPr lang="en-IN" dirty="0"/>
            </a:br>
            <a:r>
              <a:rPr lang="en-IN" dirty="0"/>
              <a:t>	Two readings:</a:t>
            </a:r>
          </a:p>
          <a:p>
            <a:pPr lvl="1"/>
            <a:r>
              <a:rPr lang="en-IN" dirty="0"/>
              <a:t>I [saw [the man with a telescope]] — the man has the telescope.</a:t>
            </a:r>
          </a:p>
          <a:p>
            <a:pPr lvl="1"/>
            <a:r>
              <a:rPr lang="en-IN" dirty="0"/>
              <a:t>[I with a telescope] saw the man (or better: I used a telescope to see the man) — the instrument attaches to the verb saw</a:t>
            </a:r>
          </a:p>
          <a:p>
            <a:pPr marL="514350" indent="-514350" algn="just">
              <a:buAutoNum type="alphaLcPeriod"/>
            </a:pPr>
            <a:endParaRPr lang="en-IN" dirty="0"/>
          </a:p>
          <a:p>
            <a:pPr marL="514350" indent="-514350" algn="just">
              <a:buAutoNum type="alphaLcPeriod"/>
            </a:pPr>
            <a:endParaRPr lang="en-IN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99608"/>
            <a:ext cx="8229600" cy="5526556"/>
          </a:xfrm>
        </p:spPr>
        <p:txBody>
          <a:bodyPr>
            <a:normAutofit fontScale="85000" lnSpcReduction="10000"/>
          </a:bodyPr>
          <a:lstStyle/>
          <a:p>
            <a:pPr marL="514350" indent="-514350">
              <a:buAutoNum type="alphaLcPeriod" startAt="3"/>
            </a:pPr>
            <a:r>
              <a:rPr lang="en-IN" dirty="0"/>
              <a:t>Coordination ambiguity</a:t>
            </a:r>
          </a:p>
          <a:p>
            <a:pPr lvl="1">
              <a:buNone/>
            </a:pPr>
            <a:r>
              <a:rPr lang="en-IN" i="1" dirty="0"/>
              <a:t>				“old men and women”</a:t>
            </a:r>
            <a:endParaRPr lang="en-IN" dirty="0"/>
          </a:p>
          <a:p>
            <a:pPr lvl="1"/>
            <a:r>
              <a:rPr lang="en-IN" dirty="0"/>
              <a:t>(old men) and (women) → only men are old.</a:t>
            </a:r>
          </a:p>
          <a:p>
            <a:pPr lvl="1"/>
            <a:r>
              <a:rPr lang="en-IN" dirty="0"/>
              <a:t>old (men and women) → both men and women are old.</a:t>
            </a:r>
          </a:p>
          <a:p>
            <a:pPr marL="514350" indent="-514350">
              <a:buNone/>
            </a:pPr>
            <a:r>
              <a:rPr lang="en-IN" dirty="0"/>
              <a:t>D. Gerund / VP </a:t>
            </a:r>
            <a:r>
              <a:rPr lang="en-IN" dirty="0" err="1"/>
              <a:t>vs</a:t>
            </a:r>
            <a:r>
              <a:rPr lang="en-IN" dirty="0"/>
              <a:t> NP ambiguity:</a:t>
            </a:r>
          </a:p>
          <a:p>
            <a:pPr>
              <a:buNone/>
            </a:pPr>
            <a:r>
              <a:rPr lang="en-IN" i="1" dirty="0"/>
              <a:t>		“Visiting relatives can be annoying.”</a:t>
            </a:r>
            <a:endParaRPr lang="en-IN" dirty="0"/>
          </a:p>
          <a:p>
            <a:pPr lvl="1"/>
            <a:r>
              <a:rPr lang="en-IN" dirty="0"/>
              <a:t>Visiting relatives (the act) is annoying.</a:t>
            </a:r>
          </a:p>
          <a:p>
            <a:pPr lvl="1"/>
            <a:r>
              <a:rPr lang="en-IN" dirty="0"/>
              <a:t>Relatives who are visiting can annoy you.</a:t>
            </a:r>
          </a:p>
          <a:p>
            <a:pPr marL="514350" indent="-514350">
              <a:buNone/>
            </a:pPr>
            <a:r>
              <a:rPr lang="en-IN" dirty="0"/>
              <a:t>E. Quantifier / scope ambiguity (semantic)</a:t>
            </a:r>
          </a:p>
          <a:p>
            <a:pPr>
              <a:buNone/>
            </a:pPr>
            <a:r>
              <a:rPr lang="en-IN" i="1" dirty="0"/>
              <a:t>			“Every student loves a teacher.”</a:t>
            </a:r>
            <a:endParaRPr lang="en-IN" dirty="0"/>
          </a:p>
          <a:p>
            <a:pPr lvl="1"/>
            <a:r>
              <a:rPr lang="en-IN" dirty="0"/>
              <a:t>For every student there exists a (possibly different) teacher they love.</a:t>
            </a:r>
          </a:p>
          <a:p>
            <a:pPr lvl="1"/>
            <a:r>
              <a:rPr lang="en-IN" dirty="0"/>
              <a:t>There exists one teacher loved by every student.</a:t>
            </a:r>
          </a:p>
          <a:p>
            <a:pPr marL="514350" indent="-514350">
              <a:buNone/>
            </a:pPr>
            <a:endParaRPr lang="en-IN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IN" dirty="0"/>
              <a:t>Dynamic Programming Parsing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IN" dirty="0"/>
              <a:t>Avoids redundant computations during parsing.</a:t>
            </a:r>
          </a:p>
          <a:p>
            <a:pPr algn="just"/>
            <a:r>
              <a:rPr lang="en-IN" dirty="0"/>
              <a:t>Uses memoization to store intermediate results.</a:t>
            </a:r>
          </a:p>
          <a:p>
            <a:pPr algn="just"/>
            <a:r>
              <a:rPr lang="en-IN" dirty="0"/>
              <a:t>Examples: CYK Parser, Earley Parser.</a:t>
            </a:r>
          </a:p>
          <a:p>
            <a:pPr algn="just"/>
            <a:r>
              <a:rPr lang="en-IN" dirty="0"/>
              <a:t>Efficient for large-scale grammar parsing.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Times New Roman" pitchFamily="18" charset="0"/>
                <a:cs typeface="Times New Roman" pitchFamily="18" charset="0"/>
              </a:rPr>
              <a:t>CYK Algorithm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/>
            <a:r>
              <a:rPr dirty="0">
                <a:latin typeface="Times New Roman" pitchFamily="18" charset="0"/>
                <a:cs typeface="Times New Roman" pitchFamily="18" charset="0"/>
              </a:rPr>
              <a:t>CYK (Cocke–Younger–</a:t>
            </a:r>
            <a:r>
              <a:rPr dirty="0" err="1">
                <a:latin typeface="Times New Roman" pitchFamily="18" charset="0"/>
                <a:cs typeface="Times New Roman" pitchFamily="18" charset="0"/>
              </a:rPr>
              <a:t>Kasami</a:t>
            </a:r>
            <a:r>
              <a:rPr dirty="0">
                <a:latin typeface="Times New Roman" pitchFamily="18" charset="0"/>
                <a:cs typeface="Times New Roman" pitchFamily="18" charset="0"/>
              </a:rPr>
              <a:t>) is a bottom-up parsing algorithm for CNF grammars.</a:t>
            </a:r>
          </a:p>
          <a:p>
            <a:pPr algn="just"/>
            <a:r>
              <a:rPr dirty="0">
                <a:latin typeface="Times New Roman" pitchFamily="18" charset="0"/>
                <a:cs typeface="Times New Roman" pitchFamily="18" charset="0"/>
              </a:rPr>
              <a:t>It fills a triangular table to build up parses.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IN" dirty="0">
                <a:latin typeface="Times New Roman" pitchFamily="18" charset="0"/>
                <a:cs typeface="Times New Roman" pitchFamily="18" charset="0"/>
              </a:rPr>
              <a:t>Works with CFGs in Chomsky Normal Form (CNF).</a:t>
            </a:r>
          </a:p>
          <a:p>
            <a:pPr algn="just"/>
            <a:r>
              <a:rPr lang="en-IN" dirty="0">
                <a:latin typeface="Times New Roman" pitchFamily="18" charset="0"/>
                <a:cs typeface="Times New Roman" pitchFamily="18" charset="0"/>
              </a:rPr>
              <a:t>Bottom-up parsing using dynamic programming table.</a:t>
            </a:r>
          </a:p>
          <a:p>
            <a:pPr algn="just"/>
            <a:r>
              <a:rPr lang="en-IN" dirty="0">
                <a:latin typeface="Times New Roman" pitchFamily="18" charset="0"/>
                <a:cs typeface="Times New Roman" pitchFamily="18" charset="0"/>
              </a:rPr>
              <a:t>Checks if a string belongs to a language.</a:t>
            </a:r>
          </a:p>
          <a:p>
            <a:pPr algn="just"/>
            <a:r>
              <a:rPr lang="en-IN" dirty="0">
                <a:latin typeface="Times New Roman" pitchFamily="18" charset="0"/>
                <a:cs typeface="Times New Roman" pitchFamily="18" charset="0"/>
              </a:rPr>
              <a:t>Used in compilers and NLP syntactic analysis</a:t>
            </a:r>
            <a:endParaRPr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524656"/>
            <a:ext cx="8229600" cy="1130078"/>
          </a:xfrm>
          <a:prstGeom prst="rect">
            <a:avLst/>
          </a:prstGeom>
        </p:spPr>
        <p:txBody>
          <a:bodyPr vert="horz" wrap="square" lIns="0" tIns="448589" rIns="0" bIns="0" rtlCol="0">
            <a:spAutoFit/>
          </a:bodyPr>
          <a:lstStyle/>
          <a:p>
            <a:pPr marL="3717925" indent="-3717925">
              <a:lnSpc>
                <a:spcPct val="100000"/>
              </a:lnSpc>
              <a:spcBef>
                <a:spcPts val="120"/>
              </a:spcBef>
            </a:pPr>
            <a:r>
              <a:rPr lang="en-IN" spc="-600" dirty="0">
                <a:latin typeface="Times New Roman" pitchFamily="18" charset="0"/>
                <a:cs typeface="Times New Roman" pitchFamily="18" charset="0"/>
              </a:rPr>
              <a:t>CYK</a:t>
            </a:r>
            <a:r>
              <a:rPr lang="en-IN" spc="-660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IN" spc="-570" dirty="0">
                <a:latin typeface="Times New Roman" pitchFamily="18" charset="0"/>
                <a:cs typeface="Times New Roman" pitchFamily="18" charset="0"/>
              </a:rPr>
              <a:t>ALGORITHM</a:t>
            </a:r>
            <a:endParaRPr spc="-57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7900" y="2083633"/>
            <a:ext cx="8351520" cy="326499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0"/>
              </a:spcBef>
            </a:pPr>
            <a:r>
              <a:rPr sz="3000" b="1" dirty="0">
                <a:latin typeface="Times New Roman" pitchFamily="18" charset="0"/>
                <a:cs typeface="Times New Roman" pitchFamily="18" charset="0"/>
              </a:rPr>
              <a:t>CYK</a:t>
            </a:r>
            <a:r>
              <a:rPr sz="3000" b="1" spc="-3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3000" b="1" dirty="0">
                <a:latin typeface="Times New Roman" pitchFamily="18" charset="0"/>
                <a:cs typeface="Times New Roman" pitchFamily="18" charset="0"/>
              </a:rPr>
              <a:t>algorithm</a:t>
            </a:r>
            <a:r>
              <a:rPr sz="3000" b="1" spc="-2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3000" dirty="0">
                <a:latin typeface="Times New Roman" pitchFamily="18" charset="0"/>
                <a:cs typeface="Times New Roman" pitchFamily="18" charset="0"/>
              </a:rPr>
              <a:t>is</a:t>
            </a:r>
            <a:r>
              <a:rPr sz="3000" spc="-3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3000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sz="3000" spc="-3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3000" dirty="0">
                <a:latin typeface="Times New Roman" pitchFamily="18" charset="0"/>
                <a:cs typeface="Times New Roman" pitchFamily="18" charset="0"/>
              </a:rPr>
              <a:t>parsing</a:t>
            </a:r>
            <a:r>
              <a:rPr sz="3000" spc="-3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3000" dirty="0">
                <a:latin typeface="Times New Roman" pitchFamily="18" charset="0"/>
                <a:cs typeface="Times New Roman" pitchFamily="18" charset="0"/>
              </a:rPr>
              <a:t>algorithm</a:t>
            </a:r>
            <a:r>
              <a:rPr sz="3000" spc="-3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3000" dirty="0">
                <a:latin typeface="Times New Roman" pitchFamily="18" charset="0"/>
                <a:cs typeface="Times New Roman" pitchFamily="18" charset="0"/>
              </a:rPr>
              <a:t>for</a:t>
            </a:r>
            <a:r>
              <a:rPr sz="3000" spc="-3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3000" dirty="0">
                <a:latin typeface="Times New Roman" pitchFamily="18" charset="0"/>
                <a:cs typeface="Times New Roman" pitchFamily="18" charset="0"/>
              </a:rPr>
              <a:t>context</a:t>
            </a:r>
            <a:r>
              <a:rPr sz="3000" spc="-3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3000" dirty="0">
                <a:latin typeface="Times New Roman" pitchFamily="18" charset="0"/>
                <a:cs typeface="Times New Roman" pitchFamily="18" charset="0"/>
              </a:rPr>
              <a:t>free</a:t>
            </a:r>
            <a:r>
              <a:rPr sz="3000" spc="-3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3000" spc="-10" dirty="0">
                <a:latin typeface="Times New Roman" pitchFamily="18" charset="0"/>
                <a:cs typeface="Times New Roman" pitchFamily="18" charset="0"/>
              </a:rPr>
              <a:t>grammar.</a:t>
            </a:r>
            <a:endParaRPr sz="3000">
              <a:latin typeface="Times New Roman" pitchFamily="18" charset="0"/>
              <a:cs typeface="Times New Roman" pitchFamily="18" charset="0"/>
            </a:endParaRPr>
          </a:p>
          <a:p>
            <a:pPr marL="12700" marR="5080" algn="just">
              <a:lnSpc>
                <a:spcPct val="114999"/>
              </a:lnSpc>
              <a:spcBef>
                <a:spcPts val="1600"/>
              </a:spcBef>
            </a:pPr>
            <a:r>
              <a:rPr sz="3000" dirty="0">
                <a:latin typeface="Times New Roman" pitchFamily="18" charset="0"/>
                <a:cs typeface="Times New Roman" pitchFamily="18" charset="0"/>
              </a:rPr>
              <a:t>In</a:t>
            </a:r>
            <a:r>
              <a:rPr sz="3000" spc="-2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3000" dirty="0">
                <a:latin typeface="Times New Roman" pitchFamily="18" charset="0"/>
                <a:cs typeface="Times New Roman" pitchFamily="18" charset="0"/>
              </a:rPr>
              <a:t>order</a:t>
            </a:r>
            <a:r>
              <a:rPr sz="3000" spc="-2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3000" dirty="0">
                <a:latin typeface="Times New Roman" pitchFamily="18" charset="0"/>
                <a:cs typeface="Times New Roman" pitchFamily="18" charset="0"/>
              </a:rPr>
              <a:t>to</a:t>
            </a:r>
            <a:r>
              <a:rPr sz="3000" spc="-2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3000" dirty="0">
                <a:latin typeface="Times New Roman" pitchFamily="18" charset="0"/>
                <a:cs typeface="Times New Roman" pitchFamily="18" charset="0"/>
              </a:rPr>
              <a:t>apply</a:t>
            </a:r>
            <a:r>
              <a:rPr sz="3000" spc="-2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3000" dirty="0">
                <a:latin typeface="Times New Roman" pitchFamily="18" charset="0"/>
                <a:cs typeface="Times New Roman" pitchFamily="18" charset="0"/>
              </a:rPr>
              <a:t>CYK</a:t>
            </a:r>
            <a:r>
              <a:rPr sz="3000" spc="-3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3000" dirty="0">
                <a:latin typeface="Times New Roman" pitchFamily="18" charset="0"/>
                <a:cs typeface="Times New Roman" pitchFamily="18" charset="0"/>
              </a:rPr>
              <a:t>algorithm</a:t>
            </a:r>
            <a:r>
              <a:rPr sz="3000" spc="-2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3000" dirty="0">
                <a:latin typeface="Times New Roman" pitchFamily="18" charset="0"/>
                <a:cs typeface="Times New Roman" pitchFamily="18" charset="0"/>
              </a:rPr>
              <a:t>to</a:t>
            </a:r>
            <a:r>
              <a:rPr sz="3000" spc="-2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3000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sz="3000" spc="-2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3000" dirty="0">
                <a:latin typeface="Times New Roman" pitchFamily="18" charset="0"/>
                <a:cs typeface="Times New Roman" pitchFamily="18" charset="0"/>
              </a:rPr>
              <a:t>grammar,</a:t>
            </a:r>
            <a:r>
              <a:rPr sz="3000" spc="-2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3000" dirty="0">
                <a:latin typeface="Times New Roman" pitchFamily="18" charset="0"/>
                <a:cs typeface="Times New Roman" pitchFamily="18" charset="0"/>
              </a:rPr>
              <a:t>it</a:t>
            </a:r>
            <a:r>
              <a:rPr sz="3000" spc="-2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3000" dirty="0">
                <a:latin typeface="Times New Roman" pitchFamily="18" charset="0"/>
                <a:cs typeface="Times New Roman" pitchFamily="18" charset="0"/>
              </a:rPr>
              <a:t>must</a:t>
            </a:r>
            <a:r>
              <a:rPr sz="3000" spc="-2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3000" dirty="0">
                <a:latin typeface="Times New Roman" pitchFamily="18" charset="0"/>
                <a:cs typeface="Times New Roman" pitchFamily="18" charset="0"/>
              </a:rPr>
              <a:t>be</a:t>
            </a:r>
            <a:r>
              <a:rPr sz="3000" spc="-25" dirty="0">
                <a:latin typeface="Times New Roman" pitchFamily="18" charset="0"/>
                <a:cs typeface="Times New Roman" pitchFamily="18" charset="0"/>
              </a:rPr>
              <a:t> in </a:t>
            </a:r>
            <a:r>
              <a:rPr sz="3000" dirty="0">
                <a:latin typeface="Times New Roman" pitchFamily="18" charset="0"/>
                <a:cs typeface="Times New Roman" pitchFamily="18" charset="0"/>
              </a:rPr>
              <a:t>Chomsky</a:t>
            </a:r>
            <a:r>
              <a:rPr sz="3000" spc="-3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3000" dirty="0">
                <a:latin typeface="Times New Roman" pitchFamily="18" charset="0"/>
                <a:cs typeface="Times New Roman" pitchFamily="18" charset="0"/>
              </a:rPr>
              <a:t>Normal</a:t>
            </a:r>
            <a:r>
              <a:rPr sz="3000" spc="-3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3000" dirty="0">
                <a:latin typeface="Times New Roman" pitchFamily="18" charset="0"/>
                <a:cs typeface="Times New Roman" pitchFamily="18" charset="0"/>
              </a:rPr>
              <a:t>Form.</a:t>
            </a:r>
            <a:r>
              <a:rPr sz="3000" spc="-3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3000" dirty="0">
                <a:latin typeface="Times New Roman" pitchFamily="18" charset="0"/>
                <a:cs typeface="Times New Roman" pitchFamily="18" charset="0"/>
              </a:rPr>
              <a:t>It</a:t>
            </a:r>
            <a:r>
              <a:rPr sz="3000" spc="-3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3000" dirty="0">
                <a:latin typeface="Times New Roman" pitchFamily="18" charset="0"/>
                <a:cs typeface="Times New Roman" pitchFamily="18" charset="0"/>
              </a:rPr>
              <a:t>uses</a:t>
            </a:r>
            <a:r>
              <a:rPr sz="3000" spc="-3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3000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sz="3000" spc="-3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3000" dirty="0">
                <a:latin typeface="Times New Roman" pitchFamily="18" charset="0"/>
                <a:cs typeface="Times New Roman" pitchFamily="18" charset="0"/>
              </a:rPr>
              <a:t>dynamic</a:t>
            </a:r>
            <a:r>
              <a:rPr sz="3000" spc="-3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3000" dirty="0">
                <a:latin typeface="Times New Roman" pitchFamily="18" charset="0"/>
                <a:cs typeface="Times New Roman" pitchFamily="18" charset="0"/>
              </a:rPr>
              <a:t>programming</a:t>
            </a:r>
            <a:r>
              <a:rPr sz="3000" spc="-3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3000" spc="-10" dirty="0">
                <a:latin typeface="Times New Roman" pitchFamily="18" charset="0"/>
                <a:cs typeface="Times New Roman" pitchFamily="18" charset="0"/>
              </a:rPr>
              <a:t>algorithm </a:t>
            </a:r>
            <a:r>
              <a:rPr sz="3000" dirty="0">
                <a:latin typeface="Times New Roman" pitchFamily="18" charset="0"/>
                <a:cs typeface="Times New Roman" pitchFamily="18" charset="0"/>
              </a:rPr>
              <a:t>to</a:t>
            </a:r>
            <a:r>
              <a:rPr sz="3000" spc="-2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3000" dirty="0">
                <a:latin typeface="Times New Roman" pitchFamily="18" charset="0"/>
                <a:cs typeface="Times New Roman" pitchFamily="18" charset="0"/>
              </a:rPr>
              <a:t>tell</a:t>
            </a:r>
            <a:r>
              <a:rPr sz="3000" spc="-1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3000" dirty="0">
                <a:latin typeface="Times New Roman" pitchFamily="18" charset="0"/>
                <a:cs typeface="Times New Roman" pitchFamily="18" charset="0"/>
              </a:rPr>
              <a:t>whether</a:t>
            </a:r>
            <a:r>
              <a:rPr sz="3000" spc="-1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3000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sz="3000" spc="-1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3000" dirty="0">
                <a:latin typeface="Times New Roman" pitchFamily="18" charset="0"/>
                <a:cs typeface="Times New Roman" pitchFamily="18" charset="0"/>
              </a:rPr>
              <a:t>string</a:t>
            </a:r>
            <a:r>
              <a:rPr sz="3000" spc="-1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3000" dirty="0">
                <a:latin typeface="Times New Roman" pitchFamily="18" charset="0"/>
                <a:cs typeface="Times New Roman" pitchFamily="18" charset="0"/>
              </a:rPr>
              <a:t>is</a:t>
            </a:r>
            <a:r>
              <a:rPr sz="3000" spc="-1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3000" dirty="0">
                <a:latin typeface="Times New Roman" pitchFamily="18" charset="0"/>
                <a:cs typeface="Times New Roman" pitchFamily="18" charset="0"/>
              </a:rPr>
              <a:t>in</a:t>
            </a:r>
            <a:r>
              <a:rPr sz="3000" spc="-1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3000" dirty="0">
                <a:latin typeface="Times New Roman" pitchFamily="18" charset="0"/>
                <a:cs typeface="Times New Roman" pitchFamily="18" charset="0"/>
              </a:rPr>
              <a:t>the</a:t>
            </a:r>
            <a:r>
              <a:rPr sz="3000" spc="-1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3000" dirty="0">
                <a:latin typeface="Times New Roman" pitchFamily="18" charset="0"/>
                <a:cs typeface="Times New Roman" pitchFamily="18" charset="0"/>
              </a:rPr>
              <a:t>language</a:t>
            </a:r>
            <a:r>
              <a:rPr sz="3000" spc="-1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3000" dirty="0">
                <a:latin typeface="Times New Roman" pitchFamily="18" charset="0"/>
                <a:cs typeface="Times New Roman" pitchFamily="18" charset="0"/>
              </a:rPr>
              <a:t>of</a:t>
            </a:r>
            <a:r>
              <a:rPr sz="3000" spc="-1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3000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sz="3000" spc="-10" dirty="0">
                <a:latin typeface="Times New Roman" pitchFamily="18" charset="0"/>
                <a:cs typeface="Times New Roman" pitchFamily="18" charset="0"/>
              </a:rPr>
              <a:t> grammar.</a:t>
            </a:r>
            <a:endParaRPr sz="300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4907" y="149591"/>
            <a:ext cx="7918813" cy="6648449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48637" y="725384"/>
            <a:ext cx="7356822" cy="20328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330" y="152401"/>
            <a:ext cx="9029699" cy="6553197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7900" y="674646"/>
            <a:ext cx="3779366" cy="12439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spc="-300" dirty="0">
                <a:solidFill>
                  <a:srgbClr val="EE6C00"/>
                </a:solidFill>
                <a:latin typeface="Times New Roman" pitchFamily="18" charset="0"/>
                <a:cs typeface="Times New Roman" pitchFamily="18" charset="0"/>
              </a:rPr>
              <a:t>S-</a:t>
            </a:r>
            <a:r>
              <a:rPr sz="4000" b="1" spc="-530" dirty="0">
                <a:solidFill>
                  <a:srgbClr val="EE6C00"/>
                </a:solidFill>
                <a:latin typeface="Times New Roman" pitchFamily="18" charset="0"/>
                <a:cs typeface="Times New Roman" pitchFamily="18" charset="0"/>
              </a:rPr>
              <a:t>&gt;AB,A-</a:t>
            </a:r>
            <a:r>
              <a:rPr sz="4000" b="1" spc="-700" dirty="0">
                <a:solidFill>
                  <a:srgbClr val="EE6C00"/>
                </a:solidFill>
                <a:latin typeface="Times New Roman" pitchFamily="18" charset="0"/>
                <a:cs typeface="Times New Roman" pitchFamily="18" charset="0"/>
              </a:rPr>
              <a:t>&gt;BB|a,</a:t>
            </a:r>
            <a:r>
              <a:rPr sz="4000" b="1" spc="-615" dirty="0">
                <a:solidFill>
                  <a:srgbClr val="EE6C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4000" b="1" spc="-385" dirty="0">
                <a:solidFill>
                  <a:srgbClr val="EE6C00"/>
                </a:solidFill>
                <a:latin typeface="Times New Roman" pitchFamily="18" charset="0"/>
                <a:cs typeface="Times New Roman" pitchFamily="18" charset="0"/>
              </a:rPr>
              <a:t>B-</a:t>
            </a:r>
            <a:r>
              <a:rPr sz="4000" b="1" spc="-484" dirty="0">
                <a:solidFill>
                  <a:srgbClr val="EE6C00"/>
                </a:solidFill>
                <a:latin typeface="Times New Roman" pitchFamily="18" charset="0"/>
                <a:cs typeface="Times New Roman" pitchFamily="18" charset="0"/>
              </a:rPr>
              <a:t>&gt;AB</a:t>
            </a:r>
            <a:r>
              <a:rPr sz="4000" b="1" spc="-370" dirty="0">
                <a:solidFill>
                  <a:srgbClr val="EE6C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4000" b="1" spc="-1125" dirty="0">
                <a:solidFill>
                  <a:srgbClr val="EE6C00"/>
                </a:solidFill>
                <a:latin typeface="Times New Roman" pitchFamily="18" charset="0"/>
                <a:cs typeface="Times New Roman" pitchFamily="18" charset="0"/>
              </a:rPr>
              <a:t>|b</a:t>
            </a:r>
            <a:endParaRPr sz="40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367445" y="674646"/>
            <a:ext cx="3547362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spc="-585" dirty="0"/>
              <a:t>Input_string=”abbb”</a:t>
            </a:r>
            <a:endParaRPr sz="4000"/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591459" y="1773072"/>
          <a:ext cx="7789544" cy="34588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18298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543049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55067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534954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542573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</a:tblGrid>
              <a:tr h="6915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CEE1F3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585"/>
                        </a:spcBef>
                        <a:tabLst>
                          <a:tab pos="487680" algn="l"/>
                        </a:tabLst>
                      </a:pPr>
                      <a:r>
                        <a:rPr sz="2200" b="1" spc="-50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2200" b="1" dirty="0">
                          <a:latin typeface="Arial"/>
                          <a:cs typeface="Arial"/>
                        </a:rPr>
                        <a:t>	</a:t>
                      </a:r>
                      <a:r>
                        <a:rPr sz="2200" b="1" spc="-25" dirty="0">
                          <a:latin typeface="Arial"/>
                          <a:cs typeface="Arial"/>
                        </a:rPr>
                        <a:t>(4)</a:t>
                      </a:r>
                      <a:endParaRPr sz="2200">
                        <a:latin typeface="Arial"/>
                        <a:cs typeface="Arial"/>
                      </a:endParaRPr>
                    </a:p>
                  </a:txBody>
                  <a:tcPr marL="0" marR="0" marT="7429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F1C131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585"/>
                        </a:spcBef>
                        <a:tabLst>
                          <a:tab pos="487680" algn="l"/>
                        </a:tabLst>
                      </a:pPr>
                      <a:r>
                        <a:rPr sz="2200" b="1" spc="-50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2200" b="1" dirty="0">
                          <a:latin typeface="Arial"/>
                          <a:cs typeface="Arial"/>
                        </a:rPr>
                        <a:t>	</a:t>
                      </a:r>
                      <a:r>
                        <a:rPr sz="2200" b="1" spc="-25" dirty="0">
                          <a:latin typeface="Arial"/>
                          <a:cs typeface="Arial"/>
                        </a:rPr>
                        <a:t>(3)</a:t>
                      </a:r>
                      <a:endParaRPr sz="2200">
                        <a:latin typeface="Arial"/>
                        <a:cs typeface="Arial"/>
                      </a:endParaRPr>
                    </a:p>
                  </a:txBody>
                  <a:tcPr marL="0" marR="0" marT="7429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F1C131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585"/>
                        </a:spcBef>
                        <a:tabLst>
                          <a:tab pos="410845" algn="l"/>
                        </a:tabLst>
                      </a:pPr>
                      <a:r>
                        <a:rPr sz="2200" b="1" spc="-50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2200" b="1" dirty="0">
                          <a:latin typeface="Arial"/>
                          <a:cs typeface="Arial"/>
                        </a:rPr>
                        <a:t>	</a:t>
                      </a:r>
                      <a:r>
                        <a:rPr sz="2200" b="1" spc="-25" dirty="0">
                          <a:latin typeface="Arial"/>
                          <a:cs typeface="Arial"/>
                        </a:rPr>
                        <a:t>(2)</a:t>
                      </a:r>
                      <a:endParaRPr sz="2200">
                        <a:latin typeface="Arial"/>
                        <a:cs typeface="Arial"/>
                      </a:endParaRPr>
                    </a:p>
                  </a:txBody>
                  <a:tcPr marL="0" marR="0" marT="7429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F1C131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585"/>
                        </a:spcBef>
                        <a:tabLst>
                          <a:tab pos="395605" algn="l"/>
                        </a:tabLst>
                      </a:pPr>
                      <a:r>
                        <a:rPr sz="2200" b="1" spc="-50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2200" b="1" dirty="0">
                          <a:latin typeface="Arial"/>
                          <a:cs typeface="Arial"/>
                        </a:rPr>
                        <a:t>	</a:t>
                      </a:r>
                      <a:r>
                        <a:rPr sz="2200" b="1" spc="-25" dirty="0">
                          <a:latin typeface="Arial"/>
                          <a:cs typeface="Arial"/>
                        </a:rPr>
                        <a:t>(1)</a:t>
                      </a:r>
                      <a:endParaRPr sz="2200">
                        <a:latin typeface="Arial"/>
                        <a:cs typeface="Arial"/>
                      </a:endParaRPr>
                    </a:p>
                  </a:txBody>
                  <a:tcPr marL="0" marR="0" marT="7429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F1C1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702310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sz="2200" b="1" dirty="0">
                          <a:solidFill>
                            <a:srgbClr val="1155CC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2200" b="1" spc="-20" dirty="0">
                          <a:solidFill>
                            <a:srgbClr val="1155C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200" b="1" spc="-25" dirty="0">
                          <a:solidFill>
                            <a:srgbClr val="1155CC"/>
                          </a:solidFill>
                          <a:latin typeface="Arial"/>
                          <a:cs typeface="Arial"/>
                        </a:rPr>
                        <a:t>(1)</a:t>
                      </a:r>
                      <a:endParaRPr sz="2200">
                        <a:latin typeface="Arial"/>
                        <a:cs typeface="Arial"/>
                      </a:endParaRPr>
                    </a:p>
                  </a:txBody>
                  <a:tcPr marL="0" marR="0" marT="7429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CEE1F3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sz="2400" spc="-10" dirty="0">
                          <a:latin typeface="Arial MT"/>
                          <a:cs typeface="Arial MT"/>
                        </a:rPr>
                        <a:t>{B,S}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7366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E6B8AE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sz="2400" spc="-25" dirty="0">
                          <a:latin typeface="Arial MT"/>
                          <a:cs typeface="Arial MT"/>
                        </a:rPr>
                        <a:t>{A}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7366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FCE4CD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sz="2400" spc="-10" dirty="0">
                          <a:latin typeface="Arial MT"/>
                          <a:cs typeface="Arial MT"/>
                        </a:rPr>
                        <a:t>{S,B}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7366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D9D1E9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sz="2300" spc="-25" dirty="0">
                          <a:latin typeface="Arial MT"/>
                          <a:cs typeface="Arial MT"/>
                        </a:rPr>
                        <a:t>{A}</a:t>
                      </a:r>
                      <a:endParaRPr sz="2300">
                        <a:latin typeface="Arial MT"/>
                        <a:cs typeface="Arial MT"/>
                      </a:endParaRPr>
                    </a:p>
                  </a:txBody>
                  <a:tcPr marL="0" marR="0" marT="7366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702310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sz="2200" b="1" dirty="0">
                          <a:solidFill>
                            <a:srgbClr val="0C343D"/>
                          </a:solidFill>
                          <a:latin typeface="Arial"/>
                          <a:cs typeface="Arial"/>
                        </a:rPr>
                        <a:t>b</a:t>
                      </a:r>
                      <a:r>
                        <a:rPr sz="2200" b="1" spc="-20" dirty="0">
                          <a:solidFill>
                            <a:srgbClr val="0C343D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200" b="1" spc="-25" dirty="0">
                          <a:solidFill>
                            <a:srgbClr val="0C343D"/>
                          </a:solidFill>
                          <a:latin typeface="Arial"/>
                          <a:cs typeface="Arial"/>
                        </a:rPr>
                        <a:t>(2)</a:t>
                      </a:r>
                      <a:endParaRPr sz="2200">
                        <a:latin typeface="Arial"/>
                        <a:cs typeface="Arial"/>
                      </a:endParaRPr>
                    </a:p>
                  </a:txBody>
                  <a:tcPr marL="0" marR="0" marT="7429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CEE1F3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sz="2400" spc="-10" dirty="0">
                          <a:latin typeface="Arial MT"/>
                          <a:cs typeface="Arial MT"/>
                        </a:rPr>
                        <a:t>{B,S}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7366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FCE4CD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sz="2400" spc="-25" dirty="0">
                          <a:latin typeface="Arial MT"/>
                          <a:cs typeface="Arial MT"/>
                        </a:rPr>
                        <a:t>{A}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7366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D9D1E9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sz="2200" spc="-25" dirty="0">
                          <a:latin typeface="Arial MT"/>
                          <a:cs typeface="Arial MT"/>
                        </a:rPr>
                        <a:t>{B}</a:t>
                      </a:r>
                      <a:endParaRPr sz="2200">
                        <a:latin typeface="Arial MT"/>
                        <a:cs typeface="Arial MT"/>
                      </a:endParaRPr>
                    </a:p>
                  </a:txBody>
                  <a:tcPr marL="0" marR="0" marT="7429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sz="2200" b="1" dirty="0">
                          <a:solidFill>
                            <a:srgbClr val="0B5394"/>
                          </a:solidFill>
                          <a:latin typeface="Arial"/>
                          <a:cs typeface="Arial"/>
                        </a:rPr>
                        <a:t>b</a:t>
                      </a:r>
                      <a:r>
                        <a:rPr sz="2200" b="1" spc="-20" dirty="0">
                          <a:solidFill>
                            <a:srgbClr val="0B539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200" b="1" spc="-25" dirty="0">
                          <a:solidFill>
                            <a:srgbClr val="0B5394"/>
                          </a:solidFill>
                          <a:latin typeface="Arial"/>
                          <a:cs typeface="Arial"/>
                        </a:rPr>
                        <a:t>(3)</a:t>
                      </a:r>
                      <a:endParaRPr sz="2200">
                        <a:latin typeface="Arial"/>
                        <a:cs typeface="Arial"/>
                      </a:endParaRPr>
                    </a:p>
                  </a:txBody>
                  <a:tcPr marL="0" marR="0" marT="7429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CEE1F3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sz="2400" spc="-25" dirty="0">
                          <a:latin typeface="Arial MT"/>
                          <a:cs typeface="Arial MT"/>
                        </a:rPr>
                        <a:t>{A}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7366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D9D1E9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sz="2300" spc="-25" dirty="0">
                          <a:latin typeface="Arial MT"/>
                          <a:cs typeface="Arial MT"/>
                        </a:rPr>
                        <a:t>{B}</a:t>
                      </a:r>
                      <a:endParaRPr sz="2300">
                        <a:latin typeface="Arial MT"/>
                        <a:cs typeface="Arial MT"/>
                      </a:endParaRPr>
                    </a:p>
                  </a:txBody>
                  <a:tcPr marL="0" marR="0" marT="7366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F9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702310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sz="2200" b="1" dirty="0">
                          <a:solidFill>
                            <a:srgbClr val="0C343D"/>
                          </a:solidFill>
                          <a:latin typeface="Arial"/>
                          <a:cs typeface="Arial"/>
                        </a:rPr>
                        <a:t>b</a:t>
                      </a:r>
                      <a:r>
                        <a:rPr sz="2200" b="1" spc="-20" dirty="0">
                          <a:solidFill>
                            <a:srgbClr val="0C343D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200" b="1" spc="-25" dirty="0">
                          <a:solidFill>
                            <a:srgbClr val="0C343D"/>
                          </a:solidFill>
                          <a:latin typeface="Arial"/>
                          <a:cs typeface="Arial"/>
                        </a:rPr>
                        <a:t>(4)</a:t>
                      </a:r>
                      <a:endParaRPr sz="2200">
                        <a:latin typeface="Arial"/>
                        <a:cs typeface="Arial"/>
                      </a:endParaRPr>
                    </a:p>
                  </a:txBody>
                  <a:tcPr marL="0" marR="0" marT="7429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CEE1F3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sz="2900" spc="-25" dirty="0">
                          <a:latin typeface="Arial MT"/>
                          <a:cs typeface="Arial MT"/>
                        </a:rPr>
                        <a:t>{B}</a:t>
                      </a:r>
                      <a:endParaRPr sz="2900">
                        <a:latin typeface="Arial MT"/>
                        <a:cs typeface="Arial MT"/>
                      </a:endParaRPr>
                    </a:p>
                  </a:txBody>
                  <a:tcPr marL="0" marR="0" marT="7112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4C1130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4C1130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F9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F9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F9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7899" y="673022"/>
            <a:ext cx="6297714" cy="1338828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4300" b="1" spc="-305" dirty="0">
                <a:solidFill>
                  <a:srgbClr val="EE6C00"/>
                </a:solidFill>
                <a:latin typeface="Trebuchet MS"/>
                <a:cs typeface="Trebuchet MS"/>
              </a:rPr>
              <a:t>S-</a:t>
            </a:r>
            <a:r>
              <a:rPr sz="4300" b="1" spc="-755" dirty="0">
                <a:solidFill>
                  <a:srgbClr val="EE6C00"/>
                </a:solidFill>
                <a:latin typeface="Trebuchet MS"/>
                <a:cs typeface="Trebuchet MS"/>
              </a:rPr>
              <a:t>&gt;AB|BC</a:t>
            </a:r>
            <a:r>
              <a:rPr sz="4300" b="1" spc="-810" dirty="0">
                <a:solidFill>
                  <a:srgbClr val="EE6C00"/>
                </a:solidFill>
                <a:latin typeface="Trebuchet MS"/>
                <a:cs typeface="Trebuchet MS"/>
              </a:rPr>
              <a:t> </a:t>
            </a:r>
            <a:r>
              <a:rPr sz="4300" b="1" spc="-650" dirty="0">
                <a:solidFill>
                  <a:srgbClr val="EE6C00"/>
                </a:solidFill>
                <a:latin typeface="Trebuchet MS"/>
                <a:cs typeface="Trebuchet MS"/>
              </a:rPr>
              <a:t>,</a:t>
            </a:r>
            <a:r>
              <a:rPr sz="4300" b="1" spc="-800" dirty="0">
                <a:solidFill>
                  <a:srgbClr val="EE6C00"/>
                </a:solidFill>
                <a:latin typeface="Trebuchet MS"/>
                <a:cs typeface="Trebuchet MS"/>
              </a:rPr>
              <a:t> </a:t>
            </a:r>
            <a:r>
              <a:rPr sz="4300" b="1" spc="-509" dirty="0">
                <a:solidFill>
                  <a:srgbClr val="EE6C00"/>
                </a:solidFill>
                <a:latin typeface="Trebuchet MS"/>
                <a:cs typeface="Trebuchet MS"/>
              </a:rPr>
              <a:t>A-</a:t>
            </a:r>
            <a:r>
              <a:rPr sz="4300" b="1" spc="-760" dirty="0">
                <a:solidFill>
                  <a:srgbClr val="EE6C00"/>
                </a:solidFill>
                <a:latin typeface="Trebuchet MS"/>
                <a:cs typeface="Trebuchet MS"/>
              </a:rPr>
              <a:t>&gt;</a:t>
            </a:r>
            <a:r>
              <a:rPr sz="4300" b="1" spc="-760" dirty="0">
                <a:solidFill>
                  <a:srgbClr val="EE6C00"/>
                </a:solidFill>
                <a:latin typeface="Times New Roman" pitchFamily="18" charset="0"/>
                <a:cs typeface="Times New Roman" pitchFamily="18" charset="0"/>
              </a:rPr>
              <a:t>BA|a</a:t>
            </a:r>
            <a:r>
              <a:rPr sz="4300" b="1" spc="-760" dirty="0">
                <a:solidFill>
                  <a:srgbClr val="EE6C00"/>
                </a:solidFill>
                <a:latin typeface="Trebuchet MS"/>
                <a:cs typeface="Trebuchet MS"/>
              </a:rPr>
              <a:t>,</a:t>
            </a:r>
            <a:r>
              <a:rPr sz="4300" b="1" spc="-640" dirty="0">
                <a:solidFill>
                  <a:srgbClr val="EE6C00"/>
                </a:solidFill>
                <a:latin typeface="Trebuchet MS"/>
                <a:cs typeface="Trebuchet MS"/>
              </a:rPr>
              <a:t> </a:t>
            </a:r>
            <a:r>
              <a:rPr sz="4300" b="1" spc="-434" dirty="0">
                <a:solidFill>
                  <a:srgbClr val="EE6C00"/>
                </a:solidFill>
                <a:latin typeface="Trebuchet MS"/>
                <a:cs typeface="Trebuchet MS"/>
              </a:rPr>
              <a:t>B-</a:t>
            </a:r>
            <a:r>
              <a:rPr sz="4300" b="1" spc="-770" dirty="0">
                <a:solidFill>
                  <a:srgbClr val="EE6C00"/>
                </a:solidFill>
                <a:latin typeface="Trebuchet MS"/>
                <a:cs typeface="Trebuchet MS"/>
              </a:rPr>
              <a:t>&gt;CC|b,C-</a:t>
            </a:r>
            <a:r>
              <a:rPr sz="4300" b="1" spc="-795" dirty="0">
                <a:solidFill>
                  <a:srgbClr val="EE6C00"/>
                </a:solidFill>
                <a:latin typeface="Trebuchet MS"/>
                <a:cs typeface="Trebuchet MS"/>
              </a:rPr>
              <a:t>&gt;AB|a</a:t>
            </a:r>
            <a:endParaRPr sz="43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386456" y="673022"/>
            <a:ext cx="2023026" cy="692497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-730" dirty="0"/>
              <a:t>“baaba”</a:t>
            </a: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92534" y="2113613"/>
          <a:ext cx="8751569" cy="37985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4794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8397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442561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442561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442561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1442561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1442561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</a:tblGrid>
              <a:tr h="416139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EAD1D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sz="2400" dirty="0">
                          <a:latin typeface="Arial MT"/>
                          <a:cs typeface="Arial MT"/>
                        </a:rPr>
                        <a:t>b</a:t>
                      </a:r>
                      <a:r>
                        <a:rPr sz="24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400" spc="-25" dirty="0">
                          <a:latin typeface="Arial MT"/>
                          <a:cs typeface="Arial MT"/>
                        </a:rPr>
                        <a:t>(1)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7366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E6B8AE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sz="2400" dirty="0">
                          <a:latin typeface="Arial MT"/>
                          <a:cs typeface="Arial MT"/>
                        </a:rPr>
                        <a:t>a</a:t>
                      </a:r>
                      <a:r>
                        <a:rPr sz="24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400" spc="-25" dirty="0">
                          <a:latin typeface="Arial MT"/>
                          <a:cs typeface="Arial MT"/>
                        </a:rPr>
                        <a:t>(2)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7366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E6B8AE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sz="2400" spc="-20" dirty="0">
                          <a:latin typeface="Arial MT"/>
                          <a:cs typeface="Arial MT"/>
                        </a:rPr>
                        <a:t>a(3)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7366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E6B8AE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sz="2400" dirty="0">
                          <a:latin typeface="Arial MT"/>
                          <a:cs typeface="Arial MT"/>
                        </a:rPr>
                        <a:t>b</a:t>
                      </a:r>
                      <a:r>
                        <a:rPr sz="24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400" spc="-25" dirty="0">
                          <a:latin typeface="Arial MT"/>
                          <a:cs typeface="Arial MT"/>
                        </a:rPr>
                        <a:t>(4)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7366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E6B8AE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sz="2400" spc="-20" dirty="0">
                          <a:latin typeface="Arial MT"/>
                          <a:cs typeface="Arial MT"/>
                        </a:rPr>
                        <a:t>a(5)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7366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E6B8A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669290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sz="2400" spc="-50" dirty="0">
                          <a:latin typeface="Arial MT"/>
                          <a:cs typeface="Arial MT"/>
                        </a:rPr>
                        <a:t>b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73660" marB="0">
                    <a:lnL w="9525">
                      <a:solidFill>
                        <a:srgbClr val="9E9E9E"/>
                      </a:solidFill>
                      <a:prstDash val="solid"/>
                    </a:lnL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EAD1DC"/>
                    </a:solidFill>
                  </a:tcPr>
                </a:tc>
                <a:tc>
                  <a:txBody>
                    <a:bodyPr/>
                    <a:lstStyle/>
                    <a:p>
                      <a:pPr marL="83820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sz="2400" spc="-25" dirty="0">
                          <a:latin typeface="Arial MT"/>
                          <a:cs typeface="Arial MT"/>
                        </a:rPr>
                        <a:t>(1)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73660" marB="0"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EAD1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D9D1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FFF1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FCE4C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C9DA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643890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sz="2400" spc="-50" dirty="0">
                          <a:latin typeface="Arial MT"/>
                          <a:cs typeface="Arial MT"/>
                        </a:rPr>
                        <a:t>a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73660" marB="0">
                    <a:lnL w="9525">
                      <a:solidFill>
                        <a:srgbClr val="9E9E9E"/>
                      </a:solidFill>
                      <a:prstDash val="solid"/>
                    </a:lnL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EAD1DC"/>
                    </a:solidFill>
                  </a:tcPr>
                </a:tc>
                <a:tc>
                  <a:txBody>
                    <a:bodyPr/>
                    <a:lstStyle/>
                    <a:p>
                      <a:pPr marL="83820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sz="2400" spc="-25" dirty="0">
                          <a:latin typeface="Arial MT"/>
                          <a:cs typeface="Arial MT"/>
                        </a:rPr>
                        <a:t>(2)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73660" marB="0"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EAD1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D9D1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FFF1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FCE4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669290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sz="2400" spc="-50" dirty="0">
                          <a:latin typeface="Arial MT"/>
                          <a:cs typeface="Arial MT"/>
                        </a:rPr>
                        <a:t>a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73660" marB="0">
                    <a:lnL w="9525">
                      <a:solidFill>
                        <a:srgbClr val="9E9E9E"/>
                      </a:solidFill>
                      <a:prstDash val="solid"/>
                    </a:lnL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EAD1DC"/>
                    </a:solidFill>
                  </a:tcPr>
                </a:tc>
                <a:tc>
                  <a:txBody>
                    <a:bodyPr/>
                    <a:lstStyle/>
                    <a:p>
                      <a:pPr marL="83820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sz="2400" spc="-25" dirty="0">
                          <a:latin typeface="Arial MT"/>
                          <a:cs typeface="Arial MT"/>
                        </a:rPr>
                        <a:t>(3)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73660" marB="0"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EAD1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D9D1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FFF1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669290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sz="2400" spc="-50" dirty="0">
                          <a:latin typeface="Arial MT"/>
                          <a:cs typeface="Arial MT"/>
                        </a:rPr>
                        <a:t>b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73660" marB="0">
                    <a:lnL w="9525">
                      <a:solidFill>
                        <a:srgbClr val="9E9E9E"/>
                      </a:solidFill>
                      <a:prstDash val="solid"/>
                    </a:lnL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EAD1DC"/>
                    </a:solidFill>
                  </a:tcPr>
                </a:tc>
                <a:tc>
                  <a:txBody>
                    <a:bodyPr/>
                    <a:lstStyle/>
                    <a:p>
                      <a:pPr marL="83820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sz="2400" spc="-25" dirty="0">
                          <a:latin typeface="Arial MT"/>
                          <a:cs typeface="Arial MT"/>
                        </a:rPr>
                        <a:t>(4)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73660" marB="0"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EAD1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D9D1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643890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sz="2400" spc="-50" dirty="0">
                          <a:latin typeface="Arial MT"/>
                          <a:cs typeface="Arial MT"/>
                        </a:rPr>
                        <a:t>a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73660" marB="0">
                    <a:lnL w="9525">
                      <a:solidFill>
                        <a:srgbClr val="9E9E9E"/>
                      </a:solidFill>
                      <a:prstDash val="solid"/>
                    </a:lnL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EAD1DC"/>
                    </a:solidFill>
                  </a:tcPr>
                </a:tc>
                <a:tc>
                  <a:txBody>
                    <a:bodyPr/>
                    <a:lstStyle/>
                    <a:p>
                      <a:pPr marL="83820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sz="2400" spc="-25" dirty="0">
                          <a:latin typeface="Arial MT"/>
                          <a:cs typeface="Arial MT"/>
                        </a:rPr>
                        <a:t>(5)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73660" marB="0"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EAD1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340" y="152401"/>
            <a:ext cx="9029699" cy="6553197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2063" y="484035"/>
            <a:ext cx="7557128" cy="5269197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59683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The Earley Parsing Algorithm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64105"/>
            <a:ext cx="8229600" cy="4762059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en-IN" dirty="0"/>
              <a:t>The </a:t>
            </a:r>
            <a:r>
              <a:rPr lang="en-IN" b="1" dirty="0"/>
              <a:t>Earley Algorithm</a:t>
            </a:r>
            <a:r>
              <a:rPr lang="en-IN" dirty="0"/>
              <a:t> is an efficient </a:t>
            </a:r>
            <a:r>
              <a:rPr lang="en-IN" b="1" dirty="0"/>
              <a:t>chart parsing algorithm</a:t>
            </a:r>
            <a:r>
              <a:rPr lang="en-IN" dirty="0"/>
              <a:t> used in </a:t>
            </a:r>
            <a:r>
              <a:rPr lang="en-IN" b="1" dirty="0"/>
              <a:t>Natural Language Processing (NLP)</a:t>
            </a:r>
            <a:r>
              <a:rPr lang="en-IN" dirty="0"/>
              <a:t> for parsing sentences based on </a:t>
            </a:r>
            <a:r>
              <a:rPr lang="en-IN" b="1" dirty="0"/>
              <a:t>Context-Free Grammars (CFGs)</a:t>
            </a:r>
            <a:r>
              <a:rPr lang="en-IN" dirty="0"/>
              <a:t>. </a:t>
            </a:r>
          </a:p>
          <a:p>
            <a:pPr algn="just"/>
            <a:r>
              <a:rPr lang="en-IN" dirty="0"/>
              <a:t>Works with </a:t>
            </a:r>
            <a:r>
              <a:rPr lang="en-IN" b="1" dirty="0"/>
              <a:t>top-down parsing strategy</a:t>
            </a:r>
          </a:p>
          <a:p>
            <a:pPr algn="just">
              <a:buNone/>
            </a:pPr>
            <a:endParaRPr lang="en-IN" dirty="0"/>
          </a:p>
          <a:p>
            <a:pPr algn="just"/>
            <a:r>
              <a:rPr lang="en-IN" dirty="0"/>
              <a:t>The algorithm maintains a </a:t>
            </a:r>
            <a:r>
              <a:rPr lang="en-IN" b="1" dirty="0"/>
              <a:t>chart</a:t>
            </a:r>
            <a:r>
              <a:rPr lang="en-IN" dirty="0"/>
              <a:t> (a data structure with states), one for each input position in the sentence.</a:t>
            </a:r>
          </a:p>
          <a:p>
            <a:pPr algn="just"/>
            <a:r>
              <a:rPr lang="en-IN" dirty="0"/>
              <a:t>A </a:t>
            </a:r>
            <a:r>
              <a:rPr lang="en-IN" b="1" dirty="0"/>
              <a:t>state</a:t>
            </a:r>
            <a:r>
              <a:rPr lang="en-IN" dirty="0"/>
              <a:t> represents a partially recognized grammar rule.</a:t>
            </a:r>
          </a:p>
          <a:p>
            <a:pPr algn="just"/>
            <a:endParaRPr lang="en-IN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64696"/>
            <a:ext cx="8229600" cy="5661468"/>
          </a:xfrm>
        </p:spPr>
        <p:txBody>
          <a:bodyPr>
            <a:normAutofit fontScale="92500" lnSpcReduction="10000"/>
          </a:bodyPr>
          <a:lstStyle/>
          <a:p>
            <a:r>
              <a:rPr lang="en-IN" dirty="0"/>
              <a:t>At each step, the algorithm applies one of three operations on the states: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IN" dirty="0"/>
              <a:t>Prediction</a:t>
            </a:r>
          </a:p>
          <a:p>
            <a:pPr marL="1371600" lvl="2" indent="-514350">
              <a:buNone/>
            </a:pPr>
            <a:r>
              <a:rPr lang="en-IN" dirty="0"/>
              <a:t>If the dot is before a non-terminal, expand it using all rules of that non-terminal.</a:t>
            </a:r>
          </a:p>
          <a:p>
            <a:pPr marL="1371600" lvl="2" indent="-514350">
              <a:buNone/>
            </a:pPr>
            <a:r>
              <a:rPr lang="en-IN" dirty="0"/>
              <a:t>Ex: 	S → • NP VP , [0]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IN" dirty="0"/>
              <a:t>Scanning</a:t>
            </a:r>
          </a:p>
          <a:p>
            <a:pPr marL="1371600" lvl="2" indent="-514350">
              <a:buNone/>
            </a:pPr>
            <a:r>
              <a:rPr lang="en-IN" dirty="0"/>
              <a:t>If the dot is before a terminal, and it matches the next input word, move the dot one step right.</a:t>
            </a:r>
          </a:p>
          <a:p>
            <a:pPr marL="1371600" lvl="2" indent="-514350">
              <a:buNone/>
            </a:pPr>
            <a:r>
              <a:rPr lang="en-IN" dirty="0"/>
              <a:t>Ex: NP → </a:t>
            </a:r>
            <a:r>
              <a:rPr lang="en-IN" dirty="0" err="1"/>
              <a:t>Det</a:t>
            </a:r>
            <a:r>
              <a:rPr lang="en-IN" dirty="0"/>
              <a:t> • N , [0]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IN" dirty="0"/>
              <a:t>Completion</a:t>
            </a:r>
          </a:p>
          <a:p>
            <a:pPr marL="971550" lvl="1" indent="-514350">
              <a:buNone/>
            </a:pPr>
            <a:r>
              <a:rPr lang="en-IN" dirty="0"/>
              <a:t>	</a:t>
            </a:r>
            <a:r>
              <a:rPr lang="en-IN" sz="2400" dirty="0"/>
              <a:t>If a rule is finished (dot at the end), look back to where it started and advance any rules waiting for that non-terminal.</a:t>
            </a:r>
          </a:p>
          <a:p>
            <a:pPr marL="971550" lvl="1" indent="-514350">
              <a:buNone/>
            </a:pPr>
            <a:r>
              <a:rPr lang="en-IN" sz="2400" dirty="0"/>
              <a:t>	Ex: NP → </a:t>
            </a:r>
            <a:r>
              <a:rPr lang="en-IN" sz="2400" dirty="0" err="1"/>
              <a:t>Det</a:t>
            </a:r>
            <a:r>
              <a:rPr lang="en-IN" sz="2400" dirty="0"/>
              <a:t> N • , [0]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19725" y="922421"/>
            <a:ext cx="8523394" cy="57379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Rectangle 2"/>
          <p:cNvSpPr/>
          <p:nvPr/>
        </p:nvSpPr>
        <p:spPr>
          <a:xfrm>
            <a:off x="209862" y="253369"/>
            <a:ext cx="1903751" cy="66905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6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Example: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84732"/>
          </a:xfrm>
        </p:spPr>
        <p:txBody>
          <a:bodyPr>
            <a:normAutofit fontScale="90000"/>
          </a:bodyPr>
          <a:lstStyle/>
          <a:p>
            <a:r>
              <a:rPr lang="en-IN" dirty="0"/>
              <a:t>Earley Parsing Algorithm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39252"/>
            <a:ext cx="8491928" cy="5440362"/>
          </a:xfrm>
        </p:spPr>
        <p:txBody>
          <a:bodyPr>
            <a:normAutofit fontScale="62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IN" b="1" dirty="0"/>
              <a:t>Initialization</a:t>
            </a:r>
            <a:endParaRPr lang="en-IN" dirty="0"/>
          </a:p>
          <a:p>
            <a:pPr marL="971550" lvl="1" indent="-514350">
              <a:buNone/>
            </a:pPr>
            <a:r>
              <a:rPr lang="en-IN" dirty="0"/>
              <a:t>	Create an array of charts: Chart[0..n], where each entry is a set of states.</a:t>
            </a:r>
          </a:p>
          <a:p>
            <a:pPr marL="971550" lvl="1" indent="-514350">
              <a:buNone/>
            </a:pPr>
            <a:r>
              <a:rPr lang="en-IN" dirty="0"/>
              <a:t>	Add the initial state to Chart[0]:</a:t>
            </a:r>
          </a:p>
          <a:p>
            <a:pPr marL="971550" lvl="1" indent="-514350">
              <a:buNone/>
            </a:pPr>
            <a:r>
              <a:rPr lang="en-IN" dirty="0"/>
              <a:t>				</a:t>
            </a:r>
            <a:r>
              <a:rPr lang="en-IN" sz="4200" dirty="0"/>
              <a:t>S′→</a:t>
            </a:r>
            <a:r>
              <a:rPr lang="en-IN" sz="5900" b="1" dirty="0"/>
              <a:t>∙</a:t>
            </a:r>
            <a:r>
              <a:rPr lang="en-IN" sz="4200" dirty="0"/>
              <a:t>S  ,  [0]</a:t>
            </a:r>
            <a:endParaRPr lang="en-IN" dirty="0"/>
          </a:p>
          <a:p>
            <a:pPr marL="514350" indent="-514350">
              <a:buFont typeface="+mj-lt"/>
              <a:buAutoNum type="arabicPeriod"/>
            </a:pPr>
            <a:r>
              <a:rPr lang="en-IN" b="1" dirty="0"/>
              <a:t>For each position</a:t>
            </a:r>
            <a:r>
              <a:rPr lang="en-IN" dirty="0"/>
              <a:t> </a:t>
            </a:r>
            <a:r>
              <a:rPr lang="en-IN" b="1" dirty="0"/>
              <a:t>k= 0 to n</a:t>
            </a:r>
            <a:r>
              <a:rPr lang="en-IN" dirty="0"/>
              <a:t>:</a:t>
            </a:r>
            <a:br>
              <a:rPr lang="en-IN" dirty="0"/>
            </a:br>
            <a:r>
              <a:rPr lang="en-IN" dirty="0"/>
              <a:t>For each state in Chart[k], perform one of the following operations:</a:t>
            </a:r>
          </a:p>
          <a:p>
            <a:pPr marL="514350" indent="-514350">
              <a:buNone/>
            </a:pPr>
            <a:r>
              <a:rPr lang="en-IN" b="1" dirty="0"/>
              <a:t>	</a:t>
            </a:r>
          </a:p>
          <a:p>
            <a:pPr marL="514350" indent="-514350">
              <a:buNone/>
            </a:pPr>
            <a:r>
              <a:rPr lang="en-IN" b="1" dirty="0"/>
              <a:t>	(a) Prediction:</a:t>
            </a:r>
            <a:endParaRPr lang="en-IN" dirty="0"/>
          </a:p>
          <a:p>
            <a:pPr marL="971550" lvl="1" indent="-514350">
              <a:buNone/>
            </a:pPr>
            <a:r>
              <a:rPr lang="en-IN" sz="3400" dirty="0"/>
              <a:t>	If the state is of the form</a:t>
            </a:r>
          </a:p>
          <a:p>
            <a:pPr marL="971550" lvl="1" indent="-514350">
              <a:buNone/>
            </a:pPr>
            <a:r>
              <a:rPr lang="en-IN" sz="3400" dirty="0"/>
              <a:t>					</a:t>
            </a:r>
            <a:r>
              <a:rPr lang="en-IN" sz="4000" dirty="0"/>
              <a:t>A→</a:t>
            </a:r>
            <a:r>
              <a:rPr lang="el-GR" sz="4000" dirty="0"/>
              <a:t>α</a:t>
            </a:r>
            <a:r>
              <a:rPr lang="el-GR" sz="4600" b="1" dirty="0"/>
              <a:t>∙</a:t>
            </a:r>
            <a:r>
              <a:rPr lang="en-IN" sz="4000" dirty="0"/>
              <a:t>B</a:t>
            </a:r>
            <a:r>
              <a:rPr lang="el-GR" sz="4000" dirty="0"/>
              <a:t>β,[</a:t>
            </a:r>
            <a:r>
              <a:rPr lang="en-IN" sz="4000" dirty="0" err="1"/>
              <a:t>i</a:t>
            </a:r>
            <a:r>
              <a:rPr lang="en-IN" sz="4000" dirty="0"/>
              <a:t>]</a:t>
            </a:r>
            <a:r>
              <a:rPr lang="en-IN" sz="3400" dirty="0"/>
              <a:t>,  </a:t>
            </a:r>
          </a:p>
          <a:p>
            <a:pPr marL="971550" lvl="1" indent="-514350">
              <a:buNone/>
            </a:pPr>
            <a:r>
              <a:rPr lang="en-IN" sz="3400" dirty="0"/>
              <a:t>where B is a non-terminal, then for every production B→ </a:t>
            </a:r>
            <a:r>
              <a:rPr lang="el-GR" sz="3400" dirty="0"/>
              <a:t>γ</a:t>
            </a:r>
            <a:r>
              <a:rPr lang="en-IN" sz="3400" dirty="0"/>
              <a:t> </a:t>
            </a:r>
            <a:r>
              <a:rPr lang="el-GR" sz="3400" dirty="0"/>
              <a:t>∈</a:t>
            </a:r>
            <a:r>
              <a:rPr lang="en-IN" sz="3400" dirty="0"/>
              <a:t> R, add the state</a:t>
            </a:r>
          </a:p>
          <a:p>
            <a:pPr marL="971550" lvl="1" indent="-514350">
              <a:buNone/>
            </a:pPr>
            <a:r>
              <a:rPr lang="en-IN" sz="3400" dirty="0"/>
              <a:t>					</a:t>
            </a:r>
            <a:r>
              <a:rPr lang="en-IN" sz="4500" dirty="0"/>
              <a:t>B→</a:t>
            </a:r>
            <a:r>
              <a:rPr lang="en-IN" sz="5800" b="1" dirty="0"/>
              <a:t>∙</a:t>
            </a:r>
            <a:r>
              <a:rPr lang="el-GR" sz="4500" dirty="0"/>
              <a:t>γ,</a:t>
            </a:r>
            <a:r>
              <a:rPr lang="en-IN" sz="4500" dirty="0"/>
              <a:t>	</a:t>
            </a:r>
            <a:r>
              <a:rPr lang="el-GR" sz="4500" dirty="0"/>
              <a:t>[</a:t>
            </a:r>
            <a:r>
              <a:rPr lang="en-IN" sz="4500" dirty="0"/>
              <a:t>k]</a:t>
            </a:r>
            <a:r>
              <a:rPr lang="en-IN" sz="3400" dirty="0"/>
              <a:t> </a:t>
            </a:r>
          </a:p>
          <a:p>
            <a:pPr marL="971550" lvl="1" indent="-514350">
              <a:buNone/>
            </a:pPr>
            <a:r>
              <a:rPr lang="en-IN" sz="3400" dirty="0"/>
              <a:t>to Chart[k]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4852"/>
            <a:ext cx="8229600" cy="6633148"/>
          </a:xfrm>
        </p:spPr>
        <p:txBody>
          <a:bodyPr>
            <a:normAutofit fontScale="70000" lnSpcReduction="20000"/>
          </a:bodyPr>
          <a:lstStyle/>
          <a:p>
            <a:pPr marL="514350" indent="-514350">
              <a:buNone/>
            </a:pPr>
            <a:r>
              <a:rPr lang="en-IN" sz="2900" b="1" dirty="0"/>
              <a:t>	(b) Scanning:</a:t>
            </a:r>
            <a:endParaRPr lang="en-IN" sz="2900" dirty="0"/>
          </a:p>
          <a:p>
            <a:pPr marL="971550" lvl="1" indent="-514350">
              <a:buNone/>
            </a:pPr>
            <a:r>
              <a:rPr lang="en-IN" sz="2900" dirty="0"/>
              <a:t>	If the state is of the form</a:t>
            </a:r>
          </a:p>
          <a:p>
            <a:pPr marL="971550" lvl="1" indent="-514350">
              <a:buNone/>
            </a:pPr>
            <a:r>
              <a:rPr lang="en-IN" sz="2900" dirty="0"/>
              <a:t>				A→</a:t>
            </a:r>
            <a:r>
              <a:rPr lang="el-GR" sz="2900" dirty="0"/>
              <a:t>α</a:t>
            </a:r>
            <a:r>
              <a:rPr lang="el-GR" sz="4000" b="1" dirty="0"/>
              <a:t>∙</a:t>
            </a:r>
            <a:r>
              <a:rPr lang="en-IN" sz="2900" dirty="0"/>
              <a:t>a</a:t>
            </a:r>
            <a:r>
              <a:rPr lang="el-GR" sz="2900" dirty="0"/>
              <a:t>β,</a:t>
            </a:r>
            <a:r>
              <a:rPr lang="en-IN" sz="2900" dirty="0"/>
              <a:t>	</a:t>
            </a:r>
            <a:r>
              <a:rPr lang="el-GR" sz="2900" dirty="0"/>
              <a:t>[</a:t>
            </a:r>
            <a:r>
              <a:rPr lang="en-IN" sz="2900" dirty="0" err="1"/>
              <a:t>i</a:t>
            </a:r>
            <a:r>
              <a:rPr lang="en-IN" sz="2900" dirty="0"/>
              <a:t>]	</a:t>
            </a:r>
          </a:p>
          <a:p>
            <a:pPr marL="971550" lvl="1" indent="-514350">
              <a:buNone/>
            </a:pPr>
            <a:r>
              <a:rPr lang="en-IN" sz="2900" dirty="0"/>
              <a:t>where a∈</a:t>
            </a:r>
            <a:r>
              <a:rPr lang="el-GR" sz="2900" dirty="0"/>
              <a:t>Σ </a:t>
            </a:r>
            <a:r>
              <a:rPr lang="en-IN" sz="2900" dirty="0"/>
              <a:t>and the next input symbol is w</a:t>
            </a:r>
            <a:r>
              <a:rPr lang="en-IN" sz="1800" dirty="0"/>
              <a:t>k+1</a:t>
            </a:r>
            <a:r>
              <a:rPr lang="en-IN" sz="2900" dirty="0"/>
              <a:t>=a, then add the state</a:t>
            </a:r>
          </a:p>
          <a:p>
            <a:pPr marL="971550" lvl="1" indent="-514350">
              <a:buNone/>
            </a:pPr>
            <a:r>
              <a:rPr lang="en-IN" sz="2900" dirty="0"/>
              <a:t>				A→</a:t>
            </a:r>
            <a:r>
              <a:rPr lang="el-GR" sz="2900" dirty="0"/>
              <a:t>α</a:t>
            </a:r>
            <a:r>
              <a:rPr lang="en-IN" sz="2900" dirty="0"/>
              <a:t>a</a:t>
            </a:r>
            <a:r>
              <a:rPr lang="en-IN" sz="4000" b="1" dirty="0"/>
              <a:t>∙</a:t>
            </a:r>
            <a:r>
              <a:rPr lang="el-GR" sz="2900" dirty="0"/>
              <a:t>β,</a:t>
            </a:r>
            <a:r>
              <a:rPr lang="en-IN" sz="2900" dirty="0"/>
              <a:t>	</a:t>
            </a:r>
            <a:r>
              <a:rPr lang="el-GR" sz="2900" dirty="0"/>
              <a:t>[</a:t>
            </a:r>
            <a:r>
              <a:rPr lang="en-IN" sz="2900" dirty="0" err="1"/>
              <a:t>i</a:t>
            </a:r>
            <a:r>
              <a:rPr lang="en-IN" sz="2900" dirty="0"/>
              <a:t>]</a:t>
            </a:r>
          </a:p>
          <a:p>
            <a:pPr marL="971550" lvl="1" indent="-514350">
              <a:buNone/>
            </a:pPr>
            <a:r>
              <a:rPr lang="en-IN" sz="2900" dirty="0"/>
              <a:t>	 to Chart[k+1].</a:t>
            </a:r>
          </a:p>
          <a:p>
            <a:pPr marL="514350" indent="-514350">
              <a:buNone/>
            </a:pPr>
            <a:r>
              <a:rPr lang="en-IN" sz="2900" b="1" dirty="0"/>
              <a:t>	(c) Completion:</a:t>
            </a:r>
            <a:endParaRPr lang="en-IN" sz="2900" dirty="0"/>
          </a:p>
          <a:p>
            <a:pPr marL="971550" lvl="1" indent="-514350">
              <a:buNone/>
            </a:pPr>
            <a:r>
              <a:rPr lang="en-IN" sz="2900" dirty="0"/>
              <a:t>	If the state is of the form</a:t>
            </a:r>
          </a:p>
          <a:p>
            <a:pPr marL="971550" lvl="1" indent="-514350">
              <a:buNone/>
            </a:pPr>
            <a:r>
              <a:rPr lang="en-IN" sz="2900" dirty="0"/>
              <a:t>					B→</a:t>
            </a:r>
            <a:r>
              <a:rPr lang="el-GR" sz="2900" dirty="0"/>
              <a:t>γ</a:t>
            </a:r>
            <a:r>
              <a:rPr lang="el-GR" sz="4600" b="1" dirty="0"/>
              <a:t>∙</a:t>
            </a:r>
            <a:r>
              <a:rPr lang="el-GR" sz="2900" dirty="0"/>
              <a:t>,</a:t>
            </a:r>
            <a:r>
              <a:rPr lang="en-IN" sz="2900" dirty="0"/>
              <a:t>	</a:t>
            </a:r>
            <a:r>
              <a:rPr lang="el-GR" sz="2900" dirty="0"/>
              <a:t>[</a:t>
            </a:r>
            <a:r>
              <a:rPr lang="en-IN" sz="2900" dirty="0"/>
              <a:t>j] </a:t>
            </a:r>
          </a:p>
          <a:p>
            <a:pPr marL="971550" lvl="1" indent="-514350">
              <a:buNone/>
            </a:pPr>
            <a:r>
              <a:rPr lang="en-IN" sz="2900" dirty="0"/>
              <a:t>	then for each state in Chart[j] of the form</a:t>
            </a:r>
          </a:p>
          <a:p>
            <a:pPr marL="971550" lvl="1" indent="-514350">
              <a:buNone/>
            </a:pPr>
            <a:r>
              <a:rPr lang="en-IN" sz="2900" dirty="0"/>
              <a:t>					A→</a:t>
            </a:r>
            <a:r>
              <a:rPr lang="el-GR" sz="2900" dirty="0"/>
              <a:t>α</a:t>
            </a:r>
            <a:r>
              <a:rPr lang="el-GR" sz="3600" b="1" dirty="0"/>
              <a:t>∙</a:t>
            </a:r>
            <a:r>
              <a:rPr lang="en-IN" sz="2900" dirty="0"/>
              <a:t>B</a:t>
            </a:r>
            <a:r>
              <a:rPr lang="el-GR" sz="2900" dirty="0"/>
              <a:t>β,</a:t>
            </a:r>
            <a:r>
              <a:rPr lang="en-IN" sz="2900" dirty="0"/>
              <a:t> </a:t>
            </a:r>
            <a:r>
              <a:rPr lang="el-GR" sz="2900" dirty="0"/>
              <a:t>[</a:t>
            </a:r>
            <a:r>
              <a:rPr lang="en-IN" sz="2900" dirty="0" err="1"/>
              <a:t>i</a:t>
            </a:r>
            <a:r>
              <a:rPr lang="en-IN" sz="2900" dirty="0"/>
              <a:t>] </a:t>
            </a:r>
          </a:p>
          <a:p>
            <a:pPr marL="971550" lvl="1" indent="-514350">
              <a:buNone/>
            </a:pPr>
            <a:r>
              <a:rPr lang="en-IN" sz="2900" dirty="0"/>
              <a:t>	add the state</a:t>
            </a:r>
          </a:p>
          <a:p>
            <a:pPr marL="971550" lvl="1" indent="-514350">
              <a:buNone/>
            </a:pPr>
            <a:r>
              <a:rPr lang="en-IN" sz="2900" dirty="0"/>
              <a:t>					A→</a:t>
            </a:r>
            <a:r>
              <a:rPr lang="el-GR" sz="2900" dirty="0"/>
              <a:t>α</a:t>
            </a:r>
            <a:r>
              <a:rPr lang="en-IN" sz="2900" dirty="0"/>
              <a:t>B</a:t>
            </a:r>
            <a:r>
              <a:rPr lang="en-IN" sz="3600" b="1" dirty="0"/>
              <a:t>∙</a:t>
            </a:r>
            <a:r>
              <a:rPr lang="el-GR" sz="2900" dirty="0"/>
              <a:t>β,</a:t>
            </a:r>
            <a:r>
              <a:rPr lang="en-IN" sz="2900" dirty="0"/>
              <a:t> </a:t>
            </a:r>
            <a:r>
              <a:rPr lang="el-GR" sz="2900" dirty="0"/>
              <a:t>[</a:t>
            </a:r>
            <a:r>
              <a:rPr lang="en-IN" sz="2900" dirty="0" err="1"/>
              <a:t>i</a:t>
            </a:r>
            <a:r>
              <a:rPr lang="en-IN" sz="2900" dirty="0"/>
              <a:t>]  </a:t>
            </a:r>
          </a:p>
          <a:p>
            <a:pPr marL="971550" lvl="1" indent="-514350">
              <a:buNone/>
            </a:pPr>
            <a:r>
              <a:rPr lang="en-IN" sz="2900" dirty="0"/>
              <a:t>	to Chart[k]</a:t>
            </a:r>
          </a:p>
          <a:p>
            <a:pPr marL="571500" indent="-514350">
              <a:buFont typeface="+mj-lt"/>
              <a:buAutoNum type="arabicPeriod" startAt="3"/>
            </a:pPr>
            <a:r>
              <a:rPr lang="en-IN" sz="2900" b="1" dirty="0"/>
              <a:t>Acceptance Condition</a:t>
            </a:r>
            <a:endParaRPr lang="en-IN" sz="2900" dirty="0"/>
          </a:p>
          <a:p>
            <a:pPr marL="971550" lvl="1" indent="-514350">
              <a:buNone/>
            </a:pPr>
            <a:r>
              <a:rPr lang="en-IN" sz="2900" dirty="0"/>
              <a:t>	If Chart[n] contains the state</a:t>
            </a:r>
          </a:p>
          <a:p>
            <a:pPr marL="971550" lvl="1" indent="-514350">
              <a:buNone/>
            </a:pPr>
            <a:r>
              <a:rPr lang="en-IN" sz="2900" dirty="0"/>
              <a:t>				S′→S</a:t>
            </a:r>
            <a:r>
              <a:rPr lang="en-IN" sz="4100" b="1" dirty="0"/>
              <a:t>∙</a:t>
            </a:r>
            <a:r>
              <a:rPr lang="en-IN" sz="2900" dirty="0"/>
              <a:t>, [0] </a:t>
            </a:r>
          </a:p>
          <a:p>
            <a:pPr marL="971550" lvl="1" indent="-514350">
              <a:buNone/>
            </a:pPr>
            <a:r>
              <a:rPr lang="en-IN" sz="2900" dirty="0"/>
              <a:t>	then </a:t>
            </a:r>
            <a:r>
              <a:rPr lang="en-IN" sz="2900" b="1" dirty="0"/>
              <a:t>accept</a:t>
            </a:r>
            <a:r>
              <a:rPr lang="en-IN" sz="2900" dirty="0"/>
              <a:t> the string; otherwise, </a:t>
            </a:r>
            <a:r>
              <a:rPr lang="en-IN" sz="2900" b="1" dirty="0"/>
              <a:t>reject</a:t>
            </a:r>
            <a:endParaRPr lang="en-IN" sz="2900" dirty="0"/>
          </a:p>
          <a:p>
            <a:endParaRPr lang="en-IN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79684"/>
            <a:ext cx="8229600" cy="914401"/>
          </a:xfrm>
        </p:spPr>
        <p:txBody>
          <a:bodyPr>
            <a:normAutofit fontScale="90000"/>
          </a:bodyPr>
          <a:lstStyle/>
          <a:p>
            <a:r>
              <a:rPr lang="en-IN" dirty="0"/>
              <a:t>PARTIAL PARSING (or) SHALLOW PARSING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/>
            <a:r>
              <a:rPr lang="en-IN" dirty="0"/>
              <a:t>Many language-processing tasks simply do not require complex, complete parse trees for all inputs. </a:t>
            </a:r>
          </a:p>
          <a:p>
            <a:pPr algn="just"/>
            <a:r>
              <a:rPr lang="en-IN" dirty="0"/>
              <a:t>For these tasks, a </a:t>
            </a:r>
            <a:r>
              <a:rPr lang="en-IN" b="1" dirty="0"/>
              <a:t>partial parse, or shallow parse, of input sentences </a:t>
            </a:r>
            <a:r>
              <a:rPr lang="en-IN" dirty="0"/>
              <a:t>may be sufficient.</a:t>
            </a:r>
          </a:p>
          <a:p>
            <a:pPr algn="just"/>
            <a:r>
              <a:rPr lang="en-IN" dirty="0"/>
              <a:t>For example, </a:t>
            </a:r>
            <a:r>
              <a:rPr lang="en-IN" b="1" dirty="0"/>
              <a:t>information extraction systems generally do not extract </a:t>
            </a:r>
            <a:r>
              <a:rPr lang="en-IN" i="1" dirty="0"/>
              <a:t>all the possible information from a text; they simply identify and classify the </a:t>
            </a:r>
            <a:r>
              <a:rPr lang="en-IN" dirty="0"/>
              <a:t>segments in a text that are likely to contain valuable information</a:t>
            </a:r>
            <a:endParaRPr lang="en-IN" b="1" dirty="0"/>
          </a:p>
          <a:p>
            <a:endParaRPr lang="en-IN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4614"/>
          </a:xfrm>
        </p:spPr>
        <p:txBody>
          <a:bodyPr/>
          <a:lstStyle/>
          <a:p>
            <a:r>
              <a:rPr lang="en-IN" dirty="0"/>
              <a:t>Shallow Parsing (Chunking)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IN" b="1" dirty="0"/>
              <a:t>What is Shallow Parsing?</a:t>
            </a:r>
          </a:p>
          <a:p>
            <a:pPr algn="just">
              <a:buNone/>
            </a:pPr>
            <a:r>
              <a:rPr lang="en-IN" dirty="0"/>
              <a:t>	Also known as </a:t>
            </a:r>
            <a:r>
              <a:rPr lang="en-IN" b="1" dirty="0"/>
              <a:t>chunking</a:t>
            </a:r>
            <a:r>
              <a:rPr lang="en-IN" dirty="0"/>
              <a:t>, it identifies syntactic constituents (e.g., noun phrases, verb phrases) </a:t>
            </a:r>
            <a:r>
              <a:rPr lang="en-IN" b="1" dirty="0"/>
              <a:t>without building full parse trees</a:t>
            </a:r>
            <a:r>
              <a:rPr lang="en-IN" dirty="0"/>
              <a:t>.</a:t>
            </a:r>
          </a:p>
          <a:p>
            <a:pPr algn="just"/>
            <a:r>
              <a:rPr lang="en-IN" dirty="0"/>
              <a:t>It segments sentences into </a:t>
            </a:r>
            <a:r>
              <a:rPr lang="en-IN" b="1" dirty="0"/>
              <a:t>shallow structures</a:t>
            </a:r>
            <a:r>
              <a:rPr lang="en-IN" dirty="0"/>
              <a:t> like:</a:t>
            </a:r>
          </a:p>
          <a:p>
            <a:pPr lvl="1" algn="just"/>
            <a:r>
              <a:rPr lang="en-IN" b="1" dirty="0"/>
              <a:t>NP</a:t>
            </a:r>
            <a:r>
              <a:rPr lang="en-IN" dirty="0"/>
              <a:t>: Noun Phrases</a:t>
            </a:r>
          </a:p>
          <a:p>
            <a:pPr lvl="1" algn="just"/>
            <a:r>
              <a:rPr lang="en-IN" b="1" dirty="0"/>
              <a:t>VP</a:t>
            </a:r>
            <a:r>
              <a:rPr lang="en-IN" dirty="0"/>
              <a:t>: Verb Phrases</a:t>
            </a:r>
          </a:p>
          <a:p>
            <a:pPr lvl="1" algn="just"/>
            <a:r>
              <a:rPr lang="en-IN" b="1" dirty="0"/>
              <a:t>PP</a:t>
            </a:r>
            <a:r>
              <a:rPr lang="en-IN" dirty="0"/>
              <a:t>: Prepositional Phrases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39646"/>
            <a:ext cx="8229600" cy="5586517"/>
          </a:xfrm>
        </p:spPr>
        <p:txBody>
          <a:bodyPr/>
          <a:lstStyle/>
          <a:p>
            <a:pPr>
              <a:buNone/>
            </a:pPr>
            <a:r>
              <a:rPr lang="en-IN" b="1" dirty="0"/>
              <a:t>Example</a:t>
            </a:r>
          </a:p>
          <a:p>
            <a:r>
              <a:rPr lang="en-IN" dirty="0"/>
              <a:t>Sentence:</a:t>
            </a:r>
          </a:p>
          <a:p>
            <a:pPr>
              <a:buNone/>
            </a:pPr>
            <a:r>
              <a:rPr lang="en-IN" dirty="0"/>
              <a:t/>
            </a:r>
            <a:br>
              <a:rPr lang="en-IN" dirty="0"/>
            </a:br>
            <a:r>
              <a:rPr lang="en-IN" dirty="0"/>
              <a:t>"The morning flight from Denver has arrived“</a:t>
            </a:r>
          </a:p>
          <a:p>
            <a:pPr>
              <a:buNone/>
            </a:pPr>
            <a:endParaRPr lang="en-IN" dirty="0"/>
          </a:p>
          <a:p>
            <a:r>
              <a:rPr lang="en-IN" dirty="0"/>
              <a:t>Chunked Output:</a:t>
            </a:r>
          </a:p>
          <a:p>
            <a:pPr>
              <a:buNone/>
            </a:pPr>
            <a:r>
              <a:rPr lang="en-IN" dirty="0"/>
              <a:t/>
            </a:r>
            <a:br>
              <a:rPr lang="en-IN" dirty="0"/>
            </a:br>
            <a:r>
              <a:rPr lang="en-IN" dirty="0"/>
              <a:t>[</a:t>
            </a:r>
            <a:r>
              <a:rPr lang="en-IN" i="1" dirty="0"/>
              <a:t>NP The morning flight] [PP f] [NP Denver] [VP has arrived.] </a:t>
            </a:r>
            <a:r>
              <a:rPr lang="en-IN" i="1" dirty="0" err="1"/>
              <a:t>rom</a:t>
            </a:r>
            <a:endParaRPr lang="en-IN" dirty="0"/>
          </a:p>
          <a:p>
            <a:endParaRPr lang="en-IN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34715"/>
            <a:ext cx="8229600" cy="5691449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IN" b="1" dirty="0"/>
              <a:t>Finite-State Rule-Based Chunking:</a:t>
            </a:r>
          </a:p>
          <a:p>
            <a:pPr>
              <a:buNone/>
            </a:pPr>
            <a:endParaRPr lang="en-IN" b="1" dirty="0"/>
          </a:p>
          <a:p>
            <a:pPr algn="just"/>
            <a:r>
              <a:rPr lang="en-IN" dirty="0"/>
              <a:t>In finite-state rule-based chunking, a set of rules is hand-crafted to capture the phrases of interest for any particular application.</a:t>
            </a:r>
          </a:p>
          <a:p>
            <a:pPr algn="just"/>
            <a:r>
              <a:rPr lang="en-IN" dirty="0"/>
              <a:t>In most rule-based systems, chunking proceeds from left-to-right, finding the longest matching chunk from the beginning of the sentence, it then continues with the first word after the end of the previously recognized chunk.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83703" y="185249"/>
            <a:ext cx="5826566" cy="47307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Rectangle 4"/>
          <p:cNvSpPr/>
          <p:nvPr/>
        </p:nvSpPr>
        <p:spPr>
          <a:xfrm>
            <a:off x="314794" y="4916042"/>
            <a:ext cx="8634334" cy="17851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IN" sz="2200" b="1" dirty="0">
                <a:latin typeface="Times New Roman" pitchFamily="18" charset="0"/>
                <a:cs typeface="Times New Roman" pitchFamily="18" charset="0"/>
              </a:rPr>
              <a:t>Fig. </a:t>
            </a:r>
            <a:r>
              <a:rPr lang="en-IN" sz="2200" dirty="0">
                <a:latin typeface="Times New Roman" pitchFamily="18" charset="0"/>
                <a:cs typeface="Times New Roman" pitchFamily="18" charset="0"/>
              </a:rPr>
              <a:t>shows Chunk-based partial parsing via a set of finite-set cascades. </a:t>
            </a:r>
          </a:p>
          <a:p>
            <a:pPr algn="just"/>
            <a:r>
              <a:rPr lang="en-IN" sz="2200" b="1" dirty="0">
                <a:latin typeface="Times New Roman" pitchFamily="18" charset="0"/>
                <a:cs typeface="Times New Roman" pitchFamily="18" charset="0"/>
              </a:rPr>
              <a:t>FST1</a:t>
            </a:r>
            <a:r>
              <a:rPr lang="en-IN" sz="2200" dirty="0">
                <a:latin typeface="Times New Roman" pitchFamily="18" charset="0"/>
                <a:cs typeface="Times New Roman" pitchFamily="18" charset="0"/>
              </a:rPr>
              <a:t> transduces from part-of-speech tags to base noun phrases and verb phrases. </a:t>
            </a:r>
          </a:p>
          <a:p>
            <a:pPr algn="just"/>
            <a:r>
              <a:rPr lang="en-IN" sz="2200" b="1" dirty="0">
                <a:latin typeface="Times New Roman" pitchFamily="18" charset="0"/>
                <a:cs typeface="Times New Roman" pitchFamily="18" charset="0"/>
              </a:rPr>
              <a:t>FST2</a:t>
            </a:r>
            <a:r>
              <a:rPr lang="en-IN" sz="2200" dirty="0">
                <a:latin typeface="Times New Roman" pitchFamily="18" charset="0"/>
                <a:cs typeface="Times New Roman" pitchFamily="18" charset="0"/>
              </a:rPr>
              <a:t> finds prepositional phrases. </a:t>
            </a:r>
          </a:p>
          <a:p>
            <a:pPr algn="just"/>
            <a:r>
              <a:rPr lang="en-IN" sz="2200" dirty="0">
                <a:latin typeface="Times New Roman" pitchFamily="18" charset="0"/>
                <a:cs typeface="Times New Roman" pitchFamily="18" charset="0"/>
              </a:rPr>
              <a:t>Finally, </a:t>
            </a:r>
            <a:r>
              <a:rPr lang="en-IN" sz="2200" b="1" dirty="0">
                <a:latin typeface="Times New Roman" pitchFamily="18" charset="0"/>
                <a:cs typeface="Times New Roman" pitchFamily="18" charset="0"/>
              </a:rPr>
              <a:t>FST3 </a:t>
            </a:r>
            <a:r>
              <a:rPr lang="en-IN" sz="2200" dirty="0">
                <a:latin typeface="Times New Roman" pitchFamily="18" charset="0"/>
                <a:cs typeface="Times New Roman" pitchFamily="18" charset="0"/>
              </a:rPr>
              <a:t>detects sentences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Named Entity Recognition (NER)</a:t>
            </a:r>
          </a:p>
          <a:p>
            <a:r>
              <a:rPr lang="en-IN" dirty="0"/>
              <a:t>Question Answering</a:t>
            </a:r>
          </a:p>
          <a:p>
            <a:r>
              <a:rPr lang="en-IN" dirty="0"/>
              <a:t>Relation Extraction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Probabilistic Context-Free Grammars (PCFG)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What is a PCFG?</a:t>
            </a:r>
          </a:p>
          <a:p>
            <a:r>
              <a:rPr lang="en-IN" dirty="0"/>
              <a:t>A </a:t>
            </a:r>
            <a:r>
              <a:rPr lang="en-IN" b="1" dirty="0"/>
              <a:t>Probabilistic CFG</a:t>
            </a:r>
            <a:r>
              <a:rPr lang="en-IN" dirty="0"/>
              <a:t> augments a regular CFG with </a:t>
            </a:r>
            <a:r>
              <a:rPr lang="en-IN" b="1" dirty="0"/>
              <a:t>probabilities on production rules</a:t>
            </a:r>
            <a:r>
              <a:rPr lang="en-IN" dirty="0"/>
              <a:t>.</a:t>
            </a:r>
          </a:p>
          <a:p>
            <a:r>
              <a:rPr lang="en-IN" dirty="0"/>
              <a:t>Rule probabilities are learned from annotated corpora like </a:t>
            </a:r>
            <a:r>
              <a:rPr lang="en-IN" b="1" dirty="0"/>
              <a:t>treebanks</a:t>
            </a:r>
            <a:r>
              <a:rPr lang="en-IN" dirty="0"/>
              <a:t>.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Rule Format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S → NP VP       [1.0]  </a:t>
            </a:r>
          </a:p>
          <a:p>
            <a:r>
              <a:rPr lang="en-IN" dirty="0"/>
              <a:t>NP → Det N      [0.5]  </a:t>
            </a:r>
          </a:p>
          <a:p>
            <a:r>
              <a:rPr lang="en-IN" dirty="0"/>
              <a:t>VP → V NP       [0.7]  </a:t>
            </a:r>
          </a:p>
          <a:p>
            <a:r>
              <a:rPr lang="en-IN" dirty="0"/>
              <a:t>Det → the       [0.8]  </a:t>
            </a:r>
          </a:p>
          <a:p>
            <a:r>
              <a:rPr lang="en-IN" dirty="0"/>
              <a:t>N → dog         [0.6]  </a:t>
            </a:r>
          </a:p>
          <a:p>
            <a:r>
              <a:rPr lang="en-IN" dirty="0"/>
              <a:t>V → chased      [0.9]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Parse Tree Probability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N" dirty="0"/>
              <a:t>For the sentence: </a:t>
            </a:r>
            <a:r>
              <a:rPr lang="en-IN" b="1" dirty="0"/>
              <a:t>"The dog chased the cat"</a:t>
            </a:r>
            <a:r>
              <a:rPr lang="en-IN" dirty="0"/>
              <a:t/>
            </a:r>
            <a:br>
              <a:rPr lang="en-IN" dirty="0"/>
            </a:br>
            <a:r>
              <a:rPr lang="en-IN" dirty="0"/>
              <a:t>If rules used are:</a:t>
            </a:r>
          </a:p>
          <a:p>
            <a:r>
              <a:rPr lang="en-IN" dirty="0"/>
              <a:t>S → NP VP [1.0]</a:t>
            </a:r>
          </a:p>
          <a:p>
            <a:r>
              <a:rPr lang="en-IN" dirty="0"/>
              <a:t>NP → Det N [0.5]</a:t>
            </a:r>
          </a:p>
          <a:p>
            <a:r>
              <a:rPr lang="en-IN" dirty="0"/>
              <a:t>VP → V NP [0.7]</a:t>
            </a:r>
          </a:p>
          <a:p>
            <a:r>
              <a:rPr lang="en-IN" dirty="0"/>
              <a:t>Det → the [0.8]</a:t>
            </a:r>
          </a:p>
          <a:p>
            <a:r>
              <a:rPr lang="en-IN" dirty="0"/>
              <a:t>N → dog [0.6]</a:t>
            </a:r>
          </a:p>
          <a:p>
            <a:r>
              <a:rPr lang="en-IN" dirty="0"/>
              <a:t>V → chased [0.9]</a:t>
            </a:r>
          </a:p>
          <a:p>
            <a:r>
              <a:rPr lang="en-IN" dirty="0"/>
              <a:t>N → cat [0.5]</a:t>
            </a:r>
          </a:p>
          <a:p>
            <a:pPr>
              <a:buNone/>
            </a:pPr>
            <a:r>
              <a:rPr lang="en-IN" b="1" dirty="0"/>
              <a:t>Probability of this tree</a:t>
            </a:r>
            <a:r>
              <a:rPr lang="en-IN" dirty="0"/>
              <a:t>:</a:t>
            </a:r>
            <a:br>
              <a:rPr lang="en-IN" dirty="0"/>
            </a:br>
            <a:r>
              <a:rPr lang="en-IN" dirty="0"/>
              <a:t>1.0 × 0.5 × 0.7 × 0.8 × 0.6 × 0.9 × 0.5 = </a:t>
            </a:r>
            <a:r>
              <a:rPr lang="en-IN" b="1" dirty="0"/>
              <a:t>0.0756</a:t>
            </a:r>
            <a:endParaRPr lang="en-IN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2375" y="308450"/>
            <a:ext cx="7165181" cy="6400799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00200" y="457200"/>
            <a:ext cx="6122193" cy="5476874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16413" y="562049"/>
            <a:ext cx="6693693" cy="4810124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Why Use PCFG?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IN" dirty="0"/>
              <a:t>Helps </a:t>
            </a:r>
            <a:r>
              <a:rPr lang="en-IN" b="1" dirty="0"/>
              <a:t>resolve ambiguity</a:t>
            </a:r>
            <a:r>
              <a:rPr lang="en-IN" dirty="0"/>
              <a:t> by preferring more likely parses.</a:t>
            </a:r>
          </a:p>
          <a:p>
            <a:pPr algn="just"/>
            <a:r>
              <a:rPr lang="en-IN" dirty="0"/>
              <a:t>Crucial in </a:t>
            </a:r>
            <a:r>
              <a:rPr lang="en-IN" b="1" dirty="0"/>
              <a:t>speech recognition</a:t>
            </a:r>
            <a:r>
              <a:rPr lang="en-IN" dirty="0"/>
              <a:t>, </a:t>
            </a:r>
            <a:r>
              <a:rPr lang="en-IN" b="1" dirty="0"/>
              <a:t>machine translation</a:t>
            </a:r>
            <a:r>
              <a:rPr lang="en-IN" dirty="0"/>
              <a:t>, and </a:t>
            </a:r>
            <a:r>
              <a:rPr lang="en-IN" b="1" dirty="0"/>
              <a:t>syntax-based QA</a:t>
            </a:r>
            <a:r>
              <a:rPr lang="en-IN" dirty="0"/>
              <a:t>.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Probabilistic CYK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IN" b="1" dirty="0"/>
              <a:t>💡 Recap: CYK</a:t>
            </a:r>
          </a:p>
          <a:p>
            <a:r>
              <a:rPr lang="en-IN" dirty="0"/>
              <a:t>A </a:t>
            </a:r>
            <a:r>
              <a:rPr lang="en-IN" b="1" dirty="0"/>
              <a:t>bottom-up dynamic programming</a:t>
            </a:r>
            <a:r>
              <a:rPr lang="en-IN" dirty="0"/>
              <a:t> parser.</a:t>
            </a:r>
          </a:p>
          <a:p>
            <a:r>
              <a:rPr lang="en-IN" dirty="0"/>
              <a:t>Works only with </a:t>
            </a:r>
            <a:r>
              <a:rPr lang="en-IN" b="1" dirty="0"/>
              <a:t>CNF (Chomsky Normal Form)</a:t>
            </a:r>
            <a:r>
              <a:rPr lang="en-IN" dirty="0"/>
              <a:t> grammars.</a:t>
            </a:r>
          </a:p>
          <a:p>
            <a:pPr>
              <a:buNone/>
            </a:pPr>
            <a:r>
              <a:rPr lang="en-IN" b="1" dirty="0"/>
              <a:t>📐 Probabilistic CYK</a:t>
            </a:r>
          </a:p>
          <a:p>
            <a:pPr algn="just"/>
            <a:r>
              <a:rPr lang="en-IN" dirty="0"/>
              <a:t>Extends CYK to use PCFG rule probabilities.</a:t>
            </a:r>
          </a:p>
          <a:p>
            <a:pPr algn="just"/>
            <a:r>
              <a:rPr lang="en-IN" dirty="0"/>
              <a:t>Stores </a:t>
            </a:r>
            <a:r>
              <a:rPr lang="en-IN" b="1" dirty="0"/>
              <a:t>best scores</a:t>
            </a:r>
            <a:r>
              <a:rPr lang="en-IN" dirty="0"/>
              <a:t> in each cell instead of just possible non-terminals.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69626"/>
            <a:ext cx="8229600" cy="5556537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IN" b="1" dirty="0"/>
              <a:t>Input:</a:t>
            </a:r>
            <a:r>
              <a:rPr lang="en-IN" dirty="0"/>
              <a:t> A sentence w</a:t>
            </a:r>
            <a:r>
              <a:rPr lang="en-IN" sz="2000" dirty="0"/>
              <a:t>1</a:t>
            </a:r>
            <a:r>
              <a:rPr lang="en-IN" dirty="0"/>
              <a:t> w</a:t>
            </a:r>
            <a:r>
              <a:rPr lang="en-IN" sz="2000" dirty="0"/>
              <a:t>2</a:t>
            </a:r>
            <a:r>
              <a:rPr lang="en-IN" dirty="0"/>
              <a:t>…</a:t>
            </a:r>
            <a:r>
              <a:rPr lang="en-IN" dirty="0" err="1"/>
              <a:t>w</a:t>
            </a:r>
            <a:r>
              <a:rPr lang="en-IN" sz="2000" dirty="0" err="1"/>
              <a:t>n</a:t>
            </a:r>
            <a:r>
              <a:rPr lang="en-IN" dirty="0"/>
              <a:t> (length n)</a:t>
            </a:r>
          </a:p>
          <a:p>
            <a:pPr>
              <a:buNone/>
            </a:pPr>
            <a:endParaRPr lang="en-IN" b="1" dirty="0"/>
          </a:p>
          <a:p>
            <a:pPr>
              <a:buNone/>
            </a:pPr>
            <a:r>
              <a:rPr lang="en-IN" b="1" dirty="0"/>
              <a:t>Grammar:</a:t>
            </a:r>
            <a:r>
              <a:rPr lang="en-IN" dirty="0"/>
              <a:t> A </a:t>
            </a:r>
            <a:r>
              <a:rPr lang="en-IN" b="1" dirty="0"/>
              <a:t>PCFG</a:t>
            </a:r>
            <a:r>
              <a:rPr lang="en-IN" dirty="0"/>
              <a:t> in CNF, where every rule is of the form:</a:t>
            </a:r>
          </a:p>
          <a:p>
            <a:r>
              <a:rPr lang="en-IN" dirty="0"/>
              <a:t>A→BC with probability P(A→BC)</a:t>
            </a:r>
          </a:p>
          <a:p>
            <a:r>
              <a:rPr lang="en-IN" dirty="0"/>
              <a:t>A→w with probability P(A→w)</a:t>
            </a:r>
          </a:p>
          <a:p>
            <a:pPr>
              <a:buNone/>
            </a:pPr>
            <a:endParaRPr lang="en-IN" b="1" dirty="0"/>
          </a:p>
          <a:p>
            <a:pPr>
              <a:buNone/>
            </a:pPr>
            <a:r>
              <a:rPr lang="en-IN" b="1" dirty="0"/>
              <a:t>Output:</a:t>
            </a:r>
            <a:r>
              <a:rPr lang="en-IN" dirty="0"/>
              <a:t> The </a:t>
            </a:r>
            <a:r>
              <a:rPr lang="en-IN" b="1" dirty="0"/>
              <a:t>most probable parse tree</a:t>
            </a:r>
            <a:r>
              <a:rPr lang="en-IN" dirty="0"/>
              <a:t> (or all parse trees with their probabilities)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49508"/>
            <a:ext cx="8229600" cy="5376655"/>
          </a:xfrm>
        </p:spPr>
        <p:txBody>
          <a:bodyPr/>
          <a:lstStyle/>
          <a:p>
            <a:r>
              <a:rPr lang="en-IN" dirty="0"/>
              <a:t>Dynamic Programming Table</a:t>
            </a:r>
          </a:p>
          <a:p>
            <a:pPr>
              <a:buNone/>
            </a:pPr>
            <a:r>
              <a:rPr lang="en-IN" dirty="0"/>
              <a:t>		We use a </a:t>
            </a:r>
            <a:r>
              <a:rPr lang="en-IN" b="1" dirty="0"/>
              <a:t>triangular chart</a:t>
            </a:r>
            <a:r>
              <a:rPr lang="en-IN" dirty="0"/>
              <a:t> (like in CKY):</a:t>
            </a:r>
          </a:p>
          <a:p>
            <a:pPr>
              <a:buNone/>
            </a:pPr>
            <a:r>
              <a:rPr lang="en-IN" dirty="0"/>
              <a:t>	P[</a:t>
            </a:r>
            <a:r>
              <a:rPr lang="en-IN" dirty="0" err="1"/>
              <a:t>i</a:t>
            </a:r>
            <a:r>
              <a:rPr lang="en-IN" dirty="0"/>
              <a:t>][j][A] = maximum probability that non-terminal A generates the substring from position </a:t>
            </a:r>
            <a:r>
              <a:rPr lang="en-IN" dirty="0" err="1"/>
              <a:t>i</a:t>
            </a:r>
            <a:r>
              <a:rPr lang="en-IN" dirty="0"/>
              <a:t> to j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94595"/>
          </a:xfrm>
        </p:spPr>
        <p:txBody>
          <a:bodyPr>
            <a:normAutofit/>
          </a:bodyPr>
          <a:lstStyle/>
          <a:p>
            <a:r>
              <a:rPr lang="en-IN" b="1" dirty="0"/>
              <a:t>Algorithm Steps (Probabilistic CYK)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69233"/>
            <a:ext cx="8229600" cy="5688767"/>
          </a:xfrm>
        </p:spPr>
        <p:txBody>
          <a:bodyPr>
            <a:normAutofit fontScale="850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IN" dirty="0"/>
              <a:t>Initialization</a:t>
            </a:r>
          </a:p>
          <a:p>
            <a:pPr marL="514350" indent="-514350">
              <a:buNone/>
            </a:pPr>
            <a:r>
              <a:rPr lang="en-IN" dirty="0"/>
              <a:t>	For each word </a:t>
            </a:r>
            <a:r>
              <a:rPr lang="en-IN" dirty="0" err="1"/>
              <a:t>w</a:t>
            </a:r>
            <a:r>
              <a:rPr lang="en-IN" sz="2000" dirty="0" err="1"/>
              <a:t>i</a:t>
            </a:r>
            <a:r>
              <a:rPr lang="en-IN" dirty="0"/>
              <a:t>​ (</a:t>
            </a:r>
            <a:r>
              <a:rPr lang="en-IN" dirty="0" err="1"/>
              <a:t>i</a:t>
            </a:r>
            <a:r>
              <a:rPr lang="en-IN" dirty="0"/>
              <a:t> = 1 to n):	</a:t>
            </a:r>
          </a:p>
          <a:p>
            <a:pPr marL="514350" indent="-514350">
              <a:buNone/>
            </a:pPr>
            <a:r>
              <a:rPr lang="en-IN" dirty="0"/>
              <a:t>							P[</a:t>
            </a:r>
            <a:r>
              <a:rPr lang="en-IN" dirty="0" err="1"/>
              <a:t>i</a:t>
            </a:r>
            <a:r>
              <a:rPr lang="en-IN" dirty="0"/>
              <a:t>][</a:t>
            </a:r>
            <a:r>
              <a:rPr lang="en-IN" dirty="0" err="1"/>
              <a:t>i</a:t>
            </a:r>
            <a:r>
              <a:rPr lang="en-IN" dirty="0"/>
              <a:t>][A]=P(</a:t>
            </a:r>
            <a:r>
              <a:rPr lang="en-IN" dirty="0" err="1"/>
              <a:t>A→w</a:t>
            </a:r>
            <a:r>
              <a:rPr lang="en-IN" sz="2000" dirty="0" err="1"/>
              <a:t>i</a:t>
            </a:r>
            <a:r>
              <a:rPr lang="en-IN" dirty="0"/>
              <a:t>​)</a:t>
            </a:r>
          </a:p>
          <a:p>
            <a:pPr marL="514350" indent="-514350">
              <a:buNone/>
            </a:pPr>
            <a:r>
              <a:rPr lang="en-IN" dirty="0"/>
              <a:t>	for all rules </a:t>
            </a:r>
            <a:r>
              <a:rPr lang="en-IN" dirty="0" err="1"/>
              <a:t>A→w</a:t>
            </a:r>
            <a:r>
              <a:rPr lang="en-IN" sz="2400" dirty="0" err="1"/>
              <a:t>i</a:t>
            </a:r>
            <a:r>
              <a:rPr lang="en-IN" dirty="0"/>
              <a:t> in the grammar</a:t>
            </a:r>
          </a:p>
          <a:p>
            <a:pPr marL="514350" indent="-514350">
              <a:buFont typeface="+mj-lt"/>
              <a:buAutoNum type="arabicPeriod" startAt="2"/>
            </a:pPr>
            <a:r>
              <a:rPr lang="en-IN" dirty="0"/>
              <a:t>Filling the Table</a:t>
            </a:r>
          </a:p>
          <a:p>
            <a:pPr marL="514350" indent="-514350">
              <a:buNone/>
            </a:pPr>
            <a:r>
              <a:rPr lang="en-IN" dirty="0"/>
              <a:t>	For span length l=2 to n</a:t>
            </a:r>
          </a:p>
          <a:p>
            <a:pPr marL="514350" indent="-514350">
              <a:buNone/>
            </a:pPr>
            <a:r>
              <a:rPr lang="en-IN" dirty="0"/>
              <a:t>	For start index </a:t>
            </a:r>
            <a:r>
              <a:rPr lang="en-IN" dirty="0" err="1"/>
              <a:t>i</a:t>
            </a:r>
            <a:r>
              <a:rPr lang="en-IN" dirty="0"/>
              <a:t>=1 to n−l+1:</a:t>
            </a:r>
          </a:p>
          <a:p>
            <a:pPr marL="514350" indent="-514350">
              <a:buNone/>
            </a:pPr>
            <a:r>
              <a:rPr lang="en-IN" dirty="0"/>
              <a:t>	Let j=i+l−1 (end of span)</a:t>
            </a:r>
          </a:p>
          <a:p>
            <a:pPr marL="514350" indent="-514350">
              <a:buNone/>
            </a:pPr>
            <a:r>
              <a:rPr lang="en-IN" dirty="0"/>
              <a:t>	For split point k=</a:t>
            </a:r>
            <a:r>
              <a:rPr lang="en-IN" dirty="0" err="1"/>
              <a:t>i</a:t>
            </a:r>
            <a:r>
              <a:rPr lang="en-IN" dirty="0"/>
              <a:t> to j-</a:t>
            </a:r>
            <a:r>
              <a:rPr lang="en-IN" dirty="0" err="1"/>
              <a:t>i</a:t>
            </a:r>
            <a:r>
              <a:rPr lang="en-IN" dirty="0"/>
              <a:t>:</a:t>
            </a:r>
          </a:p>
          <a:p>
            <a:pPr marL="514350" indent="-514350">
              <a:buNone/>
            </a:pPr>
            <a:r>
              <a:rPr lang="en-IN" dirty="0"/>
              <a:t>	For all rules A →BC in grammar:</a:t>
            </a:r>
          </a:p>
          <a:p>
            <a:pPr marL="514350" indent="-514350">
              <a:buNone/>
            </a:pPr>
            <a:r>
              <a:rPr lang="en-IN" dirty="0"/>
              <a:t>				 	</a:t>
            </a:r>
            <a:r>
              <a:rPr lang="en-IN" dirty="0" err="1"/>
              <a:t>prob</a:t>
            </a:r>
            <a:r>
              <a:rPr lang="en-IN" dirty="0"/>
              <a:t>=P(A→BC)×P[</a:t>
            </a:r>
            <a:r>
              <a:rPr lang="en-IN" dirty="0" err="1"/>
              <a:t>i</a:t>
            </a:r>
            <a:r>
              <a:rPr lang="en-IN" dirty="0"/>
              <a:t>][k][B]×P[k+1][j][C]</a:t>
            </a:r>
          </a:p>
          <a:p>
            <a:pPr marL="514350" indent="-514350">
              <a:buNone/>
            </a:pPr>
            <a:r>
              <a:rPr lang="en-IN" dirty="0"/>
              <a:t>	 If prob&gt;P[</a:t>
            </a:r>
            <a:r>
              <a:rPr lang="en-IN" dirty="0" err="1"/>
              <a:t>i</a:t>
            </a:r>
            <a:r>
              <a:rPr lang="en-IN" dirty="0"/>
              <a:t>][j][A], update:</a:t>
            </a:r>
          </a:p>
          <a:p>
            <a:pPr marL="514350" indent="-514350">
              <a:buNone/>
            </a:pPr>
            <a:r>
              <a:rPr lang="en-IN" dirty="0"/>
              <a:t>				 	P[</a:t>
            </a:r>
            <a:r>
              <a:rPr lang="en-IN" dirty="0" err="1"/>
              <a:t>i</a:t>
            </a:r>
            <a:r>
              <a:rPr lang="en-IN" dirty="0"/>
              <a:t>][j][A]=prob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24656"/>
            <a:ext cx="8229600" cy="5601507"/>
          </a:xfrm>
        </p:spPr>
        <p:txBody>
          <a:bodyPr/>
          <a:lstStyle/>
          <a:p>
            <a:pPr marL="514350" indent="-514350">
              <a:buFont typeface="+mj-lt"/>
              <a:buAutoNum type="arabicPeriod" startAt="3"/>
            </a:pPr>
            <a:r>
              <a:rPr lang="en-IN" dirty="0"/>
              <a:t>Termination</a:t>
            </a:r>
          </a:p>
          <a:p>
            <a:pPr marL="514350" indent="-514350" algn="just">
              <a:buNone/>
            </a:pPr>
            <a:r>
              <a:rPr lang="en-IN" dirty="0"/>
              <a:t>	The probability of the most probable parse of the whole sentence is:</a:t>
            </a:r>
          </a:p>
          <a:p>
            <a:pPr marL="514350" indent="-514350" algn="just">
              <a:buNone/>
            </a:pPr>
            <a:r>
              <a:rPr lang="en-IN" dirty="0"/>
              <a:t>					</a:t>
            </a:r>
            <a:r>
              <a:rPr lang="en-IN" i="1" dirty="0"/>
              <a:t>P[1][n][S]</a:t>
            </a:r>
          </a:p>
          <a:p>
            <a:pPr algn="just">
              <a:buNone/>
            </a:pPr>
            <a:r>
              <a:rPr lang="en-IN" dirty="0"/>
              <a:t>		where S is the start symbol</a:t>
            </a:r>
          </a:p>
          <a:p>
            <a:pPr marL="514350" indent="-514350" algn="just">
              <a:buFont typeface="+mj-lt"/>
              <a:buAutoNum type="arabicPeriod" startAt="4"/>
            </a:pPr>
            <a:r>
              <a:rPr lang="en-IN" dirty="0"/>
              <a:t>Backpointers (optional)</a:t>
            </a:r>
          </a:p>
          <a:p>
            <a:pPr marL="514350" indent="-514350" algn="just">
              <a:buNone/>
            </a:pPr>
            <a:r>
              <a:rPr lang="en-IN" dirty="0"/>
              <a:t>	To reconstruct the parse tree, store which rule and split gave the best probability.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4614"/>
          </a:xfrm>
        </p:spPr>
        <p:txBody>
          <a:bodyPr/>
          <a:lstStyle/>
          <a:p>
            <a:r>
              <a:rPr lang="en-IN" dirty="0"/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39252"/>
            <a:ext cx="8229600" cy="929391"/>
          </a:xfrm>
        </p:spPr>
        <p:txBody>
          <a:bodyPr>
            <a:normAutofit/>
          </a:bodyPr>
          <a:lstStyle/>
          <a:p>
            <a:pPr algn="ctr">
              <a:buNone/>
            </a:pPr>
            <a:r>
              <a:rPr lang="en-IN" dirty="0"/>
              <a:t>“she eats a fish”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22156" y="1708879"/>
            <a:ext cx="6777661" cy="44239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96197" y="424488"/>
            <a:ext cx="6887962" cy="53167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7199" y="497485"/>
            <a:ext cx="8407075" cy="47340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7200" y="571500"/>
            <a:ext cx="8229600" cy="508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16964" y="581025"/>
            <a:ext cx="7246548" cy="36911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7298" y="74950"/>
            <a:ext cx="8436462" cy="4986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29442" y="4896970"/>
            <a:ext cx="7710018" cy="17961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53194" y="244657"/>
            <a:ext cx="8708268" cy="47874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Probabilistic Lexicalized Context-Free Grammars (PLCFGs)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t>Plain CFGs do not handle lexical dependencies.</a:t>
            </a:r>
          </a:p>
          <a:p>
            <a:pPr algn="just"/>
            <a:r>
              <a:t>PCFGs capture structure but ignore word-level relationships.</a:t>
            </a:r>
          </a:p>
          <a:p>
            <a:pPr algn="just"/>
            <a:r>
              <a:t>Need: A model that integrates syntax and words → Lexicalized CFGs.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Recap: CFG and PCFG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t>CFG = (N, Σ, R, S): Non-terminals, terminals, rules, start symbol.</a:t>
            </a:r>
          </a:p>
          <a:p>
            <a:pPr algn="just"/>
            <a:r>
              <a:t>PCFG: Adds probabilities to rules.</a:t>
            </a:r>
          </a:p>
          <a:p>
            <a:pPr algn="just"/>
            <a:r>
              <a:t>Limitation: Cannot distinguish 'eat pizza' vs. 'eat ideas'.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Lexicalization Idea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Each non-terminal is annotated with its head word.</a:t>
            </a:r>
          </a:p>
          <a:p>
            <a:r>
              <a:t>Example: NP(dog), VP(ate), PP(with).</a:t>
            </a:r>
          </a:p>
          <a:p>
            <a:r>
              <a:t>Head word determines syntactic role of phrase.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Head Rules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3889948" cy="4525963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t>Head percolation rules: which child supplies the head word.</a:t>
            </a:r>
          </a:p>
          <a:p>
            <a:pPr algn="just">
              <a:buNone/>
            </a:pPr>
            <a:r>
              <a:t>Examples:</a:t>
            </a:r>
          </a:p>
          <a:p>
            <a:pPr algn="just"/>
            <a:r>
              <a:t>NP → Det N → Head = Noun</a:t>
            </a:r>
          </a:p>
          <a:p>
            <a:pPr algn="just"/>
            <a:r>
              <a:t>VP → Verb NP → Head = Verb</a:t>
            </a:r>
          </a:p>
          <a:p>
            <a:pPr algn="just"/>
            <a:r>
              <a:t>PP → P NP → Head = P</a:t>
            </a:r>
          </a:p>
        </p:txBody>
      </p:sp>
      <p:pic>
        <p:nvPicPr>
          <p:cNvPr id="4" name="Picture 3" descr="head_rules_exam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600200"/>
            <a:ext cx="4572000" cy="3095971"/>
          </a:xfrm>
          <a:prstGeom prst="rect">
            <a:avLst/>
          </a:prstGeom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Probabilistic Lexicalized CFG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Extension of PCFG: non-terminals paired with head words.</a:t>
            </a:r>
          </a:p>
          <a:p>
            <a:r>
              <a:t>Rules conditioned on parent + head word.</a:t>
            </a:r>
          </a:p>
          <a:p>
            <a:r>
              <a:t>Example: VP(ate) → V(ate) NP(pizza).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Probabilistic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Two-stage generation:</a:t>
            </a:r>
          </a:p>
          <a:p>
            <a:r>
              <a:t>1. Choose rule structure given parent + head.</a:t>
            </a:r>
          </a:p>
          <a:p>
            <a:r>
              <a:t>2. Choose head words for children.</a:t>
            </a:r>
          </a:p>
          <a:p>
            <a:r>
              <a:t>Overall probability = product of both.</a:t>
            </a:r>
          </a:p>
        </p:txBody>
      </p:sp>
      <p:pic>
        <p:nvPicPr>
          <p:cNvPr id="4" name="Picture 3" descr="prob_model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0424" y="3989650"/>
            <a:ext cx="5516376" cy="2849118"/>
          </a:xfrm>
          <a:prstGeom prst="rect">
            <a:avLst/>
          </a:prstGeom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Worked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4069830" cy="4525963"/>
          </a:xfrm>
        </p:spPr>
        <p:txBody>
          <a:bodyPr>
            <a:normAutofit fontScale="92500" lnSpcReduction="20000"/>
          </a:bodyPr>
          <a:lstStyle/>
          <a:p>
            <a:pPr>
              <a:buNone/>
            </a:pPr>
            <a:r>
              <a:t>Sentence: 'The dog chased the cat'.</a:t>
            </a:r>
          </a:p>
          <a:p>
            <a:r>
              <a:t>VP(chased) → V(chased) NP(cat).</a:t>
            </a:r>
          </a:p>
          <a:p>
            <a:r>
              <a:t>NP(dog) → Det(the) N(dog).</a:t>
            </a:r>
          </a:p>
          <a:p>
            <a:r>
              <a:t>NP(cat) → Det(the) N(cat).</a:t>
            </a:r>
          </a:p>
          <a:p>
            <a:r>
              <a:t>Probability computed step-by-step.</a:t>
            </a:r>
          </a:p>
        </p:txBody>
      </p:sp>
      <p:pic>
        <p:nvPicPr>
          <p:cNvPr id="4" name="Picture 3" descr="worked_example_tr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1806315"/>
            <a:ext cx="4572000" cy="3095971"/>
          </a:xfrm>
          <a:prstGeom prst="rect">
            <a:avLst/>
          </a:prstGeom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rmAutofit fontScale="90000"/>
          </a:bodyPr>
          <a:lstStyle/>
          <a:p>
            <a:r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54419"/>
            <a:ext cx="8229600" cy="2418367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t>Captures lexical dependencies (verb-object, noun-preposition).</a:t>
            </a:r>
          </a:p>
          <a:p>
            <a:pPr algn="just"/>
            <a:r>
              <a:t>Improves disambiguation in parsing.</a:t>
            </a:r>
          </a:p>
          <a:p>
            <a:pPr algn="just"/>
            <a:r>
              <a:t>Handles attachment ambiguities (e.g., 'saw the man with a telescope').</a:t>
            </a:r>
          </a:p>
        </p:txBody>
      </p:sp>
      <p:pic>
        <p:nvPicPr>
          <p:cNvPr id="4" name="Picture 3" descr="ambiguity_attachment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5503" y="3372786"/>
            <a:ext cx="5146817" cy="3485213"/>
          </a:xfrm>
          <a:prstGeom prst="rect">
            <a:avLst/>
          </a:prstGeom>
        </p:spPr>
      </p:pic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2310" y="1615190"/>
            <a:ext cx="3530184" cy="4525963"/>
          </a:xfrm>
        </p:spPr>
        <p:txBody>
          <a:bodyPr>
            <a:normAutofit fontScale="85000" lnSpcReduction="10000"/>
          </a:bodyPr>
          <a:lstStyle/>
          <a:p>
            <a:pPr algn="just"/>
            <a:r>
              <a:t>Data sparsity: many head-dependent pairs.</a:t>
            </a:r>
          </a:p>
          <a:p>
            <a:pPr algn="just"/>
            <a:r>
              <a:t>Large grammar size: explosion of rules.</a:t>
            </a:r>
          </a:p>
          <a:p>
            <a:pPr algn="just"/>
            <a:r>
              <a:t>Estimation requires large treebanks (e.g., Penn Treebank).</a:t>
            </a:r>
          </a:p>
          <a:p>
            <a:pPr algn="just"/>
            <a:r>
              <a:t>Parsing complexity increases.</a:t>
            </a:r>
          </a:p>
        </p:txBody>
      </p:sp>
      <p:pic>
        <p:nvPicPr>
          <p:cNvPr id="4" name="Picture 3" descr="ambiguity_attachment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7384" y="1237755"/>
            <a:ext cx="5156616" cy="4888407"/>
          </a:xfrm>
          <a:prstGeom prst="rect">
            <a:avLst/>
          </a:prstGeom>
        </p:spPr>
      </p:pic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Feature Structures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5088093"/>
          </a:xfrm>
        </p:spPr>
        <p:txBody>
          <a:bodyPr>
            <a:normAutofit fontScale="70000" lnSpcReduction="20000"/>
          </a:bodyPr>
          <a:lstStyle/>
          <a:p>
            <a:r>
              <a:rPr lang="en-IN" b="1" dirty="0"/>
              <a:t>What Are Feature Structures?</a:t>
            </a:r>
          </a:p>
          <a:p>
            <a:pPr algn="just">
              <a:buNone/>
            </a:pPr>
            <a:r>
              <a:rPr lang="en-IN" b="1" dirty="0"/>
              <a:t>	</a:t>
            </a:r>
            <a:r>
              <a:rPr lang="en-IN" dirty="0"/>
              <a:t>Feature structures are formal representations used to describe linguistic elements (like words or phrases) using </a:t>
            </a:r>
            <a:r>
              <a:rPr lang="en-IN" b="1" dirty="0"/>
              <a:t>attribute-value pairs</a:t>
            </a:r>
            <a:r>
              <a:rPr lang="en-IN" dirty="0"/>
              <a:t>. Think of them as annotated boxes that hold grammatical information.</a:t>
            </a:r>
          </a:p>
          <a:p>
            <a:r>
              <a:rPr lang="en-IN" dirty="0"/>
              <a:t>Used to encode:</a:t>
            </a:r>
          </a:p>
          <a:p>
            <a:pPr lvl="1"/>
            <a:r>
              <a:rPr lang="en-IN" dirty="0"/>
              <a:t>Category (CAT)</a:t>
            </a:r>
          </a:p>
          <a:p>
            <a:pPr lvl="1"/>
            <a:r>
              <a:rPr lang="en-IN" dirty="0"/>
              <a:t>Number (NUM)</a:t>
            </a:r>
          </a:p>
          <a:p>
            <a:pPr lvl="1"/>
            <a:r>
              <a:rPr lang="en-IN" dirty="0"/>
              <a:t>Gender, Case, Tense, etc.</a:t>
            </a:r>
          </a:p>
          <a:p>
            <a:r>
              <a:rPr lang="en-IN" dirty="0"/>
              <a:t>Example:</a:t>
            </a:r>
          </a:p>
          <a:p>
            <a:pPr>
              <a:buNone/>
            </a:pPr>
            <a:r>
              <a:rPr lang="pt-BR" dirty="0"/>
              <a:t>		[CAT: NP, NUM: PLURAL, CASE: NOM]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dirty="0"/>
              <a:t>		[ CATEGORY: noun NUMBER: singular GENDER: masculine ]</a:t>
            </a:r>
          </a:p>
          <a:p>
            <a:pPr>
              <a:buNone/>
            </a:pPr>
            <a:r>
              <a:rPr lang="en-IN" dirty="0"/>
              <a:t>			- This structure tells us the word is a singular masculine noun.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Why Use Them?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IN" dirty="0"/>
              <a:t>They allow </a:t>
            </a:r>
            <a:r>
              <a:rPr lang="en-IN" b="1" dirty="0"/>
              <a:t>fine-grained control</a:t>
            </a:r>
            <a:r>
              <a:rPr lang="en-IN" dirty="0"/>
              <a:t> over grammar rules.</a:t>
            </a:r>
          </a:p>
          <a:p>
            <a:pPr algn="just"/>
            <a:r>
              <a:rPr lang="en-IN" dirty="0"/>
              <a:t>Help avoid overgeneration (e.g., preventing "this flights" or "disappeared a flight").</a:t>
            </a:r>
          </a:p>
          <a:p>
            <a:pPr algn="just"/>
            <a:r>
              <a:rPr lang="en-IN" dirty="0"/>
              <a:t>Enable </a:t>
            </a:r>
            <a:r>
              <a:rPr lang="en-IN" b="1" dirty="0"/>
              <a:t>constraint-based parsing</a:t>
            </a:r>
            <a:r>
              <a:rPr lang="en-IN" dirty="0"/>
              <a:t>: only valid combinations of features are allowed.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9489" y="274638"/>
            <a:ext cx="7652479" cy="1143000"/>
          </a:xfrm>
        </p:spPr>
        <p:txBody>
          <a:bodyPr/>
          <a:lstStyle/>
          <a:p>
            <a:r>
              <a:rPr lang="en-IN" dirty="0"/>
              <a:t>Types of Feature Structures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779489" y="1648918"/>
          <a:ext cx="7907311" cy="43835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2139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6445172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927535"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Description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927535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Flat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Simple attribute-value pairs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927535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Nested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Attributes can contain other feature structures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160095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Typed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Each structure has a type (e.g., noun, verb) with constraints on attributes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04851"/>
          </a:xfrm>
        </p:spPr>
        <p:txBody>
          <a:bodyPr>
            <a:normAutofit fontScale="90000"/>
          </a:bodyPr>
          <a:lstStyle/>
          <a:p>
            <a:r>
              <a:rPr lang="en-IN" dirty="0"/>
              <a:t>Unification of Feature Structures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89351"/>
            <a:ext cx="8431967" cy="5643797"/>
          </a:xfrm>
        </p:spPr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en-IN" b="1" dirty="0"/>
              <a:t>What is Unification?</a:t>
            </a:r>
          </a:p>
          <a:p>
            <a:pPr algn="just"/>
            <a:r>
              <a:rPr lang="en-IN" dirty="0"/>
              <a:t>An operation that </a:t>
            </a:r>
            <a:r>
              <a:rPr lang="en-IN" b="1" dirty="0"/>
              <a:t>merges</a:t>
            </a:r>
            <a:r>
              <a:rPr lang="en-IN" dirty="0"/>
              <a:t> two compatible feature structures.</a:t>
            </a:r>
          </a:p>
          <a:p>
            <a:pPr algn="just"/>
            <a:r>
              <a:rPr lang="en-IN" dirty="0"/>
              <a:t>It </a:t>
            </a:r>
            <a:r>
              <a:rPr lang="en-IN" b="1" dirty="0"/>
              <a:t>fails</a:t>
            </a:r>
            <a:r>
              <a:rPr lang="en-IN" dirty="0"/>
              <a:t> if the same attribute has </a:t>
            </a:r>
            <a:r>
              <a:rPr lang="en-IN" b="1" dirty="0"/>
              <a:t>conflicting values</a:t>
            </a:r>
            <a:r>
              <a:rPr lang="en-IN" dirty="0"/>
              <a:t>.</a:t>
            </a:r>
          </a:p>
          <a:p>
            <a:pPr algn="just">
              <a:buNone/>
            </a:pPr>
            <a:r>
              <a:rPr lang="en-IN" b="1" dirty="0"/>
              <a:t>Example</a:t>
            </a:r>
          </a:p>
          <a:p>
            <a:pPr>
              <a:buNone/>
            </a:pPr>
            <a:r>
              <a:rPr lang="en-IN" dirty="0"/>
              <a:t>		A: [CATEGORY: noun, NUMBER: singular] </a:t>
            </a:r>
          </a:p>
          <a:p>
            <a:pPr>
              <a:buNone/>
            </a:pPr>
            <a:r>
              <a:rPr lang="en-IN" dirty="0"/>
              <a:t>		B: [CATEGORY: noun, GENDER: feminine] </a:t>
            </a:r>
          </a:p>
          <a:p>
            <a:pPr>
              <a:buNone/>
            </a:pPr>
            <a:r>
              <a:rPr lang="en-IN" dirty="0"/>
              <a:t>Unified: [CATEGORY: noun, NUMBER: singular, GENDER: feminine]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dirty="0"/>
              <a:t>*Failure cases: </a:t>
            </a:r>
          </a:p>
          <a:p>
            <a:pPr>
              <a:buNone/>
            </a:pPr>
            <a:r>
              <a:rPr lang="en-IN" dirty="0"/>
              <a:t>A: [NUMBER: singular] </a:t>
            </a:r>
          </a:p>
          <a:p>
            <a:pPr>
              <a:buNone/>
            </a:pPr>
            <a:r>
              <a:rPr lang="en-IN" dirty="0"/>
              <a:t>B: [NUMBER: plural] </a:t>
            </a:r>
          </a:p>
          <a:p>
            <a:pPr>
              <a:buNone/>
            </a:pPr>
            <a:r>
              <a:rPr lang="en-IN" dirty="0"/>
              <a:t>Unification fails due to conflicting values.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Advanced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7952282" cy="4525963"/>
          </a:xfrm>
        </p:spPr>
        <p:txBody>
          <a:bodyPr>
            <a:normAutofit lnSpcReduction="10000"/>
          </a:bodyPr>
          <a:lstStyle/>
          <a:p>
            <a:pPr algn="just"/>
            <a:r>
              <a:rPr lang="en-IN" b="1" dirty="0"/>
              <a:t>Disjunction</a:t>
            </a:r>
            <a:r>
              <a:rPr lang="en-IN" dirty="0"/>
              <a:t>: [PERS: 1 ∨ 2] → matches either person</a:t>
            </a:r>
          </a:p>
          <a:p>
            <a:pPr algn="just"/>
            <a:r>
              <a:rPr lang="en-IN" b="1" dirty="0"/>
              <a:t>Negation</a:t>
            </a:r>
            <a:r>
              <a:rPr lang="en-IN" dirty="0"/>
              <a:t>: [PERS: ¬3] → excludes third person</a:t>
            </a:r>
          </a:p>
          <a:p>
            <a:pPr algn="just"/>
            <a:r>
              <a:rPr lang="en-IN" b="1" dirty="0"/>
              <a:t>List-valued features</a:t>
            </a:r>
            <a:r>
              <a:rPr lang="en-IN" dirty="0"/>
              <a:t>: [SUBCAT: &lt;NP, PP to&gt;] → ordered arguments</a:t>
            </a:r>
          </a:p>
          <a:p>
            <a:pPr algn="just"/>
            <a:r>
              <a:rPr lang="en-IN" b="1" dirty="0"/>
              <a:t>Set-valued features</a:t>
            </a:r>
            <a:r>
              <a:rPr lang="en-IN" dirty="0"/>
              <a:t>: [SUBCAT: {</a:t>
            </a:r>
            <a:r>
              <a:rPr lang="en-IN" dirty="0" err="1"/>
              <a:t>NPnom</a:t>
            </a:r>
            <a:r>
              <a:rPr lang="en-IN" dirty="0"/>
              <a:t>, </a:t>
            </a:r>
            <a:r>
              <a:rPr lang="en-IN" dirty="0" err="1"/>
              <a:t>NPacc</a:t>
            </a:r>
            <a:r>
              <a:rPr lang="en-IN" dirty="0"/>
              <a:t>, </a:t>
            </a:r>
            <a:r>
              <a:rPr lang="en-IN" dirty="0" err="1"/>
              <a:t>NPdat</a:t>
            </a:r>
            <a:r>
              <a:rPr lang="en-IN" dirty="0"/>
              <a:t>}] → unordered arguments (e.g., in German)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Unification-Based Grammars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Use unification as part of parsing process:</a:t>
            </a:r>
          </a:p>
          <a:p>
            <a:pPr lvl="1"/>
            <a:r>
              <a:rPr lang="en-IN" b="1" dirty="0"/>
              <a:t>HPSG</a:t>
            </a:r>
            <a:r>
              <a:rPr lang="en-IN" dirty="0"/>
              <a:t> (Head-Driven Phrase Structure Grammar)</a:t>
            </a:r>
          </a:p>
          <a:p>
            <a:pPr lvl="1"/>
            <a:r>
              <a:rPr lang="en-IN" b="1" dirty="0"/>
              <a:t>LFG</a:t>
            </a:r>
            <a:r>
              <a:rPr lang="en-IN" dirty="0"/>
              <a:t> (Lexical Functional Grammar)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IN" dirty="0"/>
              <a:t>Precise handling of grammatical agreement</a:t>
            </a:r>
          </a:p>
          <a:p>
            <a:pPr algn="just"/>
            <a:r>
              <a:rPr lang="en-IN" dirty="0"/>
              <a:t>Encodes syntax and semantics in one framework</a:t>
            </a:r>
          </a:p>
          <a:p>
            <a:pPr algn="just"/>
            <a:r>
              <a:rPr lang="en-IN" dirty="0"/>
              <a:t>Scalable to large grammars with rich linguistic info</a:t>
            </a:r>
          </a:p>
          <a:p>
            <a:pPr algn="just"/>
            <a:endParaRPr lang="en-IN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1237</TotalTime>
  <Words>2679</Words>
  <Application>Microsoft Office PowerPoint</Application>
  <PresentationFormat>On-screen Show (4:3)</PresentationFormat>
  <Paragraphs>516</Paragraphs>
  <Slides>96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96</vt:i4>
      </vt:variant>
    </vt:vector>
  </HeadingPairs>
  <TitlesOfParts>
    <vt:vector size="97" baseType="lpstr">
      <vt:lpstr>Office Theme</vt:lpstr>
      <vt:lpstr>UNIT III  SYNTACTIC ANALYSIS</vt:lpstr>
      <vt:lpstr>What is Syntactic Analysis?</vt:lpstr>
      <vt:lpstr>Goals of Syntactic Analysis</vt:lpstr>
      <vt:lpstr>What is a Grammar?</vt:lpstr>
      <vt:lpstr>What is a Context-Free Grammar (CFG)?</vt:lpstr>
      <vt:lpstr>Components of CFG</vt:lpstr>
      <vt:lpstr>Example CFG Rules</vt:lpstr>
      <vt:lpstr>Sentence Derivation –  "the dog chased a cat"</vt:lpstr>
      <vt:lpstr>Parse Tree (text-based drawing)</vt:lpstr>
      <vt:lpstr>Grammar Rules for English</vt:lpstr>
      <vt:lpstr>Types of Grammar Rules</vt:lpstr>
      <vt:lpstr>Phrase Structure Rules</vt:lpstr>
      <vt:lpstr>Example Sentence Parsing</vt:lpstr>
      <vt:lpstr>Subject-Verb Agreement</vt:lpstr>
      <vt:lpstr>Tense and Aspect Rules</vt:lpstr>
      <vt:lpstr>Word Order in English</vt:lpstr>
      <vt:lpstr>Parse Trees</vt:lpstr>
      <vt:lpstr>Leftmost and Rightmost Derivations</vt:lpstr>
      <vt:lpstr>Example Derivation</vt:lpstr>
      <vt:lpstr>Bracket Notation for Trees</vt:lpstr>
      <vt:lpstr>Why Parse Trees Matter</vt:lpstr>
      <vt:lpstr>Treebanks in NLP</vt:lpstr>
      <vt:lpstr>Treebank Example</vt:lpstr>
      <vt:lpstr>Parse Tree Example from Treebank</vt:lpstr>
      <vt:lpstr>Introduction to Normal Forms</vt:lpstr>
      <vt:lpstr>Why Use Normal Forms?</vt:lpstr>
      <vt:lpstr>Chomsky Normal Form (CNF)</vt:lpstr>
      <vt:lpstr>PowerPoint Presentation</vt:lpstr>
      <vt:lpstr>Steps to Convert CFG to CN</vt:lpstr>
      <vt:lpstr>Example: CNF Conversion</vt:lpstr>
      <vt:lpstr>What is Dependency Grammar?</vt:lpstr>
      <vt:lpstr>Fig. shows a sample dependency grammar parse, using the dependency formalism</vt:lpstr>
      <vt:lpstr>PowerPoint Presentation</vt:lpstr>
      <vt:lpstr>Benefits of Dependency Grammar</vt:lpstr>
      <vt:lpstr>What is Syntactic Parsing in NLP?</vt:lpstr>
      <vt:lpstr>Types of Parsing</vt:lpstr>
      <vt:lpstr>PowerPoint Presentation</vt:lpstr>
      <vt:lpstr>Types of ambiguity</vt:lpstr>
      <vt:lpstr>PowerPoint Presentation</vt:lpstr>
      <vt:lpstr>Dynamic Programming Parsing</vt:lpstr>
      <vt:lpstr>CYK Algorithm Introduction</vt:lpstr>
      <vt:lpstr>CYK   ALGORITHM</vt:lpstr>
      <vt:lpstr>PowerPoint Presentation</vt:lpstr>
      <vt:lpstr>PowerPoint Presentation</vt:lpstr>
      <vt:lpstr>PowerPoint Presentation</vt:lpstr>
      <vt:lpstr>Input_string=”abbb”</vt:lpstr>
      <vt:lpstr>“baaba”</vt:lpstr>
      <vt:lpstr>PowerPoint Presentation</vt:lpstr>
      <vt:lpstr>PowerPoint Presentation</vt:lpstr>
      <vt:lpstr>The Earley Parsing Algorithm</vt:lpstr>
      <vt:lpstr>PowerPoint Presentation</vt:lpstr>
      <vt:lpstr>PowerPoint Presentation</vt:lpstr>
      <vt:lpstr>Earley Parsing Algorithm steps</vt:lpstr>
      <vt:lpstr>PowerPoint Presentation</vt:lpstr>
      <vt:lpstr>PARTIAL PARSING (or) SHALLOW PARSING</vt:lpstr>
      <vt:lpstr>Shallow Parsing (Chunking)</vt:lpstr>
      <vt:lpstr>PowerPoint Presentation</vt:lpstr>
      <vt:lpstr>PowerPoint Presentation</vt:lpstr>
      <vt:lpstr>PowerPoint Presentation</vt:lpstr>
      <vt:lpstr>Applications</vt:lpstr>
      <vt:lpstr>Probabilistic Context-Free Grammars (PCFG)</vt:lpstr>
      <vt:lpstr>Rule Format</vt:lpstr>
      <vt:lpstr>Parse Tree Probability</vt:lpstr>
      <vt:lpstr>PowerPoint Presentation</vt:lpstr>
      <vt:lpstr>PowerPoint Presentation</vt:lpstr>
      <vt:lpstr>PowerPoint Presentation</vt:lpstr>
      <vt:lpstr>Why Use PCFG?</vt:lpstr>
      <vt:lpstr>Probabilistic CYK Algorithm</vt:lpstr>
      <vt:lpstr>PowerPoint Presentation</vt:lpstr>
      <vt:lpstr>PowerPoint Presentation</vt:lpstr>
      <vt:lpstr>Algorithm Steps (Probabilistic CYK)</vt:lpstr>
      <vt:lpstr>PowerPoint Presentation</vt:lpstr>
      <vt:lpstr>Example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Probabilistic Lexicalized Context-Free Grammars (PLCFGs)</vt:lpstr>
      <vt:lpstr>Motivation</vt:lpstr>
      <vt:lpstr>Recap: CFG and PCFG</vt:lpstr>
      <vt:lpstr>Lexicalization Idea</vt:lpstr>
      <vt:lpstr>Head Rules Example</vt:lpstr>
      <vt:lpstr>Probabilistic Lexicalized CFG</vt:lpstr>
      <vt:lpstr>Probabilistic Model</vt:lpstr>
      <vt:lpstr>Worked Example</vt:lpstr>
      <vt:lpstr>Advantages</vt:lpstr>
      <vt:lpstr>Challenges</vt:lpstr>
      <vt:lpstr>Feature Structures</vt:lpstr>
      <vt:lpstr>Why Use Them?</vt:lpstr>
      <vt:lpstr>Types of Feature Structures</vt:lpstr>
      <vt:lpstr>Unification of Feature Structures</vt:lpstr>
      <vt:lpstr>Advanced Features</vt:lpstr>
      <vt:lpstr>Unification-Based Grammars</vt:lpstr>
      <vt:lpstr>Advantages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Syntactic Analysis in NLP</dc:title>
  <dc:subject/>
  <dc:creator/>
  <cp:keywords/>
  <dc:description>generated using python-pptx</dc:description>
  <cp:lastModifiedBy>Windows User</cp:lastModifiedBy>
  <cp:revision>213</cp:revision>
  <dcterms:created xsi:type="dcterms:W3CDTF">2013-01-27T09:14:16Z</dcterms:created>
  <dcterms:modified xsi:type="dcterms:W3CDTF">2026-02-20T05:39:16Z</dcterms:modified>
  <cp:category/>
</cp:coreProperties>
</file>