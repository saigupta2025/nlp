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85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pacy.io/" TargetMode="External"/><Relationship Id="rId2" Type="http://schemas.openxmlformats.org/officeDocument/2006/relationships/hyperlink" Target="https://www.nltk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ocs/transformers/en/index" TargetMode="External"/><Relationship Id="rId4" Type="http://schemas.openxmlformats.org/officeDocument/2006/relationships/hyperlink" Target="https://scikit-learn.org/stable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NLP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886200"/>
            <a:ext cx="8077200" cy="17526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Course Instructor : E. Hanuman Sai Gupta</a:t>
            </a:r>
          </a:p>
          <a:p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Department of Computer Science &amp; Engineering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68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610600" cy="5410200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Natural Language Processing :  PE- III</a:t>
            </a:r>
          </a:p>
          <a:p>
            <a:pPr>
              <a:buFont typeface="Wingdings" pitchFamily="2" charset="2"/>
              <a:buChar char="Ø"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Sem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 VI (CSE&amp; CST)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Course Code: V23CSTPE10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Total Modules : 05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Course Outcomes: </a:t>
            </a:r>
          </a:p>
          <a:p>
            <a:pPr algn="just"/>
            <a:r>
              <a:rPr lang="en-US" sz="2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CO1: Explain the fundamental concepts of language modeling, English morphology, and spelling correction techniques using regular expressions and finite-state automata.	</a:t>
            </a:r>
            <a:endParaRPr lang="en-US" sz="2600" i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/>
            <a:r>
              <a:rPr lang="en-US" sz="26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CO2</a:t>
            </a:r>
            <a:r>
              <a:rPr lang="en-US" sz="2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: Apply N-gram models and part-of-speech tagging techniques using stochastic and rule-based approaches to perform word-level language analysis.	</a:t>
            </a:r>
            <a:endParaRPr lang="en-US" sz="2600" i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/>
            <a:r>
              <a:rPr lang="en-US" sz="26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CO3</a:t>
            </a:r>
            <a:r>
              <a:rPr lang="en-US" sz="2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: Construct syntactic parsers using context-free grammars and apply probabilistic parsing methods such as PCFG and CYK for syntactic analysis.	</a:t>
            </a:r>
            <a:endParaRPr lang="en-US" sz="2600" i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/>
            <a:endParaRPr lang="en-US" sz="2600" i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/>
            <a:r>
              <a:rPr lang="en-US" sz="26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CO4</a:t>
            </a:r>
            <a:r>
              <a:rPr lang="en-US" sz="2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: Describe semantic representation techniques and methods for word sense disambiguation using supervise and knowledge-based approaches.	</a:t>
            </a:r>
            <a:endParaRPr lang="en-US" sz="2600" i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/>
            <a:endParaRPr lang="en-US" sz="2600" i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/>
            <a:r>
              <a:rPr lang="en-US" sz="26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CO5</a:t>
            </a:r>
            <a:r>
              <a:rPr lang="en-US" sz="2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: Apply discourse segmentation and reference resolution techniques using lexical resources like </a:t>
            </a:r>
            <a:r>
              <a:rPr lang="en-US" sz="2600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WordNet</a:t>
            </a:r>
            <a:r>
              <a:rPr lang="en-US" sz="26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, Penn Treebank, and Brill‘s Tagger for effective text analysis.	</a:t>
            </a:r>
          </a:p>
        </p:txBody>
      </p:sp>
    </p:spTree>
    <p:extLst>
      <p:ext uri="{BB962C8B-B14F-4D97-AF65-F5344CB8AC3E}">
        <p14:creationId xmlns:p14="http://schemas.microsoft.com/office/powerpoint/2010/main" val="320527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accent4">
                    <a:lumMod val="50000"/>
                  </a:schemeClr>
                </a:solidFill>
                <a:latin typeface="Calibri (time)"/>
              </a:rPr>
              <a:t>NLP- Syllabus</a:t>
            </a:r>
            <a:endParaRPr lang="en-US" sz="3200" dirty="0">
              <a:solidFill>
                <a:schemeClr val="accent4">
                  <a:lumMod val="50000"/>
                </a:schemeClr>
              </a:solidFill>
              <a:latin typeface="Calibri (time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150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UNIT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Introduction: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Origins and challenges of NLP – Language Modeling: Grammar-based LM, Statistical LM – Regular Expressions, Finite-State Automata – English Morphology, Transducers for lexicon and rules, Tokenization, Detecting and Correcting Spelling Errors, Minimum Edit Distance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UNIT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II:Word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Level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Analysis: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Unsmoothed N-grams, Evaluating N-grams, Smoothing, Interpolation and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Backoff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– Word Classes, Part- of-Speech Tagging, Rule-based, Stochastic and Transformation-based tagging, Issues in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PoS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tagging – Hidden Markov and Maximum Entropy models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UNIT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III: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Syntactic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Analysis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: Context-Free Grammars, Grammar rules for English,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Treebanks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Normal Forms for grammar – Dependency Grammar – Syntactic Parsing, Ambiguity, Dynamic Programming parsing – Shallow parsing Probabilistic CFG, Probabilistic CYK, Probabilistic Lexicalized CFGs – Feature structures, Unification of feature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structures</a:t>
            </a:r>
          </a:p>
          <a:p>
            <a:pPr algn="just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UNIT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IV:Semantics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Pragmatics: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Requirements for representation, First-Order Logic, Description Logics – Syntax-Driven Semantic analysis, Semantic attachments – Word Senses, Relations between Senses, Thematic Roles,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selectional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restrictions – Word Sense Disambiguation, WSD using Supervised, Dictionary &amp; Thesaurus, Bootstrapping methods – Word Similarity using Thesaurus and Distributional methods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UNIT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V:Discourse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Analysis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Lexical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Resources: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Discourse segmentation, Coherence – Reference Phenomena, Anaphora Resolution using Hobbs and Centering Algorithm –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Coreference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Resolution – Resources: Porter Stemmer,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Lemmatizer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Penn Treebank, Brill‘s Tagger,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WordNet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PropBank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FrameNet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Brown Corpus, British National Corpus (BNC).</a:t>
            </a:r>
          </a:p>
          <a:p>
            <a:pPr algn="just"/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Textbooks &amp; </a:t>
            </a:r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Reference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52578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Textbooks: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Speech and Language Processing: An Introduction to Natural Language Processing, Computational Linguistics and Speech, 2</a:t>
            </a:r>
            <a:r>
              <a:rPr lang="en-US" sz="1800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Edition, Daniel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Jurafsky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James H. Martin -Pearson Publication,2O14.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Natural Language Processing with Python, First Edition, Steven Bird, Ewan Klein and Edward </a:t>
            </a:r>
            <a:r>
              <a:rPr lang="en-US" sz="1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Loper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OReilly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Media,2OO9</a:t>
            </a:r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just">
              <a:buFont typeface="Wingdings" pitchFamily="2" charset="2"/>
              <a:buChar char="Ø"/>
            </a:pPr>
            <a:endParaRPr lang="en-US" sz="1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Reference Books: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Language Processing with Java and Ling Pipe Cookbook, 1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Edition,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Breck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Baldwin, Atlantic Publisher, 2O15.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Natural Language Processing with Java, 2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Edition, Richard M Reese,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OReilly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Media,2O15.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Handbook of Natural Language Processing, Second,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NitinIndurkhya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and Fred J.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Damerau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Chapman and Hall/CRC Press, 2O1O.Edition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Natural Language Processing and Information Retrieval, 3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Edition,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TanveerSiddiqui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U.S.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Tiwary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Oxford University Press,2OO8.</a:t>
            </a:r>
          </a:p>
          <a:p>
            <a:pPr algn="just">
              <a:buFont typeface="Wingdings" pitchFamily="2" charset="2"/>
              <a:buChar char="Ø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Pre Requisites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Programming Language : Python (Regex &amp; libraries)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Mathematics : LA, P&amp;S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ML concepts: SVM, KNN, Decision tress ….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DL fundamentals : RNN, LSTMs…..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Basic Linguistics: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Parts of Speech (Noun, Verb, Adjective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...) &amp;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grammar rules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Syntax (sentence structure)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Morphology (word formation)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Semantics (meaning)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Named Entities (persons, places, dates)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Brace 3"/>
          <p:cNvSpPr/>
          <p:nvPr/>
        </p:nvSpPr>
        <p:spPr>
          <a:xfrm>
            <a:off x="6629400" y="3581400"/>
            <a:ext cx="685800" cy="2209800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467600" y="3810000"/>
            <a:ext cx="13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Many NLP tasks rely on language structure.</a:t>
            </a: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64008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Tools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NLTK (natural language Toolkit)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– basic NLP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learning: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  <a:hlinkClick r:id="rId2"/>
              </a:rPr>
              <a:t>https://www.nltk.org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2"/>
              </a:rPr>
              <a:t>/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spaCy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– industrial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NLP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  <a:hlinkClick r:id="rId3"/>
              </a:rPr>
              <a:t>https://spacy.io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3"/>
              </a:rPr>
              <a:t>/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-learn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– ML models: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hlinkClick r:id="rId4"/>
              </a:rPr>
              <a:t>://scikit-learn.org/stable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4"/>
              </a:rPr>
              <a:t>/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HuggingFace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transformers – advanced deep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NLP: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  <a:hlinkClick r:id="rId5"/>
              </a:rPr>
              <a:t>https://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5"/>
              </a:rPr>
              <a:t>huggingface.co/docs/transformers/en/index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/>
              <a:t>Library ------ Packages------- Modules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 descr="C:\Users\SAI\Desktop\tools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1000"/>
            <a:ext cx="7239000" cy="6172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593725"/>
            <a:ext cx="8324850" cy="5670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11763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AI: the broad idea that machines can intelligently execute tasks by mimicking human behavior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ML: Subset of AI, revolves around the idea that machines can learn &amp; adapt through experience &amp; data to complete specific tasks. 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DL: It attempts to mimic the human brain through NNs.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What is NLP ?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763000" cy="5334000"/>
          </a:xfrm>
        </p:spPr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Amazon: Natural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language processing (NLP) combines computational linguistics, predictive artificial intelligence, and deep learning models to process human language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IBM: Natural language processing (NLP) is a subfield of computer science and artificial intelligence (AI) that uses machine learning to enable computers to understand and communicate with human language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Natural Language Processing (NLP) is a field that combines computer science, artificial intelligence and language studies. It helps computers understand, process and create human language in a way that makes sense and is useful.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Natural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language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Artificial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language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Natural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language: The language that is used for every day communication by humans; Like: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english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hindi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portuguese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Artificial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language: Programming languages; 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Origin/History of NLP</a:t>
            </a:r>
            <a:endParaRPr lang="en-US" sz="36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1. Early Beginnings (1950s): Machine Translation &amp; Turing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Test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2. Rule-Based NLP Era (1950s–1980s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3. Statistical NLP Era (1980s–2000s): Data-Driven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Approach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4. Machine Learning &amp; Deep Learning Era (2010s–Present)</a:t>
            </a: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1. Early Beginnings (1950s): Machine Translation &amp; Turing Test</a:t>
            </a:r>
            <a:b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1950s mark the 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birth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of Natural Language Processing (NLP).</a:t>
            </a:r>
            <a:b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period laid the foundation for all future language technologies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Turing Test (1950) – Can Machines Think?</a:t>
            </a:r>
            <a:endParaRPr lang="en-US" sz="2400" b="1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Proposed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Alan Turing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, one of the fathers of computer science, in his 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paper “Computing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Machinery and Intelligence” (1950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He asked the very important question:</a:t>
            </a:r>
          </a:p>
          <a:p>
            <a:pPr marL="0" indent="0">
              <a:buNone/>
            </a:pP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"Can machines think?"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Instead of defining “thinking,” Turing proposed a practical test.</a:t>
            </a:r>
          </a:p>
          <a:p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5800"/>
            <a:ext cx="8506124" cy="55626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The Turing Test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Introduced the idea that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language understanding = intelligence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Encouraged research in:</a:t>
            </a:r>
          </a:p>
          <a:p>
            <a:pPr marL="457200" lvl="1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dialogue systems</a:t>
            </a:r>
          </a:p>
          <a:p>
            <a:pPr marL="457200" lvl="1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question answering</a:t>
            </a:r>
          </a:p>
          <a:p>
            <a:pPr marL="457200" lvl="1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natural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conversation</a:t>
            </a:r>
          </a:p>
          <a:p>
            <a:pPr marL="457200" lvl="1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Influenced early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chatbots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such as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ELIZA (1966)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Machine Translation (MT) – Beginning of Practical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Machine Translation was one of the first real-world NLP applications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 is Machine Translation?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the automatic translation of text from one language to another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During the Cold War, the U.S. wanted quick translation of Russian scientific and military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documents.This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created huge interest in using computers for translation.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Georgetown–IBM Machine Translation Experiment (1954)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was the first major NLP success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 happened in the experiment?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IBM and Georgetown University demonstrated a system that could translate 60 carefully chosen Russian sentences into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English. It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used 6 grammar rules and a dictionary of 250 words.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az-Cyrl-AZ" sz="2200" dirty="0">
                <a:latin typeface="Times New Roman" pitchFamily="18" charset="0"/>
                <a:cs typeface="Times New Roman" pitchFamily="18" charset="0"/>
              </a:rPr>
              <a:t>Я вижу машину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 see the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machine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Why did people become excited?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Newspapers claimed:</a:t>
            </a:r>
          </a:p>
          <a:p>
            <a:pPr marL="0" indent="0">
              <a:buNone/>
            </a:pP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“Machine translation is solving language barriers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!”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Researchers believed: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Translation would be solved in 3–5 years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Computer understanding of every language was possible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But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there was a problem…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Early systems were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too simple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They relied on: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word-for-word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translation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hand-written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rules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no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context understanding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Example mistake: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Russian: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за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столом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стоит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ваза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Literal translation: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at the table stands vase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Correct: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there is a vase on the table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Summary of Early NLP (1950s)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172336"/>
              </p:ext>
            </p:extLst>
          </p:nvPr>
        </p:nvGraphicFramePr>
        <p:xfrm>
          <a:off x="457200" y="1752601"/>
          <a:ext cx="8229600" cy="389366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4114800"/>
                <a:gridCol w="4114800"/>
              </a:tblGrid>
              <a:tr h="399350">
                <a:tc>
                  <a:txBody>
                    <a:bodyPr/>
                    <a:lstStyle/>
                    <a:p>
                      <a:r>
                        <a:rPr lang="en-US" b="1" dirty="0"/>
                        <a:t>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Key Ideas</a:t>
                      </a:r>
                    </a:p>
                  </a:txBody>
                  <a:tcPr anchor="ctr"/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lang="en-US"/>
                        <a:t>Turing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Proposed a method to evaluate machine intelligence using conversation</a:t>
                      </a:r>
                    </a:p>
                  </a:txBody>
                  <a:tcPr anchor="ctr"/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lang="en-US"/>
                        <a:t>Machine Translation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real NLP application; attempted rule-based translation</a:t>
                      </a:r>
                    </a:p>
                  </a:txBody>
                  <a:tcPr anchor="ctr"/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lang="en-US" dirty="0"/>
                        <a:t>Georgetown–IBM 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Translated 60 Russian sentences; sparked excitement</a:t>
                      </a:r>
                    </a:p>
                  </a:txBody>
                  <a:tcPr anchor="ctr"/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lang="en-US"/>
                        <a:t>Limitations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Word-by-word translation, no deep understanding</a:t>
                      </a:r>
                    </a:p>
                  </a:txBody>
                  <a:tcPr anchor="ctr"/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lang="en-US"/>
                        <a:t>Legacy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Started the fields of AI, computational linguistics, and NLP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Rule-Based NLP Era (1950s–1980s)</a:t>
            </a:r>
            <a:br>
              <a:rPr lang="en-US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715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Also known as 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“Symbolic NLP Era”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“Classical NLP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period is important because researchers tried to build NLP systems using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human-created rules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not data or machine learning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Rule-Based NLP uses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explicit linguistic rules written by humans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to process language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These rules can describe: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Grammar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Word structure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Sentence structure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Meaning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Dialogue patterns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458200" cy="5867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Noun Phrase → Determiner + Noun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Verb “eat” → past tense “ate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Why Rule-Based NLP?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During 1950s–1980s: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 large datasets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 machine learning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Computers had low processing power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Linguists believed language must be modeled using logic and grammar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 rule-based systems were the only possible approach.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096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Components of Rule-Based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NLP:</a:t>
            </a:r>
          </a:p>
          <a:p>
            <a:pPr marL="0" indent="0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a) Morphological Rules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Used to analyze word structure.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play +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→ played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run +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running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b) Syntax Rules (Grammar Rules)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Used to understand sentence structure.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Sentence → Noun Phrase +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Verb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Phrase</a:t>
            </a:r>
          </a:p>
          <a:p>
            <a:pPr marL="0" indent="0">
              <a:buNone/>
            </a:pP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Verb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Phrase →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Verb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+ Noun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Phrase</a:t>
            </a:r>
          </a:p>
          <a:p>
            <a:pPr marL="0" indent="0">
              <a:buNone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c) Semantic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Rules: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Used to derive meaning.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Agent (Subject) performs Action (Verb) on Object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Strengths of Rule-Based NLP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7390015"/>
              </p:ext>
            </p:extLst>
          </p:nvPr>
        </p:nvGraphicFramePr>
        <p:xfrm>
          <a:off x="304800" y="1905000"/>
          <a:ext cx="8229600" cy="237744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Explanation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Interpretable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Rules are human-written → easy to understand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Precise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Works well in restricted domains (medicine, finance)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Transparent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Easy debugging (just modify rules)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Good for formal languages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e.g., grammar checking, code parsing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Weaknesses of Rule-Based NLP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448353"/>
              </p:ext>
            </p:extLst>
          </p:nvPr>
        </p:nvGraphicFramePr>
        <p:xfrm>
          <a:off x="381000" y="1524000"/>
          <a:ext cx="8229600" cy="246888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Explanation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Not scalable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Thousands of rules needed for real language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Ambiguity 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One rule can conflict with another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Language is too 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Idioms, slang, context cannot be handled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Expensive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Requires linguists to manually write rules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Domain-specific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Works only in limited areas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3400" y="4267200"/>
            <a:ext cx="7620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of failure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b="1" dirty="0"/>
              <a:t>I saw the man with the telescope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Rule-based system cannot decide:</a:t>
            </a:r>
          </a:p>
          <a:p>
            <a:r>
              <a:rPr lang="en-US" dirty="0"/>
              <a:t>Who has the telescope?</a:t>
            </a:r>
          </a:p>
          <a:p>
            <a:r>
              <a:rPr lang="en-US" dirty="0"/>
              <a:t>Did I use a telescope or did the man?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3. Statistical NLP Era (1980s–2000s): Data-Driven Approach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475456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 more digital text became available, researchers shifted to statistics and probabilities.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Why the shift?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Rule-based systems failed for large vocabularies and noisy language.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Computers became more powerful.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Large text corpora (news articles, books) were available.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Techniques: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N-gram language models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Hidden Markov Models (HMMs)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Part-of-speech tagging using probabilities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Machine translation using statistics (IBM Models)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 Bigram Model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Probability of “I am learning NLP”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P(am | I) × P(learning | am) × P(NLP | learning)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period made NLP more accurate and robust.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4. Machine Learning &amp; Deep Learning Era (2010s–Present)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715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With large datasets and powerful GPUs, NLP moved to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neural networks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Key breakthroughs: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Word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embeddings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(2013)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– Word2Vec,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GloVe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Words represented as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vectors</a:t>
            </a:r>
          </a:p>
          <a:p>
            <a:pPr marL="457200" lvl="1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RNNs, LSTMs (2014–2016)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Better 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sequence </a:t>
            </a:r>
            <a:r>
              <a:rPr lang="en-US" sz="2200" smtClean="0">
                <a:latin typeface="Times New Roman" pitchFamily="18" charset="0"/>
                <a:cs typeface="Times New Roman" pitchFamily="18" charset="0"/>
              </a:rPr>
              <a:t>understanding</a:t>
            </a:r>
          </a:p>
          <a:p>
            <a:pPr marL="457200" lvl="1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Transformers (2017)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– “Attention Is All You Need”</a:t>
            </a:r>
          </a:p>
          <a:p>
            <a:pPr marL="457200" lvl="1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Foundation for BERT, GPT, T5</a:t>
            </a:r>
          </a:p>
          <a:p>
            <a:pPr marL="457200" lvl="1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Enabled state-of-the-art results in:</a:t>
            </a:r>
          </a:p>
          <a:p>
            <a:pPr marL="914400" lvl="2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Translation , Summarization, Question answering,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Chatbots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Today’s NLP: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Relies on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pretrained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large language models (LLMs)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like GPT, BERT,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LLaMA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These models understand context, generate text, translate, summarize, and more.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Challenges of NLP</a:t>
            </a: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727546"/>
              </p:ext>
            </p:extLst>
          </p:nvPr>
        </p:nvGraphicFramePr>
        <p:xfrm>
          <a:off x="381000" y="990600"/>
          <a:ext cx="8534400" cy="513556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67200"/>
                <a:gridCol w="4267200"/>
              </a:tblGrid>
              <a:tr h="373496">
                <a:tc>
                  <a:txBody>
                    <a:bodyPr/>
                    <a:lstStyle/>
                    <a:p>
                      <a:r>
                        <a:rPr lang="en-US" sz="1600" b="1" dirty="0"/>
                        <a:t>Challenge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Explanation</a:t>
                      </a:r>
                    </a:p>
                  </a:txBody>
                  <a:tcPr marL="82290" marR="82290" marT="41145" marB="41145" anchor="ctr"/>
                </a:tc>
              </a:tr>
              <a:tr h="653617">
                <a:tc>
                  <a:txBody>
                    <a:bodyPr/>
                    <a:lstStyle/>
                    <a:p>
                      <a:r>
                        <a:rPr lang="en-US" sz="1600"/>
                        <a:t>Ambiguity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Same word or sentence has multiple meanings</a:t>
                      </a:r>
                    </a:p>
                  </a:txBody>
                  <a:tcPr marL="82290" marR="82290" marT="41145" marB="41145" anchor="ctr"/>
                </a:tc>
              </a:tr>
              <a:tr h="373496">
                <a:tc>
                  <a:txBody>
                    <a:bodyPr/>
                    <a:lstStyle/>
                    <a:p>
                      <a:r>
                        <a:rPr lang="en-US" sz="1600"/>
                        <a:t>Context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Words depend on surrounding text</a:t>
                      </a:r>
                    </a:p>
                  </a:txBody>
                  <a:tcPr marL="82290" marR="82290" marT="41145" marB="41145" anchor="ctr"/>
                </a:tc>
              </a:tr>
              <a:tr h="373496">
                <a:tc>
                  <a:txBody>
                    <a:bodyPr/>
                    <a:lstStyle/>
                    <a:p>
                      <a:r>
                        <a:rPr lang="en-US" sz="1600"/>
                        <a:t>Language Variability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Many ways to express same idea</a:t>
                      </a:r>
                    </a:p>
                  </a:txBody>
                  <a:tcPr marL="82290" marR="82290" marT="41145" marB="41145" anchor="ctr"/>
                </a:tc>
              </a:tr>
              <a:tr h="373496">
                <a:tc>
                  <a:txBody>
                    <a:bodyPr/>
                    <a:lstStyle/>
                    <a:p>
                      <a:r>
                        <a:rPr lang="en-US" sz="1600"/>
                        <a:t>Sarcasm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Meaning opposite of words</a:t>
                      </a:r>
                    </a:p>
                  </a:txBody>
                  <a:tcPr marL="82290" marR="82290" marT="41145" marB="41145" anchor="ctr"/>
                </a:tc>
              </a:tr>
              <a:tr h="373496">
                <a:tc>
                  <a:txBody>
                    <a:bodyPr/>
                    <a:lstStyle/>
                    <a:p>
                      <a:r>
                        <a:rPr lang="en-US" sz="1600"/>
                        <a:t>Idioms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Non-literal expressions</a:t>
                      </a:r>
                    </a:p>
                  </a:txBody>
                  <a:tcPr marL="82290" marR="82290" marT="41145" marB="41145" anchor="ctr"/>
                </a:tc>
              </a:tr>
              <a:tr h="373496">
                <a:tc>
                  <a:txBody>
                    <a:bodyPr/>
                    <a:lstStyle/>
                    <a:p>
                      <a:r>
                        <a:rPr lang="en-US" sz="1600"/>
                        <a:t>Named Entities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Brands, people, places</a:t>
                      </a:r>
                    </a:p>
                  </a:txBody>
                  <a:tcPr marL="82290" marR="82290" marT="41145" marB="41145" anchor="ctr"/>
                </a:tc>
              </a:tr>
              <a:tr h="373496">
                <a:tc>
                  <a:txBody>
                    <a:bodyPr/>
                    <a:lstStyle/>
                    <a:p>
                      <a:r>
                        <a:rPr lang="en-US" sz="1600" dirty="0"/>
                        <a:t>World Knowledge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Computers lack common sense</a:t>
                      </a:r>
                    </a:p>
                  </a:txBody>
                  <a:tcPr marL="82290" marR="82290" marT="41145" marB="41145" anchor="ctr"/>
                </a:tc>
              </a:tr>
              <a:tr h="373496">
                <a:tc>
                  <a:txBody>
                    <a:bodyPr/>
                    <a:lstStyle/>
                    <a:p>
                      <a:r>
                        <a:rPr lang="en-US" sz="1600"/>
                        <a:t>Multilingual Issues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Different scripts, grammar</a:t>
                      </a:r>
                    </a:p>
                  </a:txBody>
                  <a:tcPr marL="82290" marR="82290" marT="41145" marB="41145" anchor="ctr"/>
                </a:tc>
              </a:tr>
              <a:tr h="373496">
                <a:tc>
                  <a:txBody>
                    <a:bodyPr/>
                    <a:lstStyle/>
                    <a:p>
                      <a:r>
                        <a:rPr lang="en-US" sz="1600"/>
                        <a:t>Speech Variation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Accents and homophones</a:t>
                      </a:r>
                    </a:p>
                  </a:txBody>
                  <a:tcPr marL="82290" marR="82290" marT="41145" marB="41145" anchor="ctr"/>
                </a:tc>
              </a:tr>
              <a:tr h="373496">
                <a:tc>
                  <a:txBody>
                    <a:bodyPr/>
                    <a:lstStyle/>
                    <a:p>
                      <a:r>
                        <a:rPr lang="en-US" sz="1600"/>
                        <a:t>Data Sparsity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New or rare words</a:t>
                      </a:r>
                    </a:p>
                  </a:txBody>
                  <a:tcPr marL="82290" marR="82290" marT="41145" marB="41145" anchor="ctr"/>
                </a:tc>
              </a:tr>
              <a:tr h="373496">
                <a:tc>
                  <a:txBody>
                    <a:bodyPr/>
                    <a:lstStyle/>
                    <a:p>
                      <a:r>
                        <a:rPr lang="en-US" sz="1600"/>
                        <a:t>Domain Adaptation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Models fail across domains</a:t>
                      </a:r>
                    </a:p>
                  </a:txBody>
                  <a:tcPr marL="82290" marR="82290" marT="41145" marB="41145" anchor="ctr"/>
                </a:tc>
              </a:tr>
              <a:tr h="373496">
                <a:tc>
                  <a:txBody>
                    <a:bodyPr/>
                    <a:lstStyle/>
                    <a:p>
                      <a:r>
                        <a:rPr lang="en-US" sz="1600"/>
                        <a:t>High Computation</a:t>
                      </a: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Requires large datasets &amp; GPUs</a:t>
                      </a:r>
                    </a:p>
                  </a:txBody>
                  <a:tcPr marL="82290" marR="82290" marT="41145" marB="4114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Ambiguity: 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Human language is full of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multiple meanings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Types:   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a) Lexical Ambiguity (word has multiple meanings)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bank” ---- river bank  or   money bank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b) Syntactic Ambiguity (sentence structure unclear)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“I saw the man with the telescope.”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Who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has the telescope? You or the man?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c) Semantic Ambiguity (meaning unclear)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“Visiting relatives can be annoying.”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Are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relatives visiting?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Or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the act of visiting them annoying?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2. Context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Understanding: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Words change their meaning depending on the context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Apple” --- a fruit or Apple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(company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Sentence: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“Apple released a new iPhone.” → company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“Apple is good for health.” 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fruit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NLP must understand the surrounding words to pick the right sense.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3. Variability in Human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Language:</a:t>
            </a:r>
          </a:p>
          <a:p>
            <a:pPr marL="0" indent="0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People can express the same idea in many ways.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“I am hungry.”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“I need food.”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“Can we grab something to eat?”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“I’m starving!”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All mean the same, but look different.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Computers struggle with: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synonyms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paraphrases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slang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4. Sarcasm and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Irony: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Humans easily detect sarcasm, but computers can't.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“Wow, that’s just great!”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------Could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mean frustration, not praise.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NLP models usually take text literally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Idioms &amp; Figurative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Language:</a:t>
            </a:r>
          </a:p>
          <a:p>
            <a:pPr marL="0" indent="0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Idioms are phrases whose meanings are not derived from the words.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“Kick the bucket” → means “to die”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“Break the ice” → start conversation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Literal translation confuses NLP systems.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534400" cy="6477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6. Named Entity Recognition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Challenges: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Identifying names, places, brands is hard.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Amazon” - a company or a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rainforest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Apple” – fruit or  brand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NLP must know which “Apple” is being used depending on domain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Lack of World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Knowledge: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Humans use common sense, but computers do not.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“John dropped the glass. It broke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.”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Computer must infer: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“it” refers to glass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glass is fragile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requires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implicit world knowledge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which is difficult to encode.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8. Multilingual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Complexity: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are: different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scripts 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Devanagari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Arabic, Chinese)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different grammar rules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different word orders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languages without clear word boundaries (e.g., Chinese)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Chinese sentence: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ja-JP" altLang="en-US" sz="2200" dirty="0">
                <a:latin typeface="Times New Roman" pitchFamily="18" charset="0"/>
                <a:cs typeface="Times New Roman" pitchFamily="18" charset="0"/>
              </a:rPr>
              <a:t>我喜欢看电影”</a:t>
            </a:r>
            <a:br>
              <a:rPr lang="ja-JP" alt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no spaces between words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→ tokenization becomes challenging.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Speech &amp; Pronunciation Variations (for Speech NLP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):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Difficulties include: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accents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background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noise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Example: “two”, “too”, “to”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Even humans mishear speech in noisy environments.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10. Data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Sparsity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and Rare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Words: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Language is infinite — new words appear daily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(e.g., COVID-19, meme words, trending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hashtags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Models struggle with: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rare words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new vocabulary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uncommon phrases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Domain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Adaptation: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Model trained on news articles may fail on: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medical reports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legal documents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social media slang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“BP is high.”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Medical: blood pressure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Finance: British Petroleum stock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12. Computational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Challenges:</a:t>
            </a: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Some NLP tasks require: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huge datasets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powerful hardware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expensive training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long computation time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Transformer models like BERT/GPT require billions of parameters.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30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1768</Words>
  <Application>Microsoft Office PowerPoint</Application>
  <PresentationFormat>On-screen Show (4:3)</PresentationFormat>
  <Paragraphs>381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NLP</vt:lpstr>
      <vt:lpstr>NLP</vt:lpstr>
      <vt:lpstr>NLP- Syllabus</vt:lpstr>
      <vt:lpstr>Textbooks &amp; Reference Books</vt:lpstr>
      <vt:lpstr>Pre Requisites</vt:lpstr>
      <vt:lpstr> </vt:lpstr>
      <vt:lpstr> </vt:lpstr>
      <vt:lpstr> </vt:lpstr>
      <vt:lpstr> </vt:lpstr>
      <vt:lpstr>What is NLP ?</vt:lpstr>
      <vt:lpstr>Natural language Vs Artificial language </vt:lpstr>
      <vt:lpstr>Origin/History of NLP</vt:lpstr>
      <vt:lpstr>1. Early Beginnings (1950s): Machine Translation &amp; Turing Test </vt:lpstr>
      <vt:lpstr> </vt:lpstr>
      <vt:lpstr>  </vt:lpstr>
      <vt:lpstr>Machine Translation (MT) – Beginning of Practical NLP</vt:lpstr>
      <vt:lpstr> </vt:lpstr>
      <vt:lpstr> </vt:lpstr>
      <vt:lpstr>  </vt:lpstr>
      <vt:lpstr>Summary of Early NLP (1950s)</vt:lpstr>
      <vt:lpstr>2. Rule-Based NLP Era (1950s–1980s) </vt:lpstr>
      <vt:lpstr> </vt:lpstr>
      <vt:lpstr> </vt:lpstr>
      <vt:lpstr>Strengths of Rule-Based NLP</vt:lpstr>
      <vt:lpstr>Weaknesses of Rule-Based NLP</vt:lpstr>
      <vt:lpstr>3. Statistical NLP Era (1980s–2000s): Data-Driven Approach</vt:lpstr>
      <vt:lpstr>4. Machine Learning &amp; Deep Learning Era (2010s–Present)</vt:lpstr>
      <vt:lpstr>            </vt:lpstr>
      <vt:lpstr>Challenges of NLP</vt:lpstr>
      <vt:lpstr>          </vt:lpstr>
      <vt:lpstr>        </vt:lpstr>
      <vt:lpstr>           </vt:lpstr>
      <vt:lpstr>          </vt:lpstr>
      <vt:lpstr>           </vt:lpstr>
      <vt:lpstr>           </vt:lpstr>
      <vt:lpstr>        </vt:lpstr>
      <vt:lpstr>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</dc:title>
  <dc:creator>SAI</dc:creator>
  <cp:lastModifiedBy>Windows User</cp:lastModifiedBy>
  <cp:revision>114</cp:revision>
  <dcterms:created xsi:type="dcterms:W3CDTF">2006-08-16T00:00:00Z</dcterms:created>
  <dcterms:modified xsi:type="dcterms:W3CDTF">2025-12-04T02:12:31Z</dcterms:modified>
</cp:coreProperties>
</file>