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75" r:id="rId7"/>
    <p:sldId id="276" r:id="rId8"/>
    <p:sldId id="345" r:id="rId9"/>
    <p:sldId id="277" r:id="rId10"/>
    <p:sldId id="279" r:id="rId11"/>
    <p:sldId id="259" r:id="rId12"/>
    <p:sldId id="280" r:id="rId13"/>
    <p:sldId id="262" r:id="rId14"/>
    <p:sldId id="263" r:id="rId15"/>
    <p:sldId id="264" r:id="rId16"/>
    <p:sldId id="281" r:id="rId17"/>
    <p:sldId id="282" r:id="rId18"/>
    <p:sldId id="283" r:id="rId19"/>
    <p:sldId id="284" r:id="rId20"/>
    <p:sldId id="285" r:id="rId21"/>
    <p:sldId id="265" r:id="rId22"/>
    <p:sldId id="266" r:id="rId23"/>
    <p:sldId id="267" r:id="rId24"/>
    <p:sldId id="268" r:id="rId25"/>
    <p:sldId id="272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24" r:id="rId50"/>
    <p:sldId id="325" r:id="rId51"/>
    <p:sldId id="309" r:id="rId52"/>
    <p:sldId id="326" r:id="rId53"/>
    <p:sldId id="327" r:id="rId54"/>
    <p:sldId id="328" r:id="rId55"/>
    <p:sldId id="329" r:id="rId56"/>
    <p:sldId id="311" r:id="rId57"/>
    <p:sldId id="312" r:id="rId58"/>
    <p:sldId id="313" r:id="rId59"/>
    <p:sldId id="314" r:id="rId60"/>
    <p:sldId id="330" r:id="rId61"/>
    <p:sldId id="331" r:id="rId62"/>
    <p:sldId id="317" r:id="rId63"/>
    <p:sldId id="332" r:id="rId64"/>
    <p:sldId id="318" r:id="rId65"/>
    <p:sldId id="319" r:id="rId66"/>
    <p:sldId id="320" r:id="rId67"/>
    <p:sldId id="321" r:id="rId68"/>
    <p:sldId id="322" r:id="rId69"/>
    <p:sldId id="333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6" d="100"/>
          <a:sy n="96" d="100"/>
        </p:scale>
        <p:origin x="-902" y="2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0599"/>
            <a:ext cx="7772400" cy="2609851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UNIT 4</a:t>
            </a:r>
            <a:br>
              <a:rPr lang="en-IN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SEMANTICS AND PRAGMATICS</a:t>
            </a:r>
            <a:endParaRPr lang="en-IN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EHSG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are </a:t>
            </a:r>
            <a:r>
              <a:rPr lang="en-IN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Semantics</a:t>
            </a:r>
            <a:endParaRPr lang="en-IN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Study of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meaning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language</a:t>
            </a: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Deals with:</a:t>
            </a:r>
          </a:p>
          <a:p>
            <a:pPr lvl="1"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Meaning of words (Lexical semantics)</a:t>
            </a:r>
          </a:p>
          <a:p>
            <a:pPr lvl="1"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Meaning of phrases and sentences (Compositional semantics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Notes: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Example: “John likes Mary” vs. “Mary likes John” — same words, different meanings due to structure.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IN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</a:t>
            </a:r>
            <a:r>
              <a:rPr lang="en-IN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Pragmatics</a:t>
            </a:r>
            <a:endParaRPr lang="en-IN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Concerned with use of language in 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context</a:t>
            </a:r>
          </a:p>
          <a:p>
            <a:endParaRPr lang="en-IN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Involves:</a:t>
            </a:r>
          </a:p>
          <a:p>
            <a:pPr lvl="1"/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Speaker intentions</a:t>
            </a:r>
          </a:p>
          <a:p>
            <a:pPr lvl="1"/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Discourse context</a:t>
            </a:r>
          </a:p>
          <a:p>
            <a:pPr lvl="1"/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Conversational </a:t>
            </a:r>
            <a:r>
              <a:rPr lang="en-IN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implicatures</a:t>
            </a:r>
            <a:endParaRPr lang="en-IN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IN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“Can you open the window?” — a </a:t>
            </a:r>
            <a:r>
              <a:rPr lang="en-IN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request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not a </a:t>
            </a:r>
            <a:r>
              <a:rPr lang="en-IN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question about ability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endParaRPr lang="en-IN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Need for Representation</a:t>
            </a:r>
            <a:endParaRPr lang="en-IN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Autofit/>
          </a:bodyPr>
          <a:lstStyle/>
          <a:p>
            <a:pPr algn="just"/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Computers require </a:t>
            </a:r>
            <a:r>
              <a:rPr lang="en-IN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explicit (clear) representation</a:t>
            </a:r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meaning; </a:t>
            </a:r>
            <a:endParaRPr lang="en-IN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Representation must be:</a:t>
            </a:r>
          </a:p>
          <a:p>
            <a:pPr lvl="1" algn="just"/>
            <a:r>
              <a:rPr lang="en-I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Unambiguous (</a:t>
            </a:r>
            <a:r>
              <a:rPr lang="en-I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unaffectively</a:t>
            </a:r>
            <a:r>
              <a:rPr lang="en-I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 algn="just"/>
            <a:r>
              <a:rPr lang="en-I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Machine interpretable</a:t>
            </a:r>
          </a:p>
          <a:p>
            <a:pPr lvl="1" algn="just"/>
            <a:r>
              <a:rPr lang="en-I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Mappable</a:t>
            </a:r>
            <a:r>
              <a:rPr lang="en-I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to linguistic </a:t>
            </a:r>
            <a:r>
              <a:rPr lang="en-I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structure</a:t>
            </a:r>
            <a:endParaRPr lang="en-IN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Notes:</a:t>
            </a:r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Show contrast between natural language ambiguity and formal representations like First-Order Logic (FOL) (it is a powerful knowledge representation &amp; </a:t>
            </a:r>
            <a:r>
              <a:rPr lang="en-IN" sz="28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resoning</a:t>
            </a:r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frame work used in AI )</a:t>
            </a:r>
          </a:p>
          <a:p>
            <a:endParaRPr lang="en-IN" sz="2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Levels of Linguistic Knowledge</a:t>
            </a:r>
            <a:endParaRPr lang="en-IN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/>
          </a:bodyPr>
          <a:lstStyle/>
          <a:p>
            <a:r>
              <a:rPr lang="en-IN" sz="28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Phonology (phonetics) → Morphology → Syntax → </a:t>
            </a:r>
            <a:r>
              <a:rPr lang="en-IN" sz="28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Semantics → Pragmatics → </a:t>
            </a:r>
            <a:r>
              <a:rPr lang="en-IN" sz="28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Discourse</a:t>
            </a:r>
          </a:p>
          <a:p>
            <a:pPr marL="0" indent="0">
              <a:buNone/>
            </a:pPr>
            <a:endParaRPr lang="en-IN" sz="28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Each level adds complexity of interpretation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NLP Applications Involving Meaning</a:t>
            </a:r>
            <a:endParaRPr lang="en-IN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Machine Translation</a:t>
            </a:r>
          </a:p>
          <a:p>
            <a:r>
              <a:rPr lang="en-IN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Dialogue Systems</a:t>
            </a:r>
          </a:p>
          <a:p>
            <a:r>
              <a:rPr lang="en-IN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Text Summarization</a:t>
            </a:r>
          </a:p>
          <a:p>
            <a:r>
              <a:rPr lang="en-IN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Word Sense Disambiguation(WSD- tells correct meaning of a word when it has multiple meanings based on the context )</a:t>
            </a:r>
          </a:p>
          <a:p>
            <a:r>
              <a:rPr lang="en-IN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Semantic Search</a:t>
            </a:r>
          </a:p>
          <a:p>
            <a:r>
              <a:rPr lang="en-IN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Notes:</a:t>
            </a:r>
            <a:r>
              <a:rPr lang="en-IN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Example: “bank” in finance vs. “bank” of a river.</a:t>
            </a:r>
          </a:p>
          <a:p>
            <a:endParaRPr lang="en-IN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Challenges in Meaning</a:t>
            </a:r>
            <a:endParaRPr lang="en-IN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486400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Ambiguity (lexical, structural, referential)</a:t>
            </a:r>
          </a:p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Vagueness </a:t>
            </a:r>
          </a:p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Polysemy (phenomenon where a single word has multiple related meanings. Ex: Head) and </a:t>
            </a:r>
            <a:r>
              <a:rPr lang="en-IN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synonymys</a:t>
            </a:r>
            <a:endParaRPr lang="en-IN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World knowledge requirements</a:t>
            </a:r>
          </a:p>
          <a:p>
            <a:r>
              <a:rPr lang="en-IN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Notes: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Lexical 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Ambiguity </a:t>
            </a:r>
            <a:r>
              <a:rPr lang="en-IN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Ex: bat, light bag. (word level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Ambiguity 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IN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structural ambiguity </a:t>
            </a:r>
            <a:r>
              <a:rPr lang="en-IN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“I saw the man with the telescope”, </a:t>
            </a:r>
            <a:endParaRPr lang="en-IN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“old men &amp; women were evacuated “ </a:t>
            </a:r>
            <a:endParaRPr lang="en-IN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“she hit the boy with a stick” (she used a stick or the boy had a stick 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to explain.</a:t>
            </a:r>
            <a:endParaRPr lang="en-IN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Referential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Ambiguity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: unclear reference of pronouns or noun phrases. </a:t>
            </a:r>
            <a:endParaRPr lang="en-IN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Ex: Ravi told </a:t>
            </a:r>
            <a:r>
              <a:rPr lang="en-IN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suresh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that he was late; (He = </a:t>
            </a:r>
            <a:r>
              <a:rPr lang="en-IN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ravi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IN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suresh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), the box fell on the table &amp; it broke (it = box or table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26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Relationship Between Semantics and Pragmatics</a:t>
            </a:r>
            <a:endParaRPr lang="en-IN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244463"/>
              </p:ext>
            </p:extLst>
          </p:nvPr>
        </p:nvGraphicFramePr>
        <p:xfrm>
          <a:off x="533400" y="2209800"/>
          <a:ext cx="8229600" cy="3291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64322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C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C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Semantics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C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Pragmatics</a:t>
                      </a:r>
                    </a:p>
                  </a:txBody>
                  <a:tcPr anchor="ctr"/>
                </a:tc>
              </a:tr>
              <a:tr h="564322">
                <a:tc>
                  <a:txBody>
                    <a:bodyPr/>
                    <a:lstStyle/>
                    <a:p>
                      <a:r>
                        <a:rPr lang="en-IN" b="1" dirty="0" smtClean="0">
                          <a:latin typeface="Times New Roman" pitchFamily="18" charset="0"/>
                          <a:cs typeface="Times New Roman" pitchFamily="18" charset="0"/>
                        </a:rPr>
                        <a:t>Concern</a:t>
                      </a:r>
                      <a:endParaRPr lang="en-IN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Literal meaning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Contextual meaning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64322">
                <a:tc>
                  <a:txBody>
                    <a:bodyPr/>
                    <a:lstStyle/>
                    <a:p>
                      <a:r>
                        <a:rPr lang="en-IN" b="1" dirty="0" smtClean="0">
                          <a:latin typeface="Times New Roman" pitchFamily="18" charset="0"/>
                          <a:cs typeface="Times New Roman" pitchFamily="18" charset="0"/>
                        </a:rPr>
                        <a:t>Unit</a:t>
                      </a:r>
                      <a:endParaRPr lang="en-IN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Sentence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Discourse (ref. how a speaker reveals info </a:t>
                      </a:r>
                      <a:r>
                        <a:rPr lang="en-IN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impli</a:t>
                      </a:r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. Or </a:t>
                      </a:r>
                      <a:r>
                        <a:rPr lang="en-IN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expli</a:t>
                      </a:r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. Depending on </a:t>
                      </a:r>
                      <a:r>
                        <a:rPr lang="en-IN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the situation</a:t>
                      </a:r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) 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74035">
                <a:tc>
                  <a:txBody>
                    <a:bodyPr/>
                    <a:lstStyle/>
                    <a:p>
                      <a:r>
                        <a:rPr lang="en-IN" b="1" dirty="0" smtClean="0"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  <a:endParaRPr lang="en-IN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“It’s cold” → temperature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“It’s cold” → request to close window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IN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Requirements for </a:t>
            </a:r>
            <a:r>
              <a:rPr lang="en-IN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representation</a:t>
            </a:r>
            <a:endParaRPr lang="en-IN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5181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Why Represent Meaning?</a:t>
            </a:r>
          </a:p>
          <a:p>
            <a:pPr algn="just">
              <a:buNone/>
            </a:pPr>
            <a:endParaRPr lang="en-IN" sz="28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Needed for inference (the process of deriving the meaning ), question answering, translation</a:t>
            </a:r>
          </a:p>
          <a:p>
            <a:pPr marL="0" indent="0" algn="just">
              <a:buNone/>
            </a:pPr>
            <a:endParaRPr lang="en-IN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IN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Requirements for </a:t>
            </a:r>
            <a:r>
              <a:rPr lang="en-IN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representation</a:t>
            </a:r>
            <a:endParaRPr lang="en-IN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54864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Language representation in computational systems </a:t>
            </a:r>
            <a:r>
              <a:rPr lang="en-GB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must meet </a:t>
            </a:r>
            <a:r>
              <a:rPr lang="en-GB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following requirements</a:t>
            </a:r>
            <a:r>
              <a:rPr lang="en-GB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buNone/>
            </a:pPr>
            <a:endParaRPr lang="en-GB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Verifiability</a:t>
            </a:r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– test truth in a model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Unambiguity</a:t>
            </a:r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– single meaning per form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Compositionality</a:t>
            </a:r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– meaning from parts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Inference</a:t>
            </a:r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– deduce new facts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Expressiveness</a:t>
            </a:r>
            <a:r>
              <a:rPr lang="en-IN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– represent all necessary meanings</a:t>
            </a:r>
          </a:p>
          <a:p>
            <a:pPr algn="just">
              <a:buNone/>
            </a:pPr>
            <a:endParaRPr lang="en-GB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458200" cy="6400800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Example – Verifiability</a:t>
            </a:r>
          </a:p>
          <a:p>
            <a:pPr>
              <a:buNone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	 Sentence: 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</a:rPr>
              <a:t>“The cat is on the mat.”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Representation: On(Cat, Mat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Example – Compositionality</a:t>
            </a:r>
          </a:p>
          <a:p>
            <a:pPr algn="just">
              <a:buNone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	Meaning = function of component meanings</a:t>
            </a:r>
          </a:p>
          <a:p>
            <a:pPr>
              <a:buNone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	Example:</a:t>
            </a:r>
            <a:br>
              <a:rPr lang="en-IN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“John loves Mary” = Loves(John, Mary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Example – Inference</a:t>
            </a:r>
          </a:p>
          <a:p>
            <a:pPr algn="just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	If Loves(John, Mary) and Loves(Mary, John)</a:t>
            </a:r>
            <a:br>
              <a:rPr lang="en-IN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⇒ Mutual Love(John, Mary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Notes: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Meaning representations enable reasoning.</a:t>
            </a:r>
          </a:p>
          <a:p>
            <a:pPr>
              <a:buNone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First-order Logic: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First-order logic (FOL) is a formal language that has been used in semantics and pragmatics to represent the meaning of sentences in a structured and logical way.</a:t>
            </a:r>
          </a:p>
          <a:p>
            <a:pPr algn="just"/>
            <a:r>
              <a:rPr lang="en-IN" dirty="0" smtClean="0"/>
              <a:t>FOL allows us to represent the relationships between objects, properties, and events in a precise and formal manner, which can be useful for analyzing and understanding the meaning of natural language expressions.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Components of FOL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 smtClean="0"/>
              <a:t>Constants:</a:t>
            </a:r>
            <a:r>
              <a:rPr lang="en-IN" dirty="0" smtClean="0"/>
              <a:t> Specific entities (e.g., ICSI, Maharani)</a:t>
            </a:r>
          </a:p>
          <a:p>
            <a:pPr algn="just"/>
            <a:r>
              <a:rPr lang="en-IN" b="1" dirty="0" smtClean="0"/>
              <a:t>Variables:</a:t>
            </a:r>
            <a:r>
              <a:rPr lang="en-IN" dirty="0" smtClean="0"/>
              <a:t> General placeholders (e.g., x, y)</a:t>
            </a:r>
          </a:p>
          <a:p>
            <a:pPr algn="just"/>
            <a:r>
              <a:rPr lang="en-IN" b="1" dirty="0" smtClean="0"/>
              <a:t>Functions:</a:t>
            </a:r>
            <a:r>
              <a:rPr lang="en-IN" dirty="0" smtClean="0"/>
              <a:t> Map objects to objects (e.g., LocationOf(Maharani))</a:t>
            </a:r>
          </a:p>
          <a:p>
            <a:pPr algn="just"/>
            <a:r>
              <a:rPr lang="en-IN" b="1" dirty="0" smtClean="0"/>
              <a:t>Predicates:</a:t>
            </a:r>
            <a:r>
              <a:rPr lang="en-IN" dirty="0" smtClean="0"/>
              <a:t> Describe relations (e.g., Serves(Maharani, VegetarianFood))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Syntax of FOL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Constants: John, Mary, Dog</a:t>
            </a:r>
          </a:p>
          <a:p>
            <a:r>
              <a:rPr lang="en-IN" dirty="0" smtClean="0"/>
              <a:t>Predicates: Loves(</a:t>
            </a:r>
            <a:r>
              <a:rPr lang="en-IN" dirty="0" err="1" smtClean="0"/>
              <a:t>x,y</a:t>
            </a:r>
            <a:r>
              <a:rPr lang="en-IN" dirty="0" smtClean="0"/>
              <a:t>)</a:t>
            </a:r>
          </a:p>
          <a:p>
            <a:r>
              <a:rPr lang="en-IN" dirty="0" smtClean="0"/>
              <a:t>Quantifiers: ∀ (for all), ∃ (there exists)</a:t>
            </a:r>
          </a:p>
          <a:p>
            <a:r>
              <a:rPr lang="en-IN" dirty="0" smtClean="0"/>
              <a:t>Connectives: ∧, ∨, ¬, ⇒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FOL Expressions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14400" y="1600200"/>
          <a:ext cx="71628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3581400"/>
              </a:tblGrid>
              <a:tr h="762000">
                <a:tc>
                  <a:txBody>
                    <a:bodyPr/>
                    <a:lstStyle/>
                    <a:p>
                      <a:r>
                        <a:rPr lang="en-IN" sz="2800" dirty="0"/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FOL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IN" sz="2800" dirty="0" smtClean="0"/>
                        <a:t>John loves Mary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 smtClean="0"/>
                        <a:t>Loves(John, Mary)</a:t>
                      </a:r>
                      <a:endParaRPr lang="en-IN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IN" sz="2800" dirty="0" smtClean="0"/>
                        <a:t>Everyone loves Mary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 smtClean="0"/>
                        <a:t>∀x Loves(x, Mary)</a:t>
                      </a:r>
                      <a:endParaRPr lang="en-IN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IN" sz="2800" dirty="0" smtClean="0"/>
                        <a:t>Someone loves Mary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 smtClean="0"/>
                        <a:t>∃x Loves(x, Mary</a:t>
                      </a:r>
                      <a:endParaRPr lang="en-IN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Logical Connectives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Negation: ¬P</a:t>
            </a:r>
          </a:p>
          <a:p>
            <a:r>
              <a:rPr lang="en-IN" dirty="0" smtClean="0"/>
              <a:t>Conjunction: P ∧ Q</a:t>
            </a:r>
          </a:p>
          <a:p>
            <a:r>
              <a:rPr lang="en-IN" dirty="0" smtClean="0"/>
              <a:t>Disjunction: P ∨ Q</a:t>
            </a:r>
          </a:p>
          <a:p>
            <a:r>
              <a:rPr lang="en-IN" dirty="0" smtClean="0"/>
              <a:t>Implication: P ⇒ Q</a:t>
            </a:r>
          </a:p>
          <a:p>
            <a:r>
              <a:rPr lang="en-IN" dirty="0" smtClean="0"/>
              <a:t>Equivalence: P ⇔ Q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Quantifiers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r>
              <a:rPr lang="en-IN" dirty="0" smtClean="0"/>
              <a:t>“All dogs bark” → ∀x [Dog(x) ⇒ Barks(x)]</a:t>
            </a:r>
          </a:p>
          <a:p>
            <a:endParaRPr lang="en-IN" dirty="0" smtClean="0"/>
          </a:p>
          <a:p>
            <a:r>
              <a:rPr lang="en-IN" dirty="0" smtClean="0"/>
              <a:t>“Some dogs bark” → ∃x [Dog(x) ∧ Barks(x)]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Complex Representation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458200" cy="4297363"/>
          </a:xfrm>
        </p:spPr>
        <p:txBody>
          <a:bodyPr/>
          <a:lstStyle/>
          <a:p>
            <a:r>
              <a:rPr lang="en-IN" dirty="0" smtClean="0"/>
              <a:t>“The girl who loves a dog feeds it.”</a:t>
            </a:r>
          </a:p>
          <a:p>
            <a:pPr>
              <a:buNone/>
            </a:pPr>
            <a:r>
              <a:rPr lang="en-IN" dirty="0" smtClean="0"/>
              <a:t/>
            </a:r>
            <a:br>
              <a:rPr lang="en-IN" dirty="0" smtClean="0"/>
            </a:br>
            <a:r>
              <a:rPr lang="en-IN" sz="2800" dirty="0" smtClean="0"/>
              <a:t>∃</a:t>
            </a:r>
            <a:r>
              <a:rPr lang="en-IN" sz="2800" dirty="0" err="1" smtClean="0"/>
              <a:t>x∃y</a:t>
            </a:r>
            <a:r>
              <a:rPr lang="en-IN" sz="2800" dirty="0" smtClean="0"/>
              <a:t> [Girl(x) ∧ Dog(y) ∧ Loves(x, y) ∧ Feeds(x, y)]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Lambda Expressions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dirty="0" smtClean="0"/>
              <a:t>Used for compositional semantics</a:t>
            </a:r>
          </a:p>
          <a:p>
            <a:r>
              <a:rPr lang="en-IN" sz="3600" dirty="0" smtClean="0"/>
              <a:t>Example:</a:t>
            </a:r>
          </a:p>
          <a:p>
            <a:pPr lvl="1"/>
            <a:r>
              <a:rPr lang="en-IN" sz="3200" dirty="0" err="1" smtClean="0"/>
              <a:t>λx.Loves</a:t>
            </a:r>
            <a:r>
              <a:rPr lang="en-IN" sz="3200" dirty="0" smtClean="0"/>
              <a:t>(x, Mary)</a:t>
            </a:r>
          </a:p>
          <a:p>
            <a:pPr lvl="1"/>
            <a:r>
              <a:rPr lang="en-IN" sz="3200" dirty="0" smtClean="0"/>
              <a:t>Meaning: “loves Mary” function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Constants and Variables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 smtClean="0"/>
              <a:t>Constants</a:t>
            </a:r>
            <a:r>
              <a:rPr lang="en-IN" dirty="0" smtClean="0"/>
              <a:t> – refer to named entities (e.g., </a:t>
            </a:r>
            <a:r>
              <a:rPr lang="en-IN" dirty="0" err="1" smtClean="0"/>
              <a:t>AyCaramba</a:t>
            </a:r>
            <a:r>
              <a:rPr lang="en-IN" dirty="0" smtClean="0"/>
              <a:t>, Harry).</a:t>
            </a:r>
          </a:p>
          <a:p>
            <a:pPr algn="just"/>
            <a:r>
              <a:rPr lang="en-IN" b="1" dirty="0" smtClean="0"/>
              <a:t>Variables</a:t>
            </a:r>
            <a:r>
              <a:rPr lang="en-IN" dirty="0" smtClean="0"/>
              <a:t> – refer to unknown or general entities (x, y).</a:t>
            </a:r>
          </a:p>
          <a:p>
            <a:pPr algn="just"/>
            <a:r>
              <a:rPr lang="en-IN" dirty="0" smtClean="0"/>
              <a:t>Variables allow statements like:</a:t>
            </a:r>
            <a:br>
              <a:rPr lang="en-IN" dirty="0" smtClean="0"/>
            </a:br>
            <a:r>
              <a:rPr lang="en-IN" sz="2800" dirty="0" smtClean="0"/>
              <a:t>“Every restaurant serves food” → ∀x Restaurant(x) ⇒ Serves(x, Food)</a:t>
            </a:r>
            <a:endParaRPr lang="en-IN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Functions in FOL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Express ownership or attribute relations.</a:t>
            </a:r>
          </a:p>
          <a:p>
            <a:r>
              <a:rPr lang="en-IN" dirty="0" smtClean="0"/>
              <a:t>Example: </a:t>
            </a:r>
            <a:r>
              <a:rPr lang="en-IN" dirty="0" err="1" smtClean="0"/>
              <a:t>LocationOf</a:t>
            </a:r>
            <a:r>
              <a:rPr lang="en-IN" dirty="0" smtClean="0"/>
              <a:t>(</a:t>
            </a:r>
            <a:r>
              <a:rPr lang="en-IN" dirty="0" err="1" smtClean="0"/>
              <a:t>Frasca</a:t>
            </a:r>
            <a:r>
              <a:rPr lang="en-IN" dirty="0" smtClean="0"/>
              <a:t>) = “</a:t>
            </a:r>
            <a:r>
              <a:rPr lang="en-IN" dirty="0" err="1" smtClean="0"/>
              <a:t>Frasca’s</a:t>
            </a:r>
            <a:r>
              <a:rPr lang="en-IN" dirty="0" smtClean="0"/>
              <a:t> location”</a:t>
            </a:r>
          </a:p>
          <a:p>
            <a:r>
              <a:rPr lang="en-IN" dirty="0" smtClean="0"/>
              <a:t>Functions return a single object → still a </a:t>
            </a:r>
            <a:r>
              <a:rPr lang="en-IN" b="1" dirty="0" smtClean="0"/>
              <a:t>Term</a:t>
            </a:r>
            <a:r>
              <a:rPr lang="en-IN" dirty="0" smtClean="0"/>
              <a:t>, not a predicate.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Predicates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Represent relations and properties.</a:t>
            </a:r>
          </a:p>
          <a:p>
            <a:r>
              <a:rPr lang="en-IN" dirty="0" smtClean="0"/>
              <a:t>Unary predicate: Restaurant(Maharani)</a:t>
            </a:r>
          </a:p>
          <a:p>
            <a:r>
              <a:rPr lang="en-IN" dirty="0" smtClean="0"/>
              <a:t>Binary predicate: Serves(Maharani, VegetarianFood)</a:t>
            </a:r>
          </a:p>
          <a:p>
            <a:r>
              <a:rPr lang="en-IN" dirty="0" smtClean="0"/>
              <a:t>Capture facts or category membership.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Atomic and Composite Formulae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53000"/>
          </a:xfrm>
        </p:spPr>
        <p:txBody>
          <a:bodyPr>
            <a:normAutofit/>
          </a:bodyPr>
          <a:lstStyle/>
          <a:p>
            <a:r>
              <a:rPr lang="en-IN" b="1" dirty="0" smtClean="0"/>
              <a:t>Atomic formula:</a:t>
            </a:r>
            <a:r>
              <a:rPr lang="en-IN" dirty="0" smtClean="0"/>
              <a:t> Single relation or property.</a:t>
            </a:r>
          </a:p>
          <a:p>
            <a:r>
              <a:rPr lang="en-IN" b="1" dirty="0" smtClean="0"/>
              <a:t>Composite formula:</a:t>
            </a:r>
            <a:r>
              <a:rPr lang="en-IN" dirty="0" smtClean="0"/>
              <a:t> Combines atoms using logical connectives.</a:t>
            </a:r>
          </a:p>
          <a:p>
            <a:r>
              <a:rPr lang="en-IN" dirty="0" smtClean="0"/>
              <a:t>Example:</a:t>
            </a:r>
            <a:br>
              <a:rPr lang="en-IN" dirty="0" smtClean="0"/>
            </a:br>
            <a:r>
              <a:rPr lang="en-IN" sz="2800" dirty="0" smtClean="0"/>
              <a:t>Have(</a:t>
            </a:r>
            <a:r>
              <a:rPr lang="en-IN" sz="2800" dirty="0" err="1" smtClean="0"/>
              <a:t>Speaker,FiveDollars</a:t>
            </a:r>
            <a:r>
              <a:rPr lang="en-IN" sz="2800" dirty="0" smtClean="0"/>
              <a:t>) ∧¬Have(</a:t>
            </a:r>
            <a:r>
              <a:rPr lang="en-IN" sz="2800" dirty="0" err="1" smtClean="0"/>
              <a:t>Speaker,LotOfTime</a:t>
            </a:r>
            <a:r>
              <a:rPr lang="en-IN" sz="2800" dirty="0" smtClean="0"/>
              <a:t>)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→ “I have $5 but not much time.”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en-IN" b="1" dirty="0" smtClean="0"/>
              <a:t>Description Logics (DLs)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 smtClean="0"/>
              <a:t>Description Logics (DLs)</a:t>
            </a:r>
            <a:r>
              <a:rPr lang="en-IN" dirty="0" smtClean="0"/>
              <a:t> are a family of formal knowledge representation languages.</a:t>
            </a:r>
          </a:p>
          <a:p>
            <a:pPr algn="just"/>
            <a:r>
              <a:rPr lang="en-IN" dirty="0" smtClean="0"/>
              <a:t>They are used to represent and reason about the </a:t>
            </a:r>
            <a:r>
              <a:rPr lang="en-IN" b="1" dirty="0" smtClean="0"/>
              <a:t>conceptual knowledge</a:t>
            </a:r>
            <a:r>
              <a:rPr lang="en-IN" dirty="0" smtClean="0"/>
              <a:t> of an application domain in a structured and well-defined way.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Core Components of Description Logics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DLs represent knowledge using:</a:t>
            </a:r>
          </a:p>
          <a:p>
            <a:endParaRPr lang="en-IN" dirty="0" smtClean="0"/>
          </a:p>
          <a:p>
            <a:pPr algn="just"/>
            <a:r>
              <a:rPr lang="en-IN" b="1" dirty="0" smtClean="0"/>
              <a:t>Concepts (C)</a:t>
            </a:r>
            <a:r>
              <a:rPr lang="en-IN" dirty="0" smtClean="0"/>
              <a:t> → classes or sets of individuals (e.g., Person, Animal, Car).</a:t>
            </a:r>
          </a:p>
          <a:p>
            <a:pPr algn="just"/>
            <a:r>
              <a:rPr lang="en-IN" b="1" dirty="0" smtClean="0"/>
              <a:t>Roles (R)</a:t>
            </a:r>
            <a:r>
              <a:rPr lang="en-IN" dirty="0" smtClean="0"/>
              <a:t> → binary relations between individuals (e.g., hasChild, owns).</a:t>
            </a:r>
          </a:p>
          <a:p>
            <a:pPr algn="just"/>
            <a:r>
              <a:rPr lang="en-IN" b="1" dirty="0" smtClean="0"/>
              <a:t>Individuals (a, b, c)</a:t>
            </a:r>
            <a:r>
              <a:rPr lang="en-IN" dirty="0" smtClean="0"/>
              <a:t> → specific objects or instances (e.g., John, Mary, Car1)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Syntax examples:</a:t>
            </a:r>
          </a:p>
          <a:p>
            <a:pPr>
              <a:buNone/>
            </a:pPr>
            <a:endParaRPr lang="en-IN" b="1" dirty="0" smtClean="0"/>
          </a:p>
          <a:p>
            <a:pPr algn="just"/>
            <a:r>
              <a:rPr lang="en-IN" dirty="0" smtClean="0"/>
              <a:t>Person ⊑ Animal → Every person is an animal (subsumption).</a:t>
            </a:r>
          </a:p>
          <a:p>
            <a:pPr algn="just"/>
            <a:r>
              <a:rPr lang="en-IN" dirty="0" smtClean="0"/>
              <a:t>Mother ≡ Woman ⊓ ∃hasChild.Person → A mother is a woman who has at least one child who is a person.</a:t>
            </a:r>
          </a:p>
          <a:p>
            <a:pPr algn="just"/>
            <a:r>
              <a:rPr lang="en-IN" dirty="0" smtClean="0"/>
              <a:t>John : Person ⊓ ∃hasPet.Dog → John is a person who has at least one pet that is a dog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02076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DLs in Natural Language Semantics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 smtClean="0"/>
              <a:t>Example 1: Representing Noun Phrases</a:t>
            </a:r>
          </a:p>
          <a:p>
            <a:pPr algn="just"/>
            <a:r>
              <a:rPr lang="en-IN" b="1" dirty="0" smtClean="0"/>
              <a:t>Sentence:</a:t>
            </a:r>
            <a:r>
              <a:rPr lang="en-IN" dirty="0" smtClean="0"/>
              <a:t> “A mother is a woman who has a child.”</a:t>
            </a:r>
          </a:p>
          <a:p>
            <a:pPr algn="just"/>
            <a:r>
              <a:rPr lang="en-IN" b="1" dirty="0" smtClean="0"/>
              <a:t>DL Representation:</a:t>
            </a:r>
            <a:endParaRPr lang="en-IN" dirty="0" smtClean="0"/>
          </a:p>
          <a:p>
            <a:pPr algn="just">
              <a:buNone/>
            </a:pPr>
            <a:r>
              <a:rPr lang="en-IN" dirty="0" smtClean="0"/>
              <a:t>		Mother ≡ Woman ⊓ ∃hasChild.Person</a:t>
            </a:r>
          </a:p>
          <a:p>
            <a:pPr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This captures the compositional meaning — intersection of being a woman and having a child.</a:t>
            </a:r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/>
              <a:t>Example 2: Sentence Semantics</a:t>
            </a:r>
          </a:p>
          <a:p>
            <a:pPr algn="just">
              <a:buNone/>
            </a:pPr>
            <a:endParaRPr lang="en-IN" b="1" dirty="0" smtClean="0"/>
          </a:p>
          <a:p>
            <a:pPr algn="just"/>
            <a:r>
              <a:rPr lang="en-IN" b="1" dirty="0" smtClean="0"/>
              <a:t>Sentence:</a:t>
            </a:r>
            <a:r>
              <a:rPr lang="en-IN" dirty="0" smtClean="0"/>
              <a:t> “Every student reads a book.”</a:t>
            </a:r>
          </a:p>
          <a:p>
            <a:pPr algn="just"/>
            <a:r>
              <a:rPr lang="en-IN" b="1" dirty="0" smtClean="0"/>
              <a:t>Possible DL-based meaning representation</a:t>
            </a:r>
          </a:p>
          <a:p>
            <a:pPr algn="just"/>
            <a:endParaRPr lang="en-IN" b="1" dirty="0" smtClean="0"/>
          </a:p>
          <a:p>
            <a:pPr algn="just">
              <a:buNone/>
            </a:pPr>
            <a:r>
              <a:rPr lang="en-IN" b="1" dirty="0" smtClean="0"/>
              <a:t>		</a:t>
            </a:r>
            <a:r>
              <a:rPr lang="en-IN" dirty="0" smtClean="0"/>
              <a:t>Student ⊑ ∃</a:t>
            </a:r>
            <a:r>
              <a:rPr lang="en-IN" dirty="0" err="1" smtClean="0"/>
              <a:t>reads.Book</a:t>
            </a:r>
            <a:endParaRPr lang="en-IN" dirty="0" smtClean="0"/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This means every student is related through the reads role to some book</a:t>
            </a:r>
            <a:endParaRPr lang="en-I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Example 3: Class Hierarchies</a:t>
            </a:r>
          </a:p>
          <a:p>
            <a:pPr algn="just">
              <a:buNone/>
            </a:pPr>
            <a:r>
              <a:rPr lang="en-IN" dirty="0" smtClean="0"/>
              <a:t>	Teacher ⊑ Person  </a:t>
            </a:r>
          </a:p>
          <a:p>
            <a:pPr algn="just">
              <a:buNone/>
            </a:pPr>
            <a:r>
              <a:rPr lang="en-IN" dirty="0" smtClean="0"/>
              <a:t>	Professor ⊑ Teacher  </a:t>
            </a:r>
          </a:p>
          <a:p>
            <a:pPr algn="just">
              <a:buNone/>
            </a:pPr>
            <a:r>
              <a:rPr lang="en-IN" dirty="0" smtClean="0"/>
              <a:t>	Teacher ⊓ Student ≡ ∅     (A teacher cannot be a student)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These can represent semantic constraints derived from linguistic or world knowledge</a:t>
            </a:r>
            <a:endParaRPr lang="en-I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Illustrative Summary Example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600200"/>
          <a:ext cx="8229600" cy="3827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95677">
                <a:tc>
                  <a:txBody>
                    <a:bodyPr/>
                    <a:lstStyle/>
                    <a:p>
                      <a:r>
                        <a:rPr lang="en-IN" sz="2400" dirty="0"/>
                        <a:t>Natural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DL Representation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Inferred Meaning</a:t>
                      </a:r>
                      <a:endParaRPr lang="en-IN" sz="2400" dirty="0"/>
                    </a:p>
                  </a:txBody>
                  <a:tcPr/>
                </a:tc>
              </a:tr>
              <a:tr h="1561723"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“A teacher is a person who teaches.”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Teacher ≡ Person ⊓ ∃teaches.Subject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All teachers are persons and perform a teaching action</a:t>
                      </a:r>
                      <a:endParaRPr lang="en-IN" sz="2400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“Mary teaches Physics.”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Mary : Person ⊓ ∃teaches.Physics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Mary belongs to Teacher class</a:t>
                      </a:r>
                      <a:endParaRPr lang="en-IN" sz="2400" dirty="0"/>
                    </a:p>
                  </a:txBody>
                  <a:tcPr/>
                </a:tc>
              </a:tr>
              <a:tr h="855552"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“It is red.” (Referring to car)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Car1 : Car ⊓ ∃hasColor.Red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Links pronoun “it” to the red car.</a:t>
                      </a:r>
                      <a:endParaRPr lang="en-IN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Syntax-Driven Semantic analysis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N" b="1" dirty="0" smtClean="0"/>
              <a:t>Syntax-Driven Semantic Analysis</a:t>
            </a:r>
            <a:r>
              <a:rPr lang="en-IN" dirty="0" smtClean="0"/>
              <a:t> is a stage in Natural Language Processing (NLP) that links </a:t>
            </a:r>
            <a:r>
              <a:rPr lang="en-IN" b="1" dirty="0" smtClean="0"/>
              <a:t>syntactic structure</a:t>
            </a:r>
            <a:r>
              <a:rPr lang="en-IN" dirty="0" smtClean="0"/>
              <a:t> (grammar) with </a:t>
            </a:r>
            <a:r>
              <a:rPr lang="en-IN" b="1" dirty="0" smtClean="0"/>
              <a:t>semantic interpretation</a:t>
            </a:r>
            <a:r>
              <a:rPr lang="en-IN" dirty="0" smtClean="0"/>
              <a:t> (meaning)</a:t>
            </a:r>
          </a:p>
          <a:p>
            <a:pPr algn="just"/>
            <a:r>
              <a:rPr lang="en-IN" dirty="0" smtClean="0"/>
              <a:t>It uses </a:t>
            </a:r>
            <a:r>
              <a:rPr lang="en-IN" b="1" dirty="0" smtClean="0"/>
              <a:t>syntactic parse trees</a:t>
            </a:r>
            <a:r>
              <a:rPr lang="en-IN" dirty="0" smtClean="0"/>
              <a:t> as the backbone for constructing </a:t>
            </a:r>
            <a:r>
              <a:rPr lang="en-IN" b="1" dirty="0" smtClean="0"/>
              <a:t>semantic representations</a:t>
            </a:r>
            <a:r>
              <a:rPr lang="en-IN" dirty="0" smtClean="0"/>
              <a:t>, ensuring that the meaning of a sentence is derived </a:t>
            </a:r>
            <a:r>
              <a:rPr lang="en-IN" b="1" dirty="0" smtClean="0"/>
              <a:t>compositionally</a:t>
            </a:r>
            <a:r>
              <a:rPr lang="en-IN" dirty="0" smtClean="0"/>
              <a:t> — i.e., the meaning of the whole is built from the meaning of its parts</a:t>
            </a:r>
            <a:endParaRPr lang="en-I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The principle comes from </a:t>
            </a:r>
            <a:r>
              <a:rPr lang="en-IN" b="1" dirty="0" err="1" smtClean="0"/>
              <a:t>Frege’s</a:t>
            </a:r>
            <a:r>
              <a:rPr lang="en-IN" b="1" dirty="0" smtClean="0"/>
              <a:t> Principle of Compositionality:</a:t>
            </a:r>
          </a:p>
          <a:p>
            <a:pPr algn="just">
              <a:buNone/>
            </a:pPr>
            <a:endParaRPr lang="en-IN" b="1" dirty="0" smtClean="0"/>
          </a:p>
          <a:p>
            <a:pPr algn="just">
              <a:buNone/>
            </a:pPr>
            <a:r>
              <a:rPr lang="en-IN" dirty="0" smtClean="0"/>
              <a:t>“The meaning of a sentence is a function of the meanings of its parts and the way they are syntactically combined.”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So, the </a:t>
            </a:r>
            <a:r>
              <a:rPr lang="en-IN" b="1" dirty="0" smtClean="0"/>
              <a:t>syntax tree structure</a:t>
            </a:r>
            <a:r>
              <a:rPr lang="en-IN" dirty="0" smtClean="0"/>
              <a:t> guides </a:t>
            </a:r>
            <a:r>
              <a:rPr lang="en-IN" b="1" dirty="0" smtClean="0"/>
              <a:t>how semantic representations are combined</a:t>
            </a:r>
            <a:r>
              <a:rPr lang="en-IN" dirty="0" smtClean="0"/>
              <a:t> — word by word, phrase by phrase.</a:t>
            </a:r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What is Syntax-Driven Semantic Analysis?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IN" dirty="0" smtClean="0"/>
              <a:t>It is the process of generating </a:t>
            </a:r>
            <a:r>
              <a:rPr lang="en-IN" b="1" dirty="0" smtClean="0"/>
              <a:t>semantic representations (meaning structures)</a:t>
            </a:r>
            <a:r>
              <a:rPr lang="en-IN" dirty="0" smtClean="0"/>
              <a:t> directly from </a:t>
            </a:r>
            <a:r>
              <a:rPr lang="en-IN" b="1" dirty="0" smtClean="0"/>
              <a:t>syntactic structures</a:t>
            </a:r>
          </a:p>
          <a:p>
            <a:pPr algn="just"/>
            <a:endParaRPr lang="en-IN" b="1" dirty="0" smtClean="0"/>
          </a:p>
          <a:p>
            <a:pPr algn="just">
              <a:buNone/>
            </a:pPr>
            <a:r>
              <a:rPr lang="en-IN" b="1" dirty="0" smtClean="0"/>
              <a:t>It involves:</a:t>
            </a:r>
          </a:p>
          <a:p>
            <a:pPr algn="just">
              <a:buNone/>
            </a:pPr>
            <a:endParaRPr lang="en-IN" b="1" dirty="0" smtClean="0"/>
          </a:p>
          <a:p>
            <a:pPr algn="just"/>
            <a:r>
              <a:rPr lang="en-IN" b="1" dirty="0" smtClean="0"/>
              <a:t>Parsing:</a:t>
            </a:r>
            <a:r>
              <a:rPr lang="en-IN" dirty="0" smtClean="0"/>
              <a:t> Deriving a syntactic structure (parse tree or dependency tree).</a:t>
            </a:r>
          </a:p>
          <a:p>
            <a:pPr algn="just"/>
            <a:r>
              <a:rPr lang="en-IN" b="1" dirty="0" smtClean="0"/>
              <a:t>Semantic rule attachment:</a:t>
            </a:r>
            <a:r>
              <a:rPr lang="en-IN" dirty="0" smtClean="0"/>
              <a:t> Assigning meaning rules to grammar productions.</a:t>
            </a:r>
          </a:p>
          <a:p>
            <a:pPr algn="just"/>
            <a:r>
              <a:rPr lang="en-IN" b="1" dirty="0" smtClean="0"/>
              <a:t>Semantic composition:</a:t>
            </a:r>
            <a:r>
              <a:rPr lang="en-IN" dirty="0" smtClean="0"/>
              <a:t> Combining meanings according to syntactic relations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Syntax–Semantics Interface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066800"/>
          <a:ext cx="82296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/>
                <a:gridCol w="4953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Syntactic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Semantic Role</a:t>
                      </a:r>
                      <a:endParaRPr lang="en-IN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/>
                        <a:t>Noun Phrase (NP)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Refers to entities (individuals, objects)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Verb Phrase (VP)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Refers to actions, events, or relation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Prepositional Phrase (PP)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Adds relations or properties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Sentence (S)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Asserts a proposition about the world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3400" y="3124200"/>
            <a:ext cx="8229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Example:</a:t>
            </a:r>
          </a:p>
          <a:p>
            <a:r>
              <a:rPr lang="en-IN" sz="2800" dirty="0" smtClean="0"/>
              <a:t>Sentence (S) → NP VP</a:t>
            </a:r>
          </a:p>
          <a:p>
            <a:endParaRPr lang="en-IN" sz="2800" dirty="0" smtClean="0"/>
          </a:p>
          <a:p>
            <a:r>
              <a:rPr lang="en-IN" sz="2800" b="1" dirty="0" smtClean="0"/>
              <a:t>Semantic rule:</a:t>
            </a:r>
          </a:p>
          <a:p>
            <a:r>
              <a:rPr lang="en-IN" sz="2800" dirty="0" smtClean="0"/>
              <a:t>Meaning(S) = Meaning(VP)(Meaning(NP))</a:t>
            </a:r>
          </a:p>
          <a:p>
            <a:endParaRPr lang="en-IN" sz="2800" dirty="0" smtClean="0"/>
          </a:p>
          <a:p>
            <a:r>
              <a:rPr lang="en-IN" sz="2800" dirty="0" smtClean="0"/>
              <a:t>This shows function application — the verb phrase applies to the noun phrase</a:t>
            </a:r>
            <a:endParaRPr lang="en-IN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Example: Simple Sentence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Sentence:</a:t>
            </a:r>
          </a:p>
          <a:p>
            <a:pPr>
              <a:buNone/>
            </a:pPr>
            <a:r>
              <a:rPr lang="en-IN" dirty="0" smtClean="0"/>
              <a:t>			"John loves Mary.“</a:t>
            </a:r>
          </a:p>
          <a:p>
            <a:pPr>
              <a:buNone/>
            </a:pPr>
            <a:r>
              <a:rPr lang="en-IN" dirty="0" smtClean="0"/>
              <a:t>Step 1: Syntax Tree</a:t>
            </a:r>
          </a:p>
          <a:p>
            <a:pPr indent="736600">
              <a:buNone/>
            </a:pPr>
            <a:r>
              <a:rPr lang="en-IN" dirty="0" smtClean="0"/>
              <a:t>S</a:t>
            </a:r>
          </a:p>
          <a:p>
            <a:pPr indent="736600">
              <a:buNone/>
            </a:pPr>
            <a:r>
              <a:rPr lang="en-IN" dirty="0" smtClean="0"/>
              <a:t>├── NP → John</a:t>
            </a:r>
          </a:p>
          <a:p>
            <a:pPr indent="736600">
              <a:buNone/>
            </a:pPr>
            <a:r>
              <a:rPr lang="en-IN" dirty="0" smtClean="0"/>
              <a:t>└── VP</a:t>
            </a:r>
          </a:p>
          <a:p>
            <a:pPr indent="736600">
              <a:buNone/>
            </a:pPr>
            <a:r>
              <a:rPr lang="en-IN" dirty="0" smtClean="0"/>
              <a:t>     ├── V → loves</a:t>
            </a:r>
          </a:p>
          <a:p>
            <a:pPr indent="736600">
              <a:buNone/>
            </a:pPr>
            <a:r>
              <a:rPr lang="en-IN" dirty="0" smtClean="0"/>
              <a:t>     └── NP → Mary</a:t>
            </a:r>
            <a:endParaRPr lang="en-I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smtClean="0"/>
              <a:t>Step 2: </a:t>
            </a:r>
            <a:r>
              <a:rPr lang="en-IN" dirty="0" smtClean="0"/>
              <a:t>Assign lexical meanings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b="1" dirty="0" smtClean="0"/>
              <a:t>Step 3: </a:t>
            </a:r>
            <a:r>
              <a:rPr lang="en-IN" dirty="0" smtClean="0"/>
              <a:t>Apply syntax-driven semantic rule</a:t>
            </a:r>
          </a:p>
          <a:p>
            <a:pPr>
              <a:buNone/>
            </a:pPr>
            <a:r>
              <a:rPr lang="en-IN" dirty="0" smtClean="0"/>
              <a:t>	NP → john</a:t>
            </a:r>
          </a:p>
          <a:p>
            <a:pPr>
              <a:buNone/>
            </a:pPr>
            <a:r>
              <a:rPr lang="en-IN" dirty="0" smtClean="0"/>
              <a:t>	VP → (</a:t>
            </a:r>
            <a:r>
              <a:rPr lang="el-GR" dirty="0" smtClean="0"/>
              <a:t>λ</a:t>
            </a:r>
            <a:r>
              <a:rPr lang="en-IN" dirty="0" smtClean="0"/>
              <a:t>x.</a:t>
            </a:r>
            <a:r>
              <a:rPr lang="el-GR" dirty="0" smtClean="0"/>
              <a:t>λ</a:t>
            </a:r>
            <a:r>
              <a:rPr lang="en-IN" dirty="0" smtClean="0"/>
              <a:t>y.love(y, x)) (mary) → </a:t>
            </a:r>
            <a:r>
              <a:rPr lang="el-GR" dirty="0" smtClean="0"/>
              <a:t>λ</a:t>
            </a:r>
            <a:r>
              <a:rPr lang="en-IN" dirty="0" smtClean="0"/>
              <a:t>y.love(y, mary)</a:t>
            </a:r>
          </a:p>
          <a:p>
            <a:pPr>
              <a:buNone/>
            </a:pPr>
            <a:r>
              <a:rPr lang="en-IN" dirty="0" smtClean="0"/>
              <a:t>	S → (</a:t>
            </a:r>
            <a:r>
              <a:rPr lang="el-GR" dirty="0" smtClean="0"/>
              <a:t>λ</a:t>
            </a:r>
            <a:r>
              <a:rPr lang="en-IN" dirty="0" smtClean="0"/>
              <a:t>y.love(y, mary)) (john) → love(john, mary)</a:t>
            </a:r>
          </a:p>
          <a:p>
            <a:r>
              <a:rPr lang="en-IN" b="1" dirty="0" smtClean="0"/>
              <a:t>Final Semantic Representation:</a:t>
            </a:r>
          </a:p>
          <a:p>
            <a:pPr>
              <a:buNone/>
            </a:pPr>
            <a:r>
              <a:rPr lang="en-IN" b="1" dirty="0" smtClean="0"/>
              <a:t>		</a:t>
            </a:r>
            <a:r>
              <a:rPr lang="en-IN" dirty="0" smtClean="0"/>
              <a:t>love(john, mary)</a:t>
            </a:r>
          </a:p>
          <a:p>
            <a:pPr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1066800"/>
          <a:ext cx="693420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5626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Semantic Representation</a:t>
                      </a:r>
                      <a:endParaRPr lang="en-IN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john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Mary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mary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loves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000" dirty="0" smtClean="0"/>
                        <a:t>λ</a:t>
                      </a:r>
                      <a:r>
                        <a:rPr lang="en-IN" sz="2000" dirty="0" smtClean="0"/>
                        <a:t>x.</a:t>
                      </a:r>
                      <a:r>
                        <a:rPr lang="el-GR" sz="2000" dirty="0" smtClean="0"/>
                        <a:t>λ</a:t>
                      </a:r>
                      <a:r>
                        <a:rPr lang="en-IN" sz="2000" dirty="0" err="1" smtClean="0"/>
                        <a:t>y.love</a:t>
                      </a:r>
                      <a:r>
                        <a:rPr lang="en-IN" sz="2000" dirty="0" smtClean="0"/>
                        <a:t>(y, x) → function that takes an object and subject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Syntax-Driven?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IN" dirty="0" smtClean="0"/>
              <a:t>The </a:t>
            </a:r>
            <a:r>
              <a:rPr lang="en-IN" b="1" dirty="0" smtClean="0"/>
              <a:t>syntactic structure determines who does what to whom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Without syntax, we can’t disambiguate meanings like:</a:t>
            </a:r>
          </a:p>
          <a:p>
            <a:pPr algn="just">
              <a:buNone/>
            </a:pPr>
            <a:r>
              <a:rPr lang="en-IN" dirty="0" smtClean="0"/>
              <a:t>		“The man saw the boy with the telescope.”</a:t>
            </a:r>
          </a:p>
          <a:p>
            <a:pPr algn="just">
              <a:buNone/>
            </a:pPr>
            <a:r>
              <a:rPr lang="en-IN" dirty="0" smtClean="0"/>
              <a:t>Two parses → two meanings:</a:t>
            </a:r>
          </a:p>
          <a:p>
            <a:pPr algn="just"/>
            <a:r>
              <a:rPr lang="en-IN" dirty="0" smtClean="0"/>
              <a:t>The man used a telescope to see the boy.</a:t>
            </a:r>
          </a:p>
          <a:p>
            <a:pPr algn="just"/>
            <a:r>
              <a:rPr lang="en-IN" dirty="0" smtClean="0"/>
              <a:t>The man saw a boy who had a telescope.</a:t>
            </a:r>
          </a:p>
          <a:p>
            <a:pPr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Syntax-driven semantics ensures that the correct semantic structure aligns with the syntactic one.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Semantic Attachment to Grammar Rules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 smtClean="0"/>
              <a:t>Each grammar rule has a </a:t>
            </a:r>
            <a:r>
              <a:rPr lang="en-IN" b="1" dirty="0" smtClean="0"/>
              <a:t>semantic rule</a:t>
            </a:r>
            <a:r>
              <a:rPr lang="en-IN" dirty="0" smtClean="0"/>
              <a:t> attached</a:t>
            </a:r>
          </a:p>
          <a:p>
            <a:pPr algn="just">
              <a:buNone/>
            </a:pPr>
            <a:r>
              <a:rPr lang="en-IN" b="1" dirty="0" smtClean="0"/>
              <a:t>Example Grammar Rule:</a:t>
            </a:r>
          </a:p>
          <a:p>
            <a:pPr lvl="2">
              <a:buNone/>
            </a:pPr>
            <a:r>
              <a:rPr lang="pl-PL" dirty="0" smtClean="0"/>
              <a:t>S → NP VP</a:t>
            </a:r>
          </a:p>
          <a:p>
            <a:pPr lvl="2">
              <a:buNone/>
            </a:pPr>
            <a:r>
              <a:rPr lang="pl-PL" dirty="0" smtClean="0"/>
              <a:t>NP → Det N</a:t>
            </a:r>
          </a:p>
          <a:p>
            <a:pPr lvl="2">
              <a:buNone/>
            </a:pPr>
            <a:r>
              <a:rPr lang="pl-PL" dirty="0" smtClean="0"/>
              <a:t>VP → V NP</a:t>
            </a:r>
            <a:endParaRPr lang="en-IN" dirty="0" smtClean="0"/>
          </a:p>
          <a:p>
            <a:pPr marL="0" lvl="2" indent="0">
              <a:buNone/>
            </a:pPr>
            <a:r>
              <a:rPr lang="en-IN" sz="2800" b="1" dirty="0" smtClean="0"/>
              <a:t>Semantic Rules:</a:t>
            </a:r>
          </a:p>
          <a:p>
            <a:pPr marL="0" lvl="2" indent="719138">
              <a:buNone/>
            </a:pPr>
            <a:r>
              <a:rPr lang="en-IN" sz="2800" dirty="0" smtClean="0"/>
              <a:t>S.sem = VP.sem (NP.sem)</a:t>
            </a:r>
          </a:p>
          <a:p>
            <a:pPr marL="0" lvl="2" indent="719138">
              <a:buNone/>
            </a:pPr>
            <a:r>
              <a:rPr lang="en-IN" sz="2800" dirty="0" smtClean="0"/>
              <a:t>NP.sem = N.sem ⊓ Det.sem</a:t>
            </a:r>
          </a:p>
          <a:p>
            <a:pPr marL="0" lvl="2" indent="719138">
              <a:buNone/>
            </a:pPr>
            <a:r>
              <a:rPr lang="en-IN" sz="2800" dirty="0" smtClean="0"/>
              <a:t>VP.sem = </a:t>
            </a:r>
            <a:r>
              <a:rPr lang="el-GR" sz="2800" dirty="0" smtClean="0"/>
              <a:t>λ</a:t>
            </a:r>
            <a:r>
              <a:rPr lang="en-IN" sz="2800" dirty="0" smtClean="0"/>
              <a:t>x. V.sem (NP.sem, x)</a:t>
            </a:r>
          </a:p>
          <a:p>
            <a:pPr marL="0" lvl="2" indent="0">
              <a:buNone/>
            </a:pPr>
            <a:endParaRPr lang="en-IN" sz="2800" dirty="0" smtClean="0"/>
          </a:p>
          <a:p>
            <a:pPr marL="0" lvl="2" indent="0" algn="just">
              <a:buNone/>
            </a:pPr>
            <a:r>
              <a:rPr lang="en-IN" sz="2800" dirty="0" smtClean="0"/>
              <a:t>By traversing the parse tree, each rule’s semantic function builds the full sentence meaning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Using Lambda Calculus for Semantic Composition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Lambda calculus is used to represent </a:t>
            </a:r>
            <a:r>
              <a:rPr lang="en-IN" b="1" dirty="0" smtClean="0"/>
              <a:t>functions</a:t>
            </a:r>
            <a:r>
              <a:rPr lang="en-IN" dirty="0" smtClean="0"/>
              <a:t> and </a:t>
            </a:r>
            <a:r>
              <a:rPr lang="en-IN" b="1" dirty="0" smtClean="0"/>
              <a:t>application</a:t>
            </a:r>
            <a:r>
              <a:rPr lang="en-IN" dirty="0" smtClean="0"/>
              <a:t> during meaning composition</a:t>
            </a:r>
          </a:p>
          <a:p>
            <a:pPr algn="just"/>
            <a:r>
              <a:rPr lang="en-IN" b="1" dirty="0" smtClean="0"/>
              <a:t>Example:</a:t>
            </a:r>
          </a:p>
          <a:p>
            <a:pPr algn="just">
              <a:buNone/>
            </a:pPr>
            <a:r>
              <a:rPr lang="en-IN" dirty="0" smtClean="0"/>
              <a:t>		"Every student reads a book.“</a:t>
            </a:r>
          </a:p>
          <a:p>
            <a:pPr algn="just">
              <a:buNone/>
            </a:pPr>
            <a:r>
              <a:rPr lang="en-IN" b="1" dirty="0" smtClean="0"/>
              <a:t>Syntactic Structure:</a:t>
            </a:r>
          </a:p>
          <a:p>
            <a:pPr lvl="1" algn="just">
              <a:buNone/>
            </a:pPr>
            <a:r>
              <a:rPr lang="en-IN" dirty="0" smtClean="0"/>
              <a:t>S → NP VP</a:t>
            </a:r>
          </a:p>
          <a:p>
            <a:pPr lvl="1" algn="just">
              <a:buNone/>
            </a:pPr>
            <a:r>
              <a:rPr lang="en-IN" dirty="0" smtClean="0"/>
              <a:t>NP → </a:t>
            </a:r>
            <a:r>
              <a:rPr lang="en-IN" dirty="0" err="1" smtClean="0"/>
              <a:t>Det</a:t>
            </a:r>
            <a:r>
              <a:rPr lang="en-IN" dirty="0" smtClean="0"/>
              <a:t> N (Every student)</a:t>
            </a:r>
          </a:p>
          <a:p>
            <a:pPr lvl="1" algn="just">
              <a:buNone/>
            </a:pPr>
            <a:r>
              <a:rPr lang="en-IN" dirty="0" smtClean="0"/>
              <a:t>VP → V NP (reads a book)</a:t>
            </a:r>
            <a:endParaRPr lang="en-I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91200"/>
          </a:xfrm>
        </p:spPr>
        <p:txBody>
          <a:bodyPr>
            <a:normAutofit lnSpcReduction="10000"/>
          </a:bodyPr>
          <a:lstStyle/>
          <a:p>
            <a:r>
              <a:rPr lang="en-IN" b="1" dirty="0" smtClean="0"/>
              <a:t>Lexical semantics</a:t>
            </a:r>
          </a:p>
          <a:p>
            <a:pPr lvl="1">
              <a:buNone/>
            </a:pPr>
            <a:r>
              <a:rPr lang="en-IN" dirty="0" smtClean="0"/>
              <a:t>Every → </a:t>
            </a:r>
            <a:r>
              <a:rPr lang="el-GR" dirty="0" smtClean="0"/>
              <a:t>λ</a:t>
            </a:r>
            <a:r>
              <a:rPr lang="en-IN" dirty="0" smtClean="0"/>
              <a:t>P.</a:t>
            </a:r>
            <a:r>
              <a:rPr lang="el-GR" dirty="0" smtClean="0"/>
              <a:t>λ</a:t>
            </a:r>
            <a:r>
              <a:rPr lang="en-IN" dirty="0" smtClean="0"/>
              <a:t>Q. ∀x [P(x) → Q(x)]</a:t>
            </a:r>
          </a:p>
          <a:p>
            <a:pPr lvl="1">
              <a:buNone/>
            </a:pPr>
            <a:r>
              <a:rPr lang="en-IN" dirty="0" smtClean="0"/>
              <a:t>Student → </a:t>
            </a:r>
            <a:r>
              <a:rPr lang="el-GR" dirty="0" smtClean="0"/>
              <a:t>λ</a:t>
            </a:r>
            <a:r>
              <a:rPr lang="en-IN" dirty="0" smtClean="0"/>
              <a:t>x. student(x)</a:t>
            </a:r>
          </a:p>
          <a:p>
            <a:pPr lvl="1">
              <a:buNone/>
            </a:pPr>
            <a:r>
              <a:rPr lang="en-IN" dirty="0" smtClean="0"/>
              <a:t>Reads → </a:t>
            </a:r>
            <a:r>
              <a:rPr lang="el-GR" dirty="0" smtClean="0"/>
              <a:t>λ</a:t>
            </a:r>
            <a:r>
              <a:rPr lang="en-IN" dirty="0" smtClean="0"/>
              <a:t>y.</a:t>
            </a:r>
            <a:r>
              <a:rPr lang="el-GR" dirty="0" smtClean="0"/>
              <a:t>λ</a:t>
            </a:r>
            <a:r>
              <a:rPr lang="en-IN" dirty="0" smtClean="0"/>
              <a:t>x. read(x, y)</a:t>
            </a:r>
          </a:p>
          <a:p>
            <a:pPr lvl="1">
              <a:buNone/>
            </a:pPr>
            <a:r>
              <a:rPr lang="en-IN" dirty="0" smtClean="0"/>
              <a:t>A → </a:t>
            </a:r>
            <a:r>
              <a:rPr lang="el-GR" dirty="0" smtClean="0"/>
              <a:t>λ</a:t>
            </a:r>
            <a:r>
              <a:rPr lang="en-IN" dirty="0" smtClean="0"/>
              <a:t>P.</a:t>
            </a:r>
            <a:r>
              <a:rPr lang="el-GR" dirty="0" smtClean="0"/>
              <a:t>λ</a:t>
            </a:r>
            <a:r>
              <a:rPr lang="en-IN" dirty="0" smtClean="0"/>
              <a:t>Q. ∃x [P(x) ∧ Q(x)]</a:t>
            </a:r>
          </a:p>
          <a:p>
            <a:pPr lvl="1">
              <a:buNone/>
            </a:pPr>
            <a:r>
              <a:rPr lang="en-IN" dirty="0" smtClean="0"/>
              <a:t>Book → </a:t>
            </a:r>
            <a:r>
              <a:rPr lang="el-GR" dirty="0" smtClean="0"/>
              <a:t>λ</a:t>
            </a:r>
            <a:r>
              <a:rPr lang="en-IN" dirty="0" smtClean="0"/>
              <a:t>x. book(x)</a:t>
            </a:r>
          </a:p>
          <a:p>
            <a:pPr lvl="1" indent="-742950">
              <a:buNone/>
            </a:pPr>
            <a:r>
              <a:rPr lang="en-IN" b="1" dirty="0" smtClean="0"/>
              <a:t>Composition (simplified):</a:t>
            </a:r>
          </a:p>
          <a:p>
            <a:pPr lvl="1" indent="-742950" algn="just">
              <a:buNone/>
            </a:pPr>
            <a:r>
              <a:rPr lang="en-IN" dirty="0" smtClean="0"/>
              <a:t>Every(Student)(Reads(A(Book)))</a:t>
            </a:r>
          </a:p>
          <a:p>
            <a:pPr lvl="1" indent="-742950" algn="just">
              <a:buNone/>
            </a:pPr>
            <a:r>
              <a:rPr lang="en-IN" dirty="0" smtClean="0"/>
              <a:t>→ ∀x [student(x) → ∃y (book(y) ∧ read(x, y))]</a:t>
            </a:r>
          </a:p>
          <a:p>
            <a:pPr lvl="1" indent="-742950" algn="just">
              <a:buNone/>
            </a:pPr>
            <a:endParaRPr lang="en-IN" dirty="0" smtClean="0"/>
          </a:p>
          <a:p>
            <a:pPr lvl="1" indent="-742950" algn="just">
              <a:buNone/>
            </a:pPr>
            <a:r>
              <a:rPr lang="en-IN" b="1" dirty="0" smtClean="0"/>
              <a:t>Logical form: </a:t>
            </a:r>
            <a:r>
              <a:rPr lang="en-IN" dirty="0" smtClean="0"/>
              <a:t>For all x, if x is a student, then there exists y such that y is a book and x reads 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Word Senses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A </a:t>
            </a:r>
            <a:r>
              <a:rPr lang="en-IN" i="1" dirty="0" smtClean="0"/>
              <a:t>word sense</a:t>
            </a:r>
            <a:r>
              <a:rPr lang="en-IN" dirty="0" smtClean="0"/>
              <a:t> is one of the distinct meanings (interpretations) a lexical item (word) can have in context.</a:t>
            </a:r>
          </a:p>
          <a:p>
            <a:pPr algn="just"/>
            <a:r>
              <a:rPr lang="en-IN" b="1" dirty="0" err="1" smtClean="0"/>
              <a:t>Polysemy</a:t>
            </a:r>
            <a:r>
              <a:rPr lang="en-IN" b="1" dirty="0" smtClean="0"/>
              <a:t>:</a:t>
            </a:r>
            <a:r>
              <a:rPr lang="en-IN" dirty="0" smtClean="0"/>
              <a:t> one word, related multiple senses (e.g., </a:t>
            </a:r>
            <a:r>
              <a:rPr lang="en-IN" i="1" dirty="0" smtClean="0"/>
              <a:t>head</a:t>
            </a:r>
            <a:r>
              <a:rPr lang="en-IN" dirty="0" smtClean="0"/>
              <a:t>: body-part vs. leader).</a:t>
            </a:r>
          </a:p>
          <a:p>
            <a:pPr algn="just"/>
            <a:r>
              <a:rPr lang="en-IN" b="1" dirty="0" smtClean="0"/>
              <a:t>Homonymy:</a:t>
            </a:r>
            <a:r>
              <a:rPr lang="en-IN" dirty="0" smtClean="0"/>
              <a:t> same form, unrelated meanings (e.g., </a:t>
            </a:r>
            <a:r>
              <a:rPr lang="en-IN" i="1" dirty="0" smtClean="0"/>
              <a:t>bank</a:t>
            </a:r>
            <a:r>
              <a:rPr lang="en-IN" dirty="0" smtClean="0"/>
              <a:t> = financial institution </a:t>
            </a:r>
            <a:r>
              <a:rPr lang="en-IN" dirty="0" err="1" smtClean="0"/>
              <a:t>vs</a:t>
            </a:r>
            <a:r>
              <a:rPr lang="en-IN" dirty="0" smtClean="0"/>
              <a:t> </a:t>
            </a:r>
            <a:r>
              <a:rPr lang="en-IN" i="1" dirty="0" smtClean="0"/>
              <a:t>bank</a:t>
            </a:r>
            <a:r>
              <a:rPr lang="en-IN" dirty="0" smtClean="0"/>
              <a:t> = riverbank — sometimes treated as </a:t>
            </a:r>
            <a:r>
              <a:rPr lang="en-IN" dirty="0" err="1" smtClean="0"/>
              <a:t>polysemy</a:t>
            </a:r>
            <a:r>
              <a:rPr lang="en-IN" dirty="0" smtClean="0"/>
              <a:t>).</a:t>
            </a:r>
          </a:p>
          <a:p>
            <a:pPr algn="just"/>
            <a:r>
              <a:rPr lang="en-IN" b="1" dirty="0" err="1" smtClean="0"/>
              <a:t>Monosemy</a:t>
            </a:r>
            <a:r>
              <a:rPr lang="en-IN" b="1" dirty="0" smtClean="0"/>
              <a:t>:</a:t>
            </a:r>
            <a:r>
              <a:rPr lang="en-IN" dirty="0" smtClean="0"/>
              <a:t> single sense.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382000" cy="6019800"/>
          </a:xfrm>
        </p:spPr>
        <p:txBody>
          <a:bodyPr>
            <a:normAutofit fontScale="77500" lnSpcReduction="20000"/>
          </a:bodyPr>
          <a:lstStyle/>
          <a:p>
            <a:pPr algn="just">
              <a:buNone/>
            </a:pPr>
            <a:r>
              <a:rPr lang="en-IN" sz="4200" b="1" dirty="0" smtClean="0"/>
              <a:t>Why senses matter:</a:t>
            </a:r>
            <a:r>
              <a:rPr lang="en-IN" sz="4200" dirty="0" smtClean="0"/>
              <a:t> </a:t>
            </a:r>
            <a:r>
              <a:rPr lang="en-IN" dirty="0" smtClean="0"/>
              <a:t>Many NLP tasks (MT, QA, IR, IE) need to know which sense was intended to avoid wrong inferences</a:t>
            </a:r>
          </a:p>
          <a:p>
            <a:pPr algn="just"/>
            <a:endParaRPr lang="en-IN" dirty="0" smtClean="0"/>
          </a:p>
          <a:p>
            <a:pPr algn="just">
              <a:buNone/>
            </a:pPr>
            <a:r>
              <a:rPr lang="en-IN" b="1" dirty="0" smtClean="0"/>
              <a:t>Practical issues:</a:t>
            </a:r>
            <a:endParaRPr lang="en-IN" dirty="0" smtClean="0"/>
          </a:p>
          <a:p>
            <a:pPr lvl="1" algn="just"/>
            <a:r>
              <a:rPr lang="en-IN" b="1" dirty="0" smtClean="0"/>
              <a:t>Granularity:</a:t>
            </a:r>
            <a:r>
              <a:rPr lang="en-IN" dirty="0" smtClean="0"/>
              <a:t> lexicographers (e.g., WordNet) provide fine-grained senses; in many tasks coarse-grained senses (grouped) work better.</a:t>
            </a:r>
          </a:p>
          <a:p>
            <a:pPr lvl="1" algn="just"/>
            <a:r>
              <a:rPr lang="en-IN" b="1" dirty="0" smtClean="0"/>
              <a:t>Sense inventories:</a:t>
            </a:r>
            <a:r>
              <a:rPr lang="en-IN" dirty="0" smtClean="0"/>
              <a:t> WordNet, </a:t>
            </a:r>
            <a:r>
              <a:rPr lang="en-IN" dirty="0" err="1" smtClean="0"/>
              <a:t>BabelNet</a:t>
            </a:r>
            <a:r>
              <a:rPr lang="en-IN" dirty="0" smtClean="0"/>
              <a:t>, dictionary senses (Oxford, Webster) — choose inventory based on task</a:t>
            </a:r>
          </a:p>
          <a:p>
            <a:pPr lvl="1" indent="-742950" algn="just">
              <a:buNone/>
            </a:pPr>
            <a:endParaRPr lang="en-IN" sz="3200" b="1" dirty="0" smtClean="0"/>
          </a:p>
          <a:p>
            <a:pPr lvl="1" indent="-742950" algn="just">
              <a:buNone/>
            </a:pPr>
            <a:r>
              <a:rPr lang="en-IN" sz="3200" b="1" dirty="0" smtClean="0"/>
              <a:t>Example:</a:t>
            </a:r>
          </a:p>
          <a:p>
            <a:pPr lvl="1" indent="-742950" algn="just">
              <a:buNone/>
            </a:pP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Sentence: “I need to go to the bank to deposit a cheque.” → sense = </a:t>
            </a:r>
            <a:r>
              <a:rPr lang="en-IN" i="1" dirty="0" smtClean="0"/>
              <a:t>financial institution</a:t>
            </a:r>
          </a:p>
          <a:p>
            <a:pPr lvl="1" indent="-742950" algn="just">
              <a:buNone/>
            </a:pPr>
            <a:r>
              <a:rPr lang="en-IN" dirty="0" smtClean="0"/>
              <a:t>	Sentence: “We picnicked on the river bank.” → sense = </a:t>
            </a:r>
            <a:r>
              <a:rPr lang="en-IN" i="1" dirty="0" smtClean="0"/>
              <a:t>river edge</a:t>
            </a:r>
            <a:endParaRPr lang="en-I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Relations between senses (lexical-semantic relations)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IN" dirty="0" smtClean="0"/>
              <a:t>These are links between sense nodes in resources like WordNet. Useful for semantic inference, similarity, and disambiguation.</a:t>
            </a:r>
          </a:p>
          <a:p>
            <a:pPr algn="just">
              <a:buNone/>
            </a:pPr>
            <a:r>
              <a:rPr lang="en-IN" dirty="0" smtClean="0"/>
              <a:t>Common relations (with examples):</a:t>
            </a:r>
          </a:p>
          <a:p>
            <a:pPr algn="just">
              <a:buNone/>
            </a:pPr>
            <a:endParaRPr lang="en-IN" dirty="0" smtClean="0"/>
          </a:p>
          <a:p>
            <a:pPr algn="just"/>
            <a:r>
              <a:rPr lang="en-IN" b="1" dirty="0" smtClean="0"/>
              <a:t>Synonymy</a:t>
            </a:r>
            <a:r>
              <a:rPr lang="en-IN" dirty="0" smtClean="0"/>
              <a:t> (synsets): </a:t>
            </a:r>
            <a:r>
              <a:rPr lang="en-IN" i="1" dirty="0" smtClean="0"/>
              <a:t>car</a:t>
            </a:r>
            <a:r>
              <a:rPr lang="en-IN" dirty="0" smtClean="0"/>
              <a:t> ≈ </a:t>
            </a:r>
            <a:r>
              <a:rPr lang="en-IN" i="1" dirty="0" smtClean="0"/>
              <a:t>automobile</a:t>
            </a:r>
            <a:r>
              <a:rPr lang="en-IN" dirty="0" smtClean="0"/>
              <a:t>.</a:t>
            </a:r>
          </a:p>
          <a:p>
            <a:pPr algn="just"/>
            <a:r>
              <a:rPr lang="en-IN" b="1" dirty="0" smtClean="0"/>
              <a:t>Antonymy:</a:t>
            </a:r>
            <a:r>
              <a:rPr lang="en-IN" dirty="0" smtClean="0"/>
              <a:t> </a:t>
            </a:r>
            <a:r>
              <a:rPr lang="en-IN" i="1" dirty="0" smtClean="0"/>
              <a:t>hot</a:t>
            </a:r>
            <a:r>
              <a:rPr lang="en-IN" dirty="0" smtClean="0"/>
              <a:t> ⇄ </a:t>
            </a:r>
            <a:r>
              <a:rPr lang="en-IN" i="1" dirty="0" smtClean="0"/>
              <a:t>cold</a:t>
            </a:r>
            <a:r>
              <a:rPr lang="en-IN" dirty="0" smtClean="0"/>
              <a:t>.</a:t>
            </a:r>
          </a:p>
          <a:p>
            <a:pPr algn="just"/>
            <a:r>
              <a:rPr lang="en-IN" b="1" dirty="0" smtClean="0"/>
              <a:t>Hypernym / Hyponym (is-a):</a:t>
            </a:r>
            <a:r>
              <a:rPr lang="en-IN" dirty="0" smtClean="0"/>
              <a:t> </a:t>
            </a:r>
            <a:r>
              <a:rPr lang="en-IN" i="1" dirty="0" smtClean="0"/>
              <a:t>dog</a:t>
            </a:r>
            <a:r>
              <a:rPr lang="en-IN" dirty="0" smtClean="0"/>
              <a:t> ⊑ </a:t>
            </a:r>
            <a:r>
              <a:rPr lang="en-IN" i="1" dirty="0" smtClean="0"/>
              <a:t>canine</a:t>
            </a:r>
            <a:r>
              <a:rPr lang="en-IN" dirty="0" smtClean="0"/>
              <a:t> ⊑ </a:t>
            </a:r>
            <a:r>
              <a:rPr lang="en-IN" i="1" dirty="0" smtClean="0"/>
              <a:t>animal</a:t>
            </a:r>
            <a:r>
              <a:rPr lang="en-IN" dirty="0" smtClean="0"/>
              <a:t>.</a:t>
            </a:r>
          </a:p>
          <a:p>
            <a:pPr algn="just"/>
            <a:r>
              <a:rPr lang="en-IN" b="1" dirty="0" smtClean="0"/>
              <a:t>Meronymy (part-of):</a:t>
            </a:r>
            <a:r>
              <a:rPr lang="en-IN" dirty="0" smtClean="0"/>
              <a:t> </a:t>
            </a:r>
            <a:r>
              <a:rPr lang="en-IN" i="1" dirty="0" smtClean="0"/>
              <a:t>wheel</a:t>
            </a:r>
            <a:r>
              <a:rPr lang="en-IN" dirty="0" smtClean="0"/>
              <a:t> part-of </a:t>
            </a:r>
            <a:r>
              <a:rPr lang="en-IN" i="1" dirty="0" smtClean="0"/>
              <a:t>car</a:t>
            </a:r>
            <a:r>
              <a:rPr lang="en-IN" dirty="0" smtClean="0"/>
              <a:t>.</a:t>
            </a:r>
          </a:p>
          <a:p>
            <a:pPr algn="just"/>
            <a:r>
              <a:rPr lang="en-IN" b="1" dirty="0" smtClean="0"/>
              <a:t>Troponymy (manner-of for verbs):</a:t>
            </a:r>
            <a:r>
              <a:rPr lang="en-IN" dirty="0" smtClean="0"/>
              <a:t> </a:t>
            </a:r>
            <a:r>
              <a:rPr lang="en-IN" i="1" dirty="0" smtClean="0"/>
              <a:t>whisper</a:t>
            </a:r>
            <a:r>
              <a:rPr lang="en-IN" dirty="0" smtClean="0"/>
              <a:t> troponym-of </a:t>
            </a:r>
            <a:r>
              <a:rPr lang="en-IN" i="1" dirty="0" smtClean="0"/>
              <a:t>speak</a:t>
            </a:r>
            <a:r>
              <a:rPr lang="en-IN" dirty="0" smtClean="0"/>
              <a:t>.</a:t>
            </a:r>
          </a:p>
          <a:p>
            <a:pPr algn="just"/>
            <a:r>
              <a:rPr lang="en-IN" b="1" dirty="0" smtClean="0"/>
              <a:t>Entailment (verbs):</a:t>
            </a:r>
            <a:r>
              <a:rPr lang="en-IN" dirty="0" smtClean="0"/>
              <a:t> </a:t>
            </a:r>
            <a:r>
              <a:rPr lang="en-IN" i="1" dirty="0" smtClean="0"/>
              <a:t>snore</a:t>
            </a:r>
            <a:r>
              <a:rPr lang="en-IN" dirty="0" smtClean="0"/>
              <a:t> entails </a:t>
            </a:r>
            <a:r>
              <a:rPr lang="en-IN" i="1" dirty="0" smtClean="0"/>
              <a:t>sleep</a:t>
            </a:r>
            <a:r>
              <a:rPr lang="en-IN" dirty="0" smtClean="0"/>
              <a:t>.</a:t>
            </a:r>
          </a:p>
          <a:p>
            <a:pPr algn="just"/>
            <a:r>
              <a:rPr lang="en-IN" b="1" dirty="0" smtClean="0"/>
              <a:t>Derivationally-related forms:</a:t>
            </a:r>
            <a:r>
              <a:rPr lang="en-IN" dirty="0" smtClean="0"/>
              <a:t> </a:t>
            </a:r>
            <a:r>
              <a:rPr lang="en-IN" i="1" dirty="0" smtClean="0"/>
              <a:t>decide</a:t>
            </a:r>
            <a:r>
              <a:rPr lang="en-IN" dirty="0" smtClean="0"/>
              <a:t> ↔ </a:t>
            </a:r>
            <a:r>
              <a:rPr lang="en-IN" i="1" dirty="0" smtClean="0"/>
              <a:t>decision</a:t>
            </a:r>
            <a:endParaRPr lang="en-IN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Thematic Roles &amp; Selectional Restrictions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 smtClean="0"/>
              <a:t>Thematic roles (semantic roles)</a:t>
            </a:r>
          </a:p>
          <a:p>
            <a:pPr algn="just">
              <a:buNone/>
            </a:pPr>
            <a:r>
              <a:rPr lang="en-IN" b="1" dirty="0" smtClean="0"/>
              <a:t>	</a:t>
            </a:r>
            <a:r>
              <a:rPr lang="en-IN" dirty="0" smtClean="0"/>
              <a:t>Roles that participants play in an event described by a verb. Typical inventory:</a:t>
            </a:r>
          </a:p>
          <a:p>
            <a:pPr lvl="1"/>
            <a:r>
              <a:rPr lang="en-IN" b="1" dirty="0" smtClean="0"/>
              <a:t>Agent:</a:t>
            </a:r>
            <a:r>
              <a:rPr lang="en-IN" dirty="0" smtClean="0"/>
              <a:t> initiator (e.g., </a:t>
            </a:r>
            <a:r>
              <a:rPr lang="en-IN" i="1" dirty="0" smtClean="0"/>
              <a:t>John</a:t>
            </a:r>
            <a:r>
              <a:rPr lang="en-IN" dirty="0" smtClean="0"/>
              <a:t> in “John ate the apple.”)</a:t>
            </a:r>
          </a:p>
          <a:p>
            <a:pPr lvl="1"/>
            <a:r>
              <a:rPr lang="en-IN" b="1" dirty="0" smtClean="0"/>
              <a:t>Patient / Theme:</a:t>
            </a:r>
            <a:r>
              <a:rPr lang="en-IN" dirty="0" smtClean="0"/>
              <a:t> entity affected (e.g., </a:t>
            </a:r>
            <a:r>
              <a:rPr lang="en-IN" i="1" dirty="0" smtClean="0"/>
              <a:t>the apple</a:t>
            </a:r>
            <a:r>
              <a:rPr lang="en-IN" dirty="0" smtClean="0"/>
              <a:t>)</a:t>
            </a:r>
          </a:p>
          <a:p>
            <a:pPr lvl="1"/>
            <a:r>
              <a:rPr lang="en-IN" b="1" dirty="0" smtClean="0"/>
              <a:t>Experiencer:</a:t>
            </a:r>
            <a:r>
              <a:rPr lang="en-IN" dirty="0" smtClean="0"/>
              <a:t> feels/perceives (e.g., </a:t>
            </a:r>
            <a:r>
              <a:rPr lang="en-IN" i="1" dirty="0" smtClean="0"/>
              <a:t>Mary</a:t>
            </a:r>
            <a:r>
              <a:rPr lang="en-IN" dirty="0" smtClean="0"/>
              <a:t> in “Mary fears spiders.”)</a:t>
            </a:r>
          </a:p>
          <a:p>
            <a:pPr lvl="1"/>
            <a:r>
              <a:rPr lang="en-IN" b="1" dirty="0" smtClean="0"/>
              <a:t>Instrument:</a:t>
            </a:r>
            <a:r>
              <a:rPr lang="en-IN" dirty="0" smtClean="0"/>
              <a:t> means used (e.g., </a:t>
            </a:r>
            <a:r>
              <a:rPr lang="en-IN" i="1" dirty="0" smtClean="0"/>
              <a:t>a knife</a:t>
            </a:r>
            <a:r>
              <a:rPr lang="en-IN" dirty="0" smtClean="0"/>
              <a:t>)</a:t>
            </a:r>
          </a:p>
          <a:p>
            <a:pPr lvl="1"/>
            <a:r>
              <a:rPr lang="en-IN" b="1" dirty="0" smtClean="0"/>
              <a:t>Beneficiary / Recipient / Goal / Source / Location / Time</a:t>
            </a:r>
          </a:p>
          <a:p>
            <a:pPr>
              <a:buNone/>
            </a:pPr>
            <a:r>
              <a:rPr lang="en-IN" b="1" dirty="0" smtClean="0"/>
              <a:t>Example sentence:</a:t>
            </a:r>
            <a:r>
              <a:rPr lang="en-IN" dirty="0" smtClean="0"/>
              <a:t> “Alice (Agent) gave Bob (Recipient) a book (Theme) at the library (Location).”</a:t>
            </a:r>
          </a:p>
          <a:p>
            <a:r>
              <a:rPr lang="en-IN" dirty="0" smtClean="0"/>
              <a:t>Thematic-role assignment is central to mapping syntax → semantics (semantic frames, </a:t>
            </a:r>
            <a:r>
              <a:rPr lang="en-IN" dirty="0" err="1" smtClean="0"/>
              <a:t>PropBank</a:t>
            </a:r>
            <a:r>
              <a:rPr lang="en-IN" dirty="0" smtClean="0"/>
              <a:t>, </a:t>
            </a:r>
            <a:r>
              <a:rPr lang="en-IN" dirty="0" err="1" smtClean="0"/>
              <a:t>FrameNet</a:t>
            </a:r>
            <a:r>
              <a:rPr lang="en-IN" dirty="0" smtClean="0"/>
              <a:t>)</a:t>
            </a:r>
          </a:p>
          <a:p>
            <a:pPr lvl="1"/>
            <a:endParaRPr lang="en-IN" dirty="0" smtClean="0"/>
          </a:p>
          <a:p>
            <a:pPr algn="just">
              <a:buNone/>
            </a:pPr>
            <a:endParaRPr lang="en-IN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IN" b="1" dirty="0" smtClean="0"/>
              <a:t>Selectional restrictions vs. Selectional preferences</a:t>
            </a:r>
          </a:p>
          <a:p>
            <a:pPr algn="just"/>
            <a:endParaRPr lang="en-IN" b="1" dirty="0" smtClean="0"/>
          </a:p>
          <a:p>
            <a:pPr algn="just"/>
            <a:r>
              <a:rPr lang="en-IN" b="1" dirty="0" smtClean="0"/>
              <a:t>Selectional restriction (hard):</a:t>
            </a:r>
            <a:r>
              <a:rPr lang="en-IN" dirty="0" smtClean="0"/>
              <a:t> a verb requires arguments from a certain semantic class (e.g., </a:t>
            </a:r>
            <a:r>
              <a:rPr lang="en-IN" i="1" dirty="0" smtClean="0"/>
              <a:t>eat</a:t>
            </a:r>
            <a:r>
              <a:rPr lang="en-IN" dirty="0" smtClean="0"/>
              <a:t> typically requires an edible patient).</a:t>
            </a:r>
          </a:p>
          <a:p>
            <a:pPr algn="just"/>
            <a:r>
              <a:rPr lang="en-IN" b="1" dirty="0" smtClean="0"/>
              <a:t>Selectional preference (soft):</a:t>
            </a:r>
            <a:r>
              <a:rPr lang="en-IN" dirty="0" smtClean="0"/>
              <a:t> probabilistic tendency (e.g., </a:t>
            </a:r>
            <a:r>
              <a:rPr lang="en-IN" i="1" dirty="0" smtClean="0"/>
              <a:t>read</a:t>
            </a:r>
            <a:r>
              <a:rPr lang="en-IN" dirty="0" smtClean="0"/>
              <a:t> prefers an object that is a book/article but can read a letter; less rigid).</a:t>
            </a:r>
          </a:p>
          <a:p>
            <a:pPr algn="just">
              <a:buNone/>
            </a:pPr>
            <a:endParaRPr lang="en-IN" b="1" dirty="0" smtClean="0"/>
          </a:p>
          <a:p>
            <a:pPr algn="just">
              <a:buNone/>
            </a:pPr>
            <a:r>
              <a:rPr lang="en-IN" b="1" dirty="0" smtClean="0"/>
              <a:t>Why important:</a:t>
            </a:r>
            <a:r>
              <a:rPr lang="en-IN" dirty="0" smtClean="0"/>
              <a:t> they constrain sense choices. If </a:t>
            </a:r>
            <a:r>
              <a:rPr lang="en-IN" i="1" dirty="0" smtClean="0"/>
              <a:t>eat</a:t>
            </a:r>
            <a:r>
              <a:rPr lang="en-IN" dirty="0" smtClean="0"/>
              <a:t> has object </a:t>
            </a:r>
            <a:r>
              <a:rPr lang="en-IN" i="1" dirty="0" smtClean="0"/>
              <a:t>apple</a:t>
            </a:r>
            <a:r>
              <a:rPr lang="en-IN" dirty="0" smtClean="0"/>
              <a:t>, that strongly favours the edible sense of </a:t>
            </a:r>
            <a:r>
              <a:rPr lang="en-IN" i="1" dirty="0" smtClean="0"/>
              <a:t>apple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b="1" dirty="0" smtClean="0"/>
              <a:t>Formalizing selectional preference (intuition)</a:t>
            </a:r>
          </a:p>
          <a:p>
            <a:pPr algn="just">
              <a:buNone/>
            </a:pPr>
            <a:r>
              <a:rPr lang="en-IN" dirty="0" smtClean="0"/>
              <a:t>	One way is to compute how much a verb prefers a class C for its argument:</a:t>
            </a:r>
          </a:p>
          <a:p>
            <a:pPr algn="just">
              <a:buNone/>
            </a:pPr>
            <a:r>
              <a:rPr lang="en-IN" dirty="0" smtClean="0"/>
              <a:t>	Score(C | verb)  ≈  log ( P(C | verb) / P(C) )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If P(</a:t>
            </a:r>
            <a:r>
              <a:rPr lang="en-IN" dirty="0" err="1" smtClean="0"/>
              <a:t>C|verb</a:t>
            </a:r>
            <a:r>
              <a:rPr lang="en-IN" dirty="0" smtClean="0"/>
              <a:t>) &gt;&gt; P(C), the verb selects that class strongly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b="1" dirty="0" smtClean="0"/>
              <a:t>Example:</a:t>
            </a:r>
            <a:r>
              <a:rPr lang="en-IN" dirty="0" smtClean="0"/>
              <a:t> If P(</a:t>
            </a:r>
            <a:r>
              <a:rPr lang="en-IN" dirty="0" err="1" smtClean="0"/>
              <a:t>edible|eat</a:t>
            </a:r>
            <a:r>
              <a:rPr lang="en-IN" dirty="0" smtClean="0"/>
              <a:t>) = 0.6 and P(edible) = 0.01, score is high ⇒ strong preference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Selectional preferences can be induced from corpora (count co-occurrences) or from </a:t>
            </a:r>
            <a:r>
              <a:rPr lang="en-IN" dirty="0" err="1" smtClean="0"/>
              <a:t>ontologies</a:t>
            </a:r>
            <a:r>
              <a:rPr lang="en-IN" dirty="0" smtClean="0"/>
              <a:t> (map nouns to classes)</a:t>
            </a:r>
            <a:endParaRPr lang="en-I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Word Sense Disambiguation (WSD)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IN" b="1" dirty="0" smtClean="0"/>
              <a:t>Word Sense Disambiguation (WSD)</a:t>
            </a:r>
            <a:r>
              <a:rPr lang="en-IN" dirty="0" smtClean="0"/>
              <a:t> is the process of </a:t>
            </a:r>
            <a:r>
              <a:rPr lang="en-IN" b="1" dirty="0" smtClean="0"/>
              <a:t>determining the correct meaning (sense)</a:t>
            </a:r>
            <a:r>
              <a:rPr lang="en-IN" dirty="0" smtClean="0"/>
              <a:t> of a word based on its </a:t>
            </a:r>
            <a:r>
              <a:rPr lang="en-IN" b="1" dirty="0" smtClean="0"/>
              <a:t>context</a:t>
            </a:r>
            <a:r>
              <a:rPr lang="en-IN" dirty="0" smtClean="0"/>
              <a:t> in a sentence.</a:t>
            </a:r>
          </a:p>
          <a:p>
            <a:pPr algn="just">
              <a:buNone/>
            </a:pPr>
            <a:endParaRPr lang="en-IN" dirty="0" smtClean="0"/>
          </a:p>
          <a:p>
            <a:pPr algn="just"/>
            <a:r>
              <a:rPr lang="en-IN" dirty="0" smtClean="0"/>
              <a:t> Because many words have </a:t>
            </a:r>
            <a:r>
              <a:rPr lang="en-IN" b="1" dirty="0" smtClean="0"/>
              <a:t>multiple meanings</a:t>
            </a:r>
            <a:r>
              <a:rPr lang="en-IN" dirty="0" smtClean="0"/>
              <a:t> (are </a:t>
            </a:r>
            <a:r>
              <a:rPr lang="en-IN" i="1" dirty="0" err="1" smtClean="0"/>
              <a:t>polysemous</a:t>
            </a:r>
            <a:r>
              <a:rPr lang="en-IN" dirty="0" smtClean="0"/>
              <a:t>), WSD helps computers figure out </a:t>
            </a:r>
            <a:r>
              <a:rPr lang="en-IN" i="1" dirty="0" smtClean="0"/>
              <a:t>which</a:t>
            </a:r>
            <a:r>
              <a:rPr lang="en-IN" dirty="0" smtClean="0"/>
              <a:t> meaning is being used.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Example: In </a:t>
            </a:r>
            <a:r>
              <a:rPr lang="en-IN" i="1" dirty="0" smtClean="0"/>
              <a:t>“I deposited money in the bank”</a:t>
            </a:r>
            <a:r>
              <a:rPr lang="en-IN" dirty="0" smtClean="0"/>
              <a:t> the correct sense of </a:t>
            </a:r>
            <a:r>
              <a:rPr lang="en-IN" i="1" dirty="0" smtClean="0"/>
              <a:t>bank</a:t>
            </a:r>
            <a:r>
              <a:rPr lang="en-IN" dirty="0" smtClean="0"/>
              <a:t> is </a:t>
            </a:r>
            <a:r>
              <a:rPr lang="en-IN" b="1" dirty="0" smtClean="0"/>
              <a:t>financial institution</a:t>
            </a:r>
            <a:r>
              <a:rPr lang="en-IN" dirty="0" smtClean="0"/>
              <a:t>; </a:t>
            </a:r>
          </a:p>
          <a:p>
            <a:pPr algn="just">
              <a:buNone/>
            </a:pPr>
            <a:r>
              <a:rPr lang="en-IN" dirty="0" smtClean="0"/>
              <a:t>	In </a:t>
            </a:r>
            <a:r>
              <a:rPr lang="en-IN" i="1" dirty="0" smtClean="0"/>
              <a:t>“The boat turned toward the river bank”</a:t>
            </a:r>
            <a:r>
              <a:rPr lang="en-IN" dirty="0" smtClean="0"/>
              <a:t> it is </a:t>
            </a:r>
            <a:r>
              <a:rPr lang="en-IN" b="1" dirty="0" smtClean="0"/>
              <a:t>river edge</a:t>
            </a:r>
            <a:r>
              <a:rPr lang="en-IN" dirty="0" smtClean="0"/>
              <a:t>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dirty="0" smtClean="0"/>
              <a:t>WSD is essential in many NLP applications:</a:t>
            </a:r>
          </a:p>
          <a:p>
            <a:pPr algn="just"/>
            <a:r>
              <a:rPr lang="en-IN" b="1" dirty="0" smtClean="0"/>
              <a:t>Machine Translation:</a:t>
            </a:r>
            <a:r>
              <a:rPr lang="en-IN" dirty="0" smtClean="0"/>
              <a:t> To translate “bank” correctly into another language.</a:t>
            </a:r>
          </a:p>
          <a:p>
            <a:pPr algn="just"/>
            <a:r>
              <a:rPr lang="en-IN" b="1" dirty="0" smtClean="0"/>
              <a:t>Information Retrieval:</a:t>
            </a:r>
            <a:r>
              <a:rPr lang="en-IN" dirty="0" smtClean="0"/>
              <a:t> To improve search accuracy.</a:t>
            </a:r>
          </a:p>
          <a:p>
            <a:pPr algn="just"/>
            <a:r>
              <a:rPr lang="en-IN" b="1" dirty="0" smtClean="0"/>
              <a:t>Question Answering:</a:t>
            </a:r>
            <a:r>
              <a:rPr lang="en-IN" dirty="0" smtClean="0"/>
              <a:t> To understand the query correctly.</a:t>
            </a:r>
          </a:p>
          <a:p>
            <a:pPr algn="just"/>
            <a:r>
              <a:rPr lang="en-IN" b="1" dirty="0" smtClean="0"/>
              <a:t>Text Summarization:</a:t>
            </a:r>
            <a:r>
              <a:rPr lang="en-IN" dirty="0" smtClean="0"/>
              <a:t> To represent key ideas accurately.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Types of WSD Approaches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IN" b="1" dirty="0" smtClean="0"/>
              <a:t>Supervised Methods</a:t>
            </a:r>
            <a:r>
              <a:rPr lang="en-IN" dirty="0" smtClean="0"/>
              <a:t> → Train using labeled data (most accurate).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b="1" dirty="0" smtClean="0"/>
              <a:t>Unsupervised Methods</a:t>
            </a:r>
            <a:r>
              <a:rPr lang="en-IN" dirty="0" smtClean="0"/>
              <a:t> → Use clustering on unlabelled data.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b="1" dirty="0" smtClean="0"/>
              <a:t>Knowledge-based Methods</a:t>
            </a:r>
            <a:r>
              <a:rPr lang="en-IN" dirty="0" smtClean="0"/>
              <a:t> → Use dictionaries or thesauri (like </a:t>
            </a:r>
            <a:r>
              <a:rPr lang="en-IN" dirty="0" err="1" smtClean="0"/>
              <a:t>WordNet</a:t>
            </a:r>
            <a:r>
              <a:rPr lang="en-IN" dirty="0" smtClean="0"/>
              <a:t>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b="1" dirty="0" smtClean="0"/>
              <a:t>Semi-supervised / Bootstrapping Methods</a:t>
            </a:r>
            <a:r>
              <a:rPr lang="en-IN" dirty="0" smtClean="0"/>
              <a:t> → Use small labeled + large unlabeled data.</a:t>
            </a:r>
          </a:p>
          <a:p>
            <a:pPr marL="514350" indent="-514350" algn="just">
              <a:buFont typeface="+mj-lt"/>
              <a:buAutoNum type="arabicPeriod"/>
            </a:pPr>
            <a:endParaRPr lang="en-I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WSD Using Supervised Methods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 smtClean="0"/>
              <a:t>Supervised WSD is a </a:t>
            </a:r>
            <a:r>
              <a:rPr lang="en-IN" b="1" dirty="0" smtClean="0"/>
              <a:t>machine learning approach</a:t>
            </a:r>
            <a:r>
              <a:rPr lang="en-IN" dirty="0" smtClean="0"/>
              <a:t> where:</a:t>
            </a:r>
          </a:p>
          <a:p>
            <a:pPr lvl="1"/>
            <a:r>
              <a:rPr lang="en-IN" dirty="0" smtClean="0"/>
              <a:t>The system is </a:t>
            </a:r>
            <a:r>
              <a:rPr lang="en-IN" b="1" dirty="0" smtClean="0"/>
              <a:t>trained on a labeled dataset</a:t>
            </a:r>
            <a:r>
              <a:rPr lang="en-IN" dirty="0" smtClean="0"/>
              <a:t>,</a:t>
            </a:r>
          </a:p>
          <a:p>
            <a:pPr lvl="1"/>
            <a:r>
              <a:rPr lang="en-IN" dirty="0" smtClean="0"/>
              <a:t>Each word occurrence is tagged with its </a:t>
            </a:r>
            <a:r>
              <a:rPr lang="en-IN" b="1" dirty="0" smtClean="0"/>
              <a:t>correct sense</a:t>
            </a:r>
            <a:r>
              <a:rPr lang="en-IN" dirty="0" smtClean="0"/>
              <a:t> (from a dictionary like </a:t>
            </a:r>
            <a:r>
              <a:rPr lang="en-IN" dirty="0" err="1" smtClean="0"/>
              <a:t>WordNet</a:t>
            </a:r>
            <a:r>
              <a:rPr lang="en-IN" dirty="0" smtClean="0"/>
              <a:t>),</a:t>
            </a:r>
          </a:p>
          <a:p>
            <a:pPr lvl="1"/>
            <a:r>
              <a:rPr lang="en-IN" dirty="0" smtClean="0"/>
              <a:t>The trained model then predicts the sense of new, unseen words based on their </a:t>
            </a:r>
            <a:r>
              <a:rPr lang="en-IN" b="1" dirty="0" smtClean="0"/>
              <a:t>context</a:t>
            </a:r>
            <a:r>
              <a:rPr lang="en-IN" dirty="0" smtClean="0"/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Workflow of Supervised WSD:</a:t>
            </a:r>
            <a:endParaRPr lang="en-IN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5715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Step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Description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1. Data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/>
                        <a:t>Collect a corpus where each ambiguous word is labeled with its correct sense. Example: </a:t>
                      </a:r>
                      <a:r>
                        <a:rPr lang="en-IN" sz="2000" dirty="0" err="1"/>
                        <a:t>SemCor</a:t>
                      </a:r>
                      <a:r>
                        <a:rPr lang="en-IN" sz="2000" dirty="0"/>
                        <a:t> corpus (based on </a:t>
                      </a:r>
                      <a:r>
                        <a:rPr lang="en-IN" sz="2000" dirty="0" err="1"/>
                        <a:t>WordNet</a:t>
                      </a:r>
                      <a:r>
                        <a:rPr lang="en-IN" sz="2000" dirty="0"/>
                        <a:t>).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2. 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smtClean="0"/>
                        <a:t>Extract useful contextual features around the target word (e.g., neighbouring words, POS tags, collocations)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 smtClean="0"/>
                        <a:t>3. Model Training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smtClean="0"/>
                        <a:t>Train a supervised classifier (e.g., Naïve Bayes, Decision Tree, SVM, or Neural Network) using these features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 smtClean="0"/>
                        <a:t>4. Sense Prediction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smtClean="0"/>
                        <a:t>For a new sentence, extract features and use the trained model to predict the most probable sense.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 smtClean="0"/>
                        <a:t>5. Evaluation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smtClean="0"/>
                        <a:t>Compare predictions with a gold-standard annotated corpus to measure accuracy, precision, recall, etc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IN" b="1" dirty="0" smtClean="0"/>
              <a:t>Common Features Used in WSD: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algn="just"/>
            <a:r>
              <a:rPr lang="en-IN" dirty="0" smtClean="0"/>
              <a:t>Supervised models rely on </a:t>
            </a:r>
            <a:r>
              <a:rPr lang="en-IN" b="1" dirty="0" smtClean="0"/>
              <a:t>contextual features</a:t>
            </a:r>
            <a:r>
              <a:rPr lang="en-IN" dirty="0" smtClean="0"/>
              <a:t>, such as: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407920"/>
          <a:ext cx="777240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507"/>
                <a:gridCol w="5380893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Feature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Example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Local context word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Words before and after the target word (“river”, “money”)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Part-of-speech tags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POS of surrounding words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Collocations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Fixed phrases or word pairs (e.g., “bank account”, “river bank”)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Bag of Words (BOW)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Words in a fixed-size window around the target word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Syntactic relations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Subject, object relations in the sentence</a:t>
                      </a:r>
                      <a:endParaRPr lang="en-IN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Semantic features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Synsets, </a:t>
                      </a:r>
                      <a:r>
                        <a:rPr lang="en-IN" sz="2000" dirty="0" err="1" smtClean="0"/>
                        <a:t>hypernyms</a:t>
                      </a:r>
                      <a:r>
                        <a:rPr lang="en-IN" sz="2000" dirty="0" smtClean="0"/>
                        <a:t>, semantic similarity (from </a:t>
                      </a:r>
                      <a:r>
                        <a:rPr lang="en-IN" sz="2000" dirty="0" err="1" smtClean="0"/>
                        <a:t>WordNet</a:t>
                      </a:r>
                      <a:r>
                        <a:rPr lang="en-IN" sz="2000" dirty="0" smtClean="0"/>
                        <a:t>)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IN" b="1" dirty="0" smtClean="0"/>
              <a:t>Example of Supervised WSD: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 smtClean="0"/>
              <a:t>Example sentence: “He went to the </a:t>
            </a:r>
            <a:r>
              <a:rPr lang="en-IN" b="1" dirty="0" smtClean="0"/>
              <a:t>bank</a:t>
            </a:r>
            <a:r>
              <a:rPr lang="en-IN" dirty="0" smtClean="0"/>
              <a:t> to withdraw cash.”</a:t>
            </a:r>
          </a:p>
          <a:p>
            <a:pPr algn="just">
              <a:buNone/>
            </a:pPr>
            <a:r>
              <a:rPr lang="en-IN" b="1" dirty="0" smtClean="0"/>
              <a:t>Step-by-step:</a:t>
            </a:r>
          </a:p>
          <a:p>
            <a:pPr lvl="1" algn="just"/>
            <a:r>
              <a:rPr lang="en-IN" b="1" dirty="0" smtClean="0"/>
              <a:t>Target word:</a:t>
            </a:r>
            <a:r>
              <a:rPr lang="en-IN" dirty="0" smtClean="0"/>
              <a:t> bank</a:t>
            </a:r>
          </a:p>
          <a:p>
            <a:pPr lvl="1" algn="just"/>
            <a:r>
              <a:rPr lang="en-IN" b="1" dirty="0" smtClean="0"/>
              <a:t>Context words:</a:t>
            </a:r>
            <a:r>
              <a:rPr lang="en-IN" dirty="0" smtClean="0"/>
              <a:t> went, withdraw, cash</a:t>
            </a:r>
          </a:p>
          <a:p>
            <a:pPr lvl="1" algn="just"/>
            <a:r>
              <a:rPr lang="en-IN" b="1" dirty="0" smtClean="0"/>
              <a:t>Extract features:</a:t>
            </a:r>
            <a:r>
              <a:rPr lang="en-IN" dirty="0" smtClean="0"/>
              <a:t> nearby words, POS tags, etc.</a:t>
            </a:r>
          </a:p>
          <a:p>
            <a:pPr lvl="1" algn="just"/>
            <a:r>
              <a:rPr lang="en-IN" b="1" dirty="0" smtClean="0"/>
              <a:t>Training data:</a:t>
            </a:r>
            <a:endParaRPr lang="en-IN" dirty="0" smtClean="0"/>
          </a:p>
          <a:p>
            <a:pPr lvl="2" algn="just"/>
            <a:r>
              <a:rPr lang="en-IN" dirty="0" smtClean="0"/>
              <a:t>“bank” (money context) → </a:t>
            </a:r>
            <a:r>
              <a:rPr lang="en-IN" i="1" dirty="0" smtClean="0"/>
              <a:t>financial institution</a:t>
            </a:r>
            <a:endParaRPr lang="en-IN" dirty="0" smtClean="0"/>
          </a:p>
          <a:p>
            <a:pPr lvl="2" algn="just"/>
            <a:r>
              <a:rPr lang="en-IN" dirty="0" smtClean="0"/>
              <a:t>“bank” (river context) → </a:t>
            </a:r>
            <a:r>
              <a:rPr lang="en-IN" i="1" dirty="0" smtClean="0"/>
              <a:t>river edge</a:t>
            </a:r>
            <a:endParaRPr lang="en-IN" dirty="0" smtClean="0"/>
          </a:p>
          <a:p>
            <a:pPr lvl="1" algn="just"/>
            <a:r>
              <a:rPr lang="en-IN" b="1" dirty="0" smtClean="0"/>
              <a:t>Model prediction:</a:t>
            </a:r>
          </a:p>
          <a:p>
            <a:pPr lvl="1" algn="just">
              <a:buNone/>
            </a:pPr>
            <a:r>
              <a:rPr lang="en-IN" dirty="0" smtClean="0"/>
              <a:t>	Based on “withdraw” and “cash”, the model predicts </a:t>
            </a:r>
            <a:r>
              <a:rPr lang="en-IN" i="1" dirty="0" smtClean="0"/>
              <a:t>financial institution</a:t>
            </a:r>
            <a:r>
              <a:rPr lang="en-IN" dirty="0" smtClean="0"/>
              <a:t> sense.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Common Supervised Learning Algorithms Used:</a:t>
            </a:r>
            <a:endParaRPr lang="en-IN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5715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Algorithm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Description</a:t>
                      </a:r>
                      <a:endParaRPr lang="en-IN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Naïve Bayes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Uses probability of senses given context features. Simple and effective for small data.</a:t>
                      </a:r>
                      <a:endParaRPr lang="en-IN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Decision Trees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Uses context features to split decisions hierarchically.</a:t>
                      </a:r>
                      <a:endParaRPr lang="en-IN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Support Vector Machines (SVMs)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Good for high-dimensional feature spaces</a:t>
                      </a:r>
                      <a:endParaRPr lang="en-IN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Neural Networks / Deep Learning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Learns complex contextual patterns automatically (e.g., using word embeddings like BERT).</a:t>
                      </a:r>
                      <a:endParaRPr lang="en-IN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lnSpcReduction="10000"/>
          </a:bodyPr>
          <a:lstStyle/>
          <a:p>
            <a:r>
              <a:rPr lang="en-IN" b="1" dirty="0" smtClean="0"/>
              <a:t>Advantages:</a:t>
            </a:r>
            <a:endParaRPr lang="en-IN" dirty="0" smtClean="0"/>
          </a:p>
          <a:p>
            <a:pPr lvl="1" algn="just">
              <a:buNone/>
            </a:pPr>
            <a:r>
              <a:rPr lang="en-IN" dirty="0" smtClean="0"/>
              <a:t>✅ High accuracy (when large labeled data available)</a:t>
            </a:r>
          </a:p>
          <a:p>
            <a:pPr lvl="1" algn="just">
              <a:buNone/>
            </a:pPr>
            <a:r>
              <a:rPr lang="en-IN" dirty="0" smtClean="0"/>
              <a:t>✅ Learns domain-specific sense patterns</a:t>
            </a:r>
          </a:p>
          <a:p>
            <a:pPr lvl="1" algn="just">
              <a:buNone/>
            </a:pPr>
            <a:r>
              <a:rPr lang="en-IN" dirty="0" smtClean="0"/>
              <a:t>✅ Can use powerful ML/DL models</a:t>
            </a:r>
          </a:p>
          <a:p>
            <a:pPr algn="just"/>
            <a:r>
              <a:rPr lang="en-IN" b="1" dirty="0" smtClean="0"/>
              <a:t>Disadvantages:</a:t>
            </a:r>
            <a:endParaRPr lang="en-IN" dirty="0" smtClean="0"/>
          </a:p>
          <a:p>
            <a:pPr lvl="1" algn="just">
              <a:buNone/>
            </a:pPr>
            <a:r>
              <a:rPr lang="en-IN" dirty="0" smtClean="0"/>
              <a:t>❌ Needs </a:t>
            </a:r>
            <a:r>
              <a:rPr lang="en-IN" b="1" dirty="0" smtClean="0"/>
              <a:t>large manually annotated corpus</a:t>
            </a:r>
            <a:r>
              <a:rPr lang="en-IN" dirty="0" smtClean="0"/>
              <a:t> (expensive to create)</a:t>
            </a:r>
          </a:p>
          <a:p>
            <a:pPr lvl="1" algn="just">
              <a:buNone/>
            </a:pPr>
            <a:r>
              <a:rPr lang="en-IN" dirty="0" smtClean="0"/>
              <a:t>❌ </a:t>
            </a:r>
            <a:r>
              <a:rPr lang="en-IN" b="1" dirty="0" smtClean="0"/>
              <a:t>Domain-dependent</a:t>
            </a:r>
            <a:r>
              <a:rPr lang="en-IN" dirty="0" smtClean="0"/>
              <a:t> — model trained in one domain may fail in another</a:t>
            </a:r>
          </a:p>
          <a:p>
            <a:pPr lvl="1" algn="just">
              <a:buNone/>
            </a:pPr>
            <a:r>
              <a:rPr lang="en-IN" dirty="0" smtClean="0"/>
              <a:t>❌ Struggles with </a:t>
            </a:r>
            <a:r>
              <a:rPr lang="en-IN" b="1" dirty="0" smtClean="0"/>
              <a:t>rare senses</a:t>
            </a:r>
            <a:r>
              <a:rPr lang="en-IN" dirty="0" smtClean="0"/>
              <a:t> (not enough training data)</a:t>
            </a:r>
            <a:endParaRPr lang="en-I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Dictionary &amp; Thesaurus (Knowledge-based) Methods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Supervised algorithms based on sense-</a:t>
            </a:r>
            <a:r>
              <a:rPr lang="en-IN" dirty="0" err="1" smtClean="0"/>
              <a:t>labeled</a:t>
            </a:r>
            <a:r>
              <a:rPr lang="en-IN" dirty="0" smtClean="0"/>
              <a:t> corpora are the best performing algorithms for sense disambiguation.</a:t>
            </a:r>
          </a:p>
          <a:p>
            <a:pPr algn="just"/>
            <a:r>
              <a:rPr lang="en-IN" dirty="0" smtClean="0"/>
              <a:t>However, such labeled training data is expensive and limited and supervised approaches fail on words not in the training data.</a:t>
            </a:r>
          </a:p>
          <a:p>
            <a:pPr algn="just"/>
            <a:r>
              <a:rPr lang="en-IN" dirty="0" smtClean="0"/>
              <a:t>This methods for using a dictionary or thesaurus as an indirect kind of supervision</a:t>
            </a:r>
            <a:endParaRPr lang="en-I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Lesk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The most well-studied dictionary-based algorithm for sense disambiguation is the </a:t>
            </a:r>
            <a:r>
              <a:rPr lang="en-IN" b="1" dirty="0" err="1" smtClean="0"/>
              <a:t>Lesk</a:t>
            </a:r>
            <a:r>
              <a:rPr lang="en-IN" b="1" dirty="0" smtClean="0"/>
              <a:t> algorithm.</a:t>
            </a:r>
          </a:p>
          <a:p>
            <a:pPr algn="just"/>
            <a:r>
              <a:rPr lang="en-IN" dirty="0" smtClean="0"/>
              <a:t>The </a:t>
            </a:r>
            <a:r>
              <a:rPr lang="en-IN" b="1" dirty="0" err="1" smtClean="0"/>
              <a:t>Lesk</a:t>
            </a:r>
            <a:r>
              <a:rPr lang="en-IN" b="1" dirty="0" smtClean="0"/>
              <a:t> algorithm (1986)</a:t>
            </a:r>
            <a:r>
              <a:rPr lang="en-IN" dirty="0" smtClean="0"/>
              <a:t> disambiguates a word by finding </a:t>
            </a:r>
            <a:r>
              <a:rPr lang="en-IN" b="1" dirty="0" smtClean="0"/>
              <a:t>the sense whose dictionary definition (gloss)</a:t>
            </a:r>
            <a:r>
              <a:rPr lang="en-IN" dirty="0" smtClean="0"/>
              <a:t> has the </a:t>
            </a:r>
            <a:r>
              <a:rPr lang="en-IN" b="1" dirty="0" smtClean="0"/>
              <a:t>highest overlap of words</a:t>
            </a:r>
            <a:r>
              <a:rPr lang="en-IN" dirty="0" smtClean="0"/>
              <a:t> with the context of the target word.</a:t>
            </a:r>
            <a:endParaRPr lang="en-IN" b="1" dirty="0" smtClean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Simplified Lesk Algorithm</a:t>
            </a: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19200"/>
            <a:ext cx="7924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IN" sz="4300" b="1" dirty="0" smtClean="0"/>
              <a:t>Steps: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/>
              <a:t>For the target word, get all its possible senses from a dictionary (e.g., </a:t>
            </a:r>
            <a:r>
              <a:rPr lang="en-IN" dirty="0" err="1" smtClean="0"/>
              <a:t>WordNet</a:t>
            </a:r>
            <a:r>
              <a:rPr lang="en-IN" dirty="0" smtClean="0"/>
              <a:t>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/>
              <a:t>For each sense, retrieve its </a:t>
            </a:r>
            <a:r>
              <a:rPr lang="en-IN" b="1" dirty="0" smtClean="0"/>
              <a:t>definition (gloss)</a:t>
            </a:r>
            <a:r>
              <a:rPr lang="en-IN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/>
              <a:t>Look at the </a:t>
            </a:r>
            <a:r>
              <a:rPr lang="en-IN" b="1" dirty="0" smtClean="0"/>
              <a:t>context words</a:t>
            </a:r>
            <a:r>
              <a:rPr lang="en-IN" dirty="0" smtClean="0"/>
              <a:t> around the target word.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/>
              <a:t>For each context word, also retrieve its glosses.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/>
              <a:t>Compute </a:t>
            </a:r>
            <a:r>
              <a:rPr lang="en-IN" b="1" dirty="0" smtClean="0"/>
              <a:t>overlap</a:t>
            </a:r>
            <a:r>
              <a:rPr lang="en-IN" dirty="0" smtClean="0"/>
              <a:t> (shared words) between glosses of the target word’s sense and the context words’ glosses.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/>
              <a:t>The sense with the </a:t>
            </a:r>
            <a:r>
              <a:rPr lang="en-IN" b="1" dirty="0" smtClean="0"/>
              <a:t>maximum overlap</a:t>
            </a:r>
            <a:r>
              <a:rPr lang="en-IN" dirty="0" smtClean="0"/>
              <a:t> is selected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IN" sz="4300" b="1" dirty="0" smtClean="0"/>
              <a:t>Example:</a:t>
            </a:r>
            <a:endParaRPr lang="en-IN" sz="3900" b="1" dirty="0" smtClean="0"/>
          </a:p>
          <a:p>
            <a:pPr algn="just">
              <a:buNone/>
            </a:pPr>
            <a:r>
              <a:rPr lang="en-IN" b="1" dirty="0" smtClean="0"/>
              <a:t>Sentence</a:t>
            </a:r>
            <a:r>
              <a:rPr lang="en-IN" dirty="0" smtClean="0"/>
              <a:t>: “He went to the </a:t>
            </a:r>
            <a:r>
              <a:rPr lang="en-IN" b="1" dirty="0" smtClean="0"/>
              <a:t>bank</a:t>
            </a:r>
            <a:r>
              <a:rPr lang="en-IN" dirty="0" smtClean="0"/>
              <a:t> to deposit some money.”</a:t>
            </a:r>
          </a:p>
          <a:p>
            <a:pPr algn="just"/>
            <a:r>
              <a:rPr lang="en-IN" dirty="0" smtClean="0"/>
              <a:t>Possible senses of </a:t>
            </a:r>
            <a:r>
              <a:rPr lang="en-IN" i="1" dirty="0" smtClean="0"/>
              <a:t>bank</a:t>
            </a:r>
            <a:r>
              <a:rPr lang="en-IN" dirty="0" smtClean="0"/>
              <a:t>:</a:t>
            </a:r>
          </a:p>
          <a:p>
            <a:pPr lvl="1" algn="just"/>
            <a:r>
              <a:rPr lang="en-IN" i="1" dirty="0" smtClean="0"/>
              <a:t>bank₁</a:t>
            </a:r>
            <a:r>
              <a:rPr lang="en-IN" dirty="0" smtClean="0"/>
              <a:t> – “financial institution where people deposit money”</a:t>
            </a:r>
          </a:p>
          <a:p>
            <a:pPr lvl="1" algn="just"/>
            <a:r>
              <a:rPr lang="en-IN" i="1" dirty="0" smtClean="0"/>
              <a:t>bank₂</a:t>
            </a:r>
            <a:r>
              <a:rPr lang="en-IN" dirty="0" smtClean="0"/>
              <a:t> – “sloping land beside a river”</a:t>
            </a:r>
          </a:p>
          <a:p>
            <a:pPr algn="just">
              <a:buNone/>
            </a:pPr>
            <a:r>
              <a:rPr lang="en-IN" b="1" dirty="0" smtClean="0"/>
              <a:t>Context words:</a:t>
            </a:r>
            <a:r>
              <a:rPr lang="en-IN" dirty="0" smtClean="0"/>
              <a:t> </a:t>
            </a:r>
            <a:r>
              <a:rPr lang="en-IN" i="1" dirty="0" smtClean="0"/>
              <a:t>went, deposit, money</a:t>
            </a:r>
            <a:endParaRPr lang="en-IN" dirty="0" smtClean="0"/>
          </a:p>
          <a:p>
            <a:pPr algn="just">
              <a:buNone/>
            </a:pPr>
            <a:r>
              <a:rPr lang="en-IN" b="1" dirty="0" smtClean="0"/>
              <a:t>Overlap computation:</a:t>
            </a:r>
            <a:endParaRPr lang="en-IN" dirty="0" smtClean="0"/>
          </a:p>
          <a:p>
            <a:pPr algn="just"/>
            <a:r>
              <a:rPr lang="en-IN" dirty="0" smtClean="0"/>
              <a:t>bank₁ gloss shares words “deposit”, “money” → 2 overlaps</a:t>
            </a:r>
          </a:p>
          <a:p>
            <a:pPr algn="just"/>
            <a:r>
              <a:rPr lang="en-IN" dirty="0" smtClean="0"/>
              <a:t>bank₂ gloss shares none → 0 overlaps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✅ </a:t>
            </a:r>
            <a:r>
              <a:rPr lang="en-IN" b="1" dirty="0" smtClean="0"/>
              <a:t>Chosen sense:</a:t>
            </a:r>
            <a:r>
              <a:rPr lang="en-IN" dirty="0" smtClean="0"/>
              <a:t> bank₁ (</a:t>
            </a:r>
            <a:r>
              <a:rPr lang="en-IN" i="1" dirty="0" smtClean="0"/>
              <a:t>financial institution</a:t>
            </a:r>
            <a:r>
              <a:rPr lang="en-IN" dirty="0" smtClean="0"/>
              <a:t>)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Minimally Supervised WSD: Bootstrapping Method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 smtClean="0"/>
              <a:t>Both the supervised approach and the dictionary-based approach to WSD require large hand-built resources; supervised training sets in one case, large dictionaries in the other.</a:t>
            </a:r>
          </a:p>
          <a:p>
            <a:pPr algn="just"/>
            <a:r>
              <a:rPr lang="en-IN" dirty="0" smtClean="0"/>
              <a:t>We can instead use bootstrapping algorithms, often called semi-supervised learning or minimally supervised learning, which need only a very small hand-labeled training set.</a:t>
            </a:r>
          </a:p>
          <a:p>
            <a:pPr algn="just"/>
            <a:r>
              <a:rPr lang="en-IN" dirty="0" smtClean="0"/>
              <a:t>The most widely emulated bootstrapping algorithm for WSD is the </a:t>
            </a:r>
            <a:r>
              <a:rPr lang="en-IN" b="1" dirty="0" smtClean="0"/>
              <a:t>Yarowsky algorithm.</a:t>
            </a:r>
            <a:endParaRPr lang="en-IN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Yarowsky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10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 smtClean="0"/>
              <a:t>Dan Yarowsky (1995) introduced a highly influential bootstrapping algorithm for WSD that exploited two linguistic hypotheses: </a:t>
            </a:r>
            <a:r>
              <a:rPr lang="en-IN" b="1" dirty="0" smtClean="0"/>
              <a:t>one-sense-per-collocation</a:t>
            </a:r>
            <a:r>
              <a:rPr lang="en-IN" dirty="0" smtClean="0"/>
              <a:t> and </a:t>
            </a:r>
            <a:r>
              <a:rPr lang="en-IN" b="1" dirty="0" smtClean="0"/>
              <a:t>one-sense-per-discourse</a:t>
            </a:r>
            <a:r>
              <a:rPr lang="en-IN" dirty="0" smtClean="0"/>
              <a:t>. </a:t>
            </a:r>
          </a:p>
          <a:p>
            <a:pPr algn="just"/>
            <a:r>
              <a:rPr lang="en-IN" dirty="0" smtClean="0"/>
              <a:t>It is known for achieving strong performance using very few seeds and simple features.</a:t>
            </a:r>
          </a:p>
          <a:p>
            <a:pPr algn="just">
              <a:buNone/>
            </a:pPr>
            <a:r>
              <a:rPr lang="en-IN" b="1" dirty="0" smtClean="0"/>
              <a:t>	</a:t>
            </a:r>
          </a:p>
          <a:p>
            <a:pPr algn="just">
              <a:buNone/>
            </a:pPr>
            <a:r>
              <a:rPr lang="en-IN" b="1" dirty="0" smtClean="0"/>
              <a:t>	Algorithm Intuition:</a:t>
            </a:r>
            <a:r>
              <a:rPr lang="en-IN" dirty="0" smtClean="0"/>
              <a:t> Find features (e.g., word to left, word to right, bigrams, collocations) that strongly indicate a sense. Use those to label the easiest cases first (high-precision), then use newly labeled examples to discover more features and label more cases</a:t>
            </a:r>
            <a:endParaRPr lang="en-I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Yarowsky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dirty="0" smtClean="0"/>
              <a:t>The goal of the Yarowsky algorithm is to learn a classifier for a target word</a:t>
            </a:r>
          </a:p>
          <a:p>
            <a:pPr algn="just">
              <a:buNone/>
            </a:pPr>
            <a:r>
              <a:rPr lang="en-IN" b="1" dirty="0" smtClean="0"/>
              <a:t>	Step 1: </a:t>
            </a:r>
            <a:r>
              <a:rPr lang="en-IN" dirty="0" smtClean="0"/>
              <a:t>The algorithm is given a small seed-set </a:t>
            </a:r>
            <a:r>
              <a:rPr lang="el-GR" dirty="0" smtClean="0"/>
              <a:t>Λ</a:t>
            </a:r>
            <a:r>
              <a:rPr lang="en-IN" sz="2000" dirty="0" smtClean="0"/>
              <a:t>0</a:t>
            </a:r>
            <a:r>
              <a:rPr lang="en-IN" dirty="0" smtClean="0"/>
              <a:t> of labeled instances of each sense, and a much larger unlabeled corpus </a:t>
            </a:r>
            <a:r>
              <a:rPr lang="en-IN" i="1" dirty="0" smtClean="0"/>
              <a:t>V</a:t>
            </a:r>
            <a:r>
              <a:rPr lang="en-IN" sz="2000" i="1" dirty="0" smtClean="0"/>
              <a:t>0</a:t>
            </a:r>
          </a:p>
          <a:p>
            <a:pPr algn="just">
              <a:buNone/>
            </a:pPr>
            <a:r>
              <a:rPr lang="en-IN" b="1" dirty="0" smtClean="0"/>
              <a:t>	Step 2: </a:t>
            </a:r>
            <a:r>
              <a:rPr lang="en-IN" dirty="0" smtClean="0"/>
              <a:t>The algorithm first trains an initial decision-list classifier on the seed-set</a:t>
            </a:r>
            <a:r>
              <a:rPr lang="el-GR" dirty="0" smtClean="0"/>
              <a:t> Λ</a:t>
            </a:r>
            <a:r>
              <a:rPr lang="en-IN" sz="2000" dirty="0" smtClean="0"/>
              <a:t>0</a:t>
            </a:r>
            <a:r>
              <a:rPr lang="en-IN" dirty="0" smtClean="0"/>
              <a:t> </a:t>
            </a:r>
          </a:p>
          <a:p>
            <a:pPr algn="just">
              <a:buNone/>
            </a:pPr>
            <a:r>
              <a:rPr lang="en-IN" b="1" dirty="0" smtClean="0"/>
              <a:t>	Step 3: </a:t>
            </a:r>
            <a:r>
              <a:rPr lang="en-IN" dirty="0" smtClean="0"/>
              <a:t>It then uses this classifier to label the unlabeled corpus </a:t>
            </a:r>
            <a:r>
              <a:rPr lang="en-IN" i="1" dirty="0" smtClean="0"/>
              <a:t>V</a:t>
            </a:r>
            <a:r>
              <a:rPr lang="en-IN" sz="2000" i="1" dirty="0" smtClean="0"/>
              <a:t>0</a:t>
            </a:r>
          </a:p>
          <a:p>
            <a:pPr algn="just">
              <a:buNone/>
            </a:pPr>
            <a:r>
              <a:rPr lang="en-IN" b="1" dirty="0" smtClean="0"/>
              <a:t>	Step 4: </a:t>
            </a:r>
            <a:r>
              <a:rPr lang="en-IN" dirty="0" smtClean="0"/>
              <a:t>The algorithm then selects the examples in </a:t>
            </a:r>
            <a:r>
              <a:rPr lang="en-IN" i="1" dirty="0" smtClean="0"/>
              <a:t>V</a:t>
            </a:r>
            <a:r>
              <a:rPr lang="en-IN" sz="2100" i="1" dirty="0" smtClean="0"/>
              <a:t>0</a:t>
            </a:r>
            <a:r>
              <a:rPr lang="en-IN" i="1" dirty="0" smtClean="0"/>
              <a:t> that it is most </a:t>
            </a:r>
            <a:r>
              <a:rPr lang="en-IN" dirty="0" smtClean="0"/>
              <a:t>confident about, removes them, and adds them to the training set (call it now </a:t>
            </a:r>
            <a:r>
              <a:rPr lang="el-GR" dirty="0" smtClean="0"/>
              <a:t>Λ</a:t>
            </a:r>
            <a:r>
              <a:rPr lang="en-IN" sz="2300" dirty="0" smtClean="0"/>
              <a:t>1</a:t>
            </a:r>
            <a:r>
              <a:rPr lang="en-IN" dirty="0" smtClean="0"/>
              <a:t>)</a:t>
            </a:r>
            <a:endParaRPr lang="en-IN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IN" b="1" dirty="0" smtClean="0"/>
              <a:t>	Step 5: </a:t>
            </a:r>
            <a:r>
              <a:rPr lang="en-IN" dirty="0" smtClean="0"/>
              <a:t>The algorithm then trains a new decision list classifier (a new set of rules) on </a:t>
            </a:r>
            <a:r>
              <a:rPr lang="el-GR" dirty="0" smtClean="0"/>
              <a:t>Λ</a:t>
            </a:r>
            <a:r>
              <a:rPr lang="en-IN" sz="2300" dirty="0" smtClean="0"/>
              <a:t>1</a:t>
            </a:r>
            <a:r>
              <a:rPr lang="en-IN" dirty="0" smtClean="0"/>
              <a:t>, and iterates by applying the classifier to the now-smaller unlabeled set </a:t>
            </a:r>
            <a:r>
              <a:rPr lang="en-IN" i="1" dirty="0" smtClean="0"/>
              <a:t>V</a:t>
            </a:r>
            <a:r>
              <a:rPr lang="en-IN" sz="2000" i="1" dirty="0" smtClean="0"/>
              <a:t>1</a:t>
            </a:r>
            <a:r>
              <a:rPr lang="en-IN" i="1" dirty="0" smtClean="0"/>
              <a:t>, extracting a new training </a:t>
            </a:r>
            <a:r>
              <a:rPr lang="en-IN" dirty="0" smtClean="0"/>
              <a:t>set </a:t>
            </a:r>
            <a:r>
              <a:rPr lang="el-GR" dirty="0" smtClean="0"/>
              <a:t>Λ</a:t>
            </a:r>
            <a:r>
              <a:rPr lang="en-IN" sz="2300" dirty="0" smtClean="0"/>
              <a:t>2</a:t>
            </a:r>
            <a:r>
              <a:rPr lang="en-IN" dirty="0" smtClean="0"/>
              <a:t> and so on.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With each iteration of this process, the training corpus grows and the untagged corpus shrinks. </a:t>
            </a:r>
          </a:p>
          <a:p>
            <a:pPr algn="just"/>
            <a:r>
              <a:rPr lang="en-IN" dirty="0" smtClean="0"/>
              <a:t>The process is repeated until some sufficiently low error-rate on the training set is reached, or until no further examples from the untagged corpus are above threshold</a:t>
            </a:r>
            <a:endParaRPr lang="en-IN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07971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WORD SIMILARITY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IN" b="1" dirty="0" smtClean="0"/>
              <a:t>Word similarity</a:t>
            </a:r>
            <a:r>
              <a:rPr lang="en-IN" dirty="0" smtClean="0"/>
              <a:t>: score that quantifies how semantically close two lexical items are (e.g., </a:t>
            </a:r>
            <a:r>
              <a:rPr lang="en-IN" i="1" dirty="0" smtClean="0"/>
              <a:t>car</a:t>
            </a:r>
            <a:r>
              <a:rPr lang="en-IN" dirty="0" smtClean="0"/>
              <a:t> vs. </a:t>
            </a:r>
            <a:r>
              <a:rPr lang="en-IN" i="1" dirty="0" smtClean="0"/>
              <a:t>automobile</a:t>
            </a:r>
            <a:r>
              <a:rPr lang="en-IN" dirty="0" smtClean="0"/>
              <a:t> → high similarity; </a:t>
            </a:r>
            <a:r>
              <a:rPr lang="en-IN" i="1" dirty="0" smtClean="0"/>
              <a:t>car</a:t>
            </a:r>
            <a:r>
              <a:rPr lang="en-IN" dirty="0" smtClean="0"/>
              <a:t> vs. </a:t>
            </a:r>
            <a:r>
              <a:rPr lang="en-IN" i="1" dirty="0" smtClean="0"/>
              <a:t>road</a:t>
            </a:r>
            <a:r>
              <a:rPr lang="en-IN" dirty="0" smtClean="0"/>
              <a:t> → related but possibly lower similarity depending on measure)</a:t>
            </a:r>
          </a:p>
          <a:p>
            <a:pPr algn="just"/>
            <a:endParaRPr lang="en-IN" dirty="0" smtClean="0"/>
          </a:p>
          <a:p>
            <a:pPr>
              <a:buNone/>
            </a:pPr>
            <a:r>
              <a:rPr lang="en-IN" dirty="0" smtClean="0"/>
              <a:t>Two useful distinctions:</a:t>
            </a:r>
          </a:p>
          <a:p>
            <a:r>
              <a:rPr lang="en-IN" b="1" dirty="0" smtClean="0"/>
              <a:t>Similarity</a:t>
            </a:r>
            <a:r>
              <a:rPr lang="en-IN" dirty="0" smtClean="0"/>
              <a:t> (synonym-like, degree of interchangeability).</a:t>
            </a:r>
          </a:p>
          <a:p>
            <a:r>
              <a:rPr lang="en-IN" b="1" dirty="0" smtClean="0"/>
              <a:t>Relatedness</a:t>
            </a:r>
            <a:r>
              <a:rPr lang="en-IN" dirty="0" smtClean="0"/>
              <a:t> (broader: co-occurrence/functional relation, e.g., </a:t>
            </a:r>
            <a:r>
              <a:rPr lang="en-IN" i="1" dirty="0" smtClean="0"/>
              <a:t>car</a:t>
            </a:r>
            <a:r>
              <a:rPr lang="en-IN" dirty="0" smtClean="0"/>
              <a:t>—</a:t>
            </a:r>
            <a:r>
              <a:rPr lang="en-IN" i="1" dirty="0" smtClean="0"/>
              <a:t>road</a:t>
            </a:r>
            <a:r>
              <a:rPr lang="en-IN" dirty="0" smtClean="0"/>
              <a:t>)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WSD often needs to measure similarity/relatedness.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IN" b="1" dirty="0" smtClean="0"/>
              <a:t>Two main approaches :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IN" b="1" dirty="0" smtClean="0"/>
              <a:t>Thesaurus-based similarity (knowledge driven)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IN" b="1" dirty="0" smtClean="0"/>
              <a:t>Distributional methods (corpus/data-driven) 	</a:t>
            </a:r>
          </a:p>
          <a:p>
            <a:pPr algn="just">
              <a:buNone/>
            </a:pPr>
            <a:endParaRPr lang="en-IN" b="1" dirty="0" smtClean="0"/>
          </a:p>
          <a:p>
            <a:pPr algn="just">
              <a:buNone/>
            </a:pPr>
            <a:r>
              <a:rPr lang="en-IN" b="1" dirty="0" smtClean="0"/>
              <a:t>Thesaurus-based similarity (knowledge):</a:t>
            </a:r>
          </a:p>
          <a:p>
            <a:pPr algn="just">
              <a:buNone/>
            </a:pPr>
            <a:r>
              <a:rPr lang="en-IN" b="1" dirty="0" smtClean="0"/>
              <a:t>	</a:t>
            </a:r>
            <a:r>
              <a:rPr lang="en-IN" dirty="0" smtClean="0"/>
              <a:t>These use a structured lexical resource (synsets, </a:t>
            </a:r>
            <a:r>
              <a:rPr lang="en-IN" dirty="0" err="1" smtClean="0"/>
              <a:t>hypernym</a:t>
            </a:r>
            <a:r>
              <a:rPr lang="en-IN" dirty="0" smtClean="0"/>
              <a:t>/hyponym trees, glosses)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b="1" dirty="0" smtClean="0"/>
              <a:t>Basic Idea: </a:t>
            </a:r>
            <a:r>
              <a:rPr lang="en-IN" dirty="0" smtClean="0"/>
              <a:t>Represent words by their synsets in a semantic network (graph) and compute distance or information-content measures using that graph.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Common approaches &amp; formulas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 — Path / edge-count (simple)</a:t>
            </a:r>
          </a:p>
          <a:p>
            <a:pPr lvl="1" algn="just"/>
            <a:r>
              <a:rPr lang="en-IN" dirty="0" smtClean="0"/>
              <a:t>Similarity inversely proportional to the shortest path length (number of edges) between synsets c1 and c2:</a:t>
            </a:r>
          </a:p>
          <a:p>
            <a:pPr lvl="1" algn="just">
              <a:buNone/>
            </a:pPr>
            <a:r>
              <a:rPr lang="en-IN" dirty="0" smtClean="0"/>
              <a:t>			</a:t>
            </a:r>
            <a:r>
              <a:rPr lang="en-IN" dirty="0" err="1" smtClean="0"/>
              <a:t>sim</a:t>
            </a:r>
            <a:r>
              <a:rPr lang="en-IN" sz="1400" dirty="0" err="1" smtClean="0"/>
              <a:t>path</a:t>
            </a:r>
            <a:r>
              <a:rPr lang="en-IN" sz="1400" dirty="0" smtClean="0"/>
              <a:t>​</a:t>
            </a:r>
            <a:r>
              <a:rPr lang="en-IN" dirty="0" smtClean="0"/>
              <a:t>(c</a:t>
            </a:r>
            <a:r>
              <a:rPr lang="en-IN" sz="2400" dirty="0" smtClean="0"/>
              <a:t>1</a:t>
            </a:r>
            <a:r>
              <a:rPr lang="en-IN" dirty="0" smtClean="0"/>
              <a:t>​,c</a:t>
            </a:r>
            <a:r>
              <a:rPr lang="en-IN" sz="2400" dirty="0" smtClean="0"/>
              <a:t>2</a:t>
            </a:r>
            <a:r>
              <a:rPr lang="en-IN" dirty="0" smtClean="0"/>
              <a:t>​)=1/(</a:t>
            </a:r>
            <a:r>
              <a:rPr lang="en-IN" dirty="0" err="1" smtClean="0"/>
              <a:t>len</a:t>
            </a:r>
            <a:r>
              <a:rPr lang="en-IN" dirty="0" smtClean="0"/>
              <a:t>(c</a:t>
            </a:r>
            <a:r>
              <a:rPr lang="en-IN" sz="2400" dirty="0" smtClean="0"/>
              <a:t>1</a:t>
            </a:r>
            <a:r>
              <a:rPr lang="en-IN" dirty="0" smtClean="0"/>
              <a:t>​,c</a:t>
            </a:r>
            <a:r>
              <a:rPr lang="en-IN" sz="2400" dirty="0" smtClean="0"/>
              <a:t>2</a:t>
            </a:r>
            <a:r>
              <a:rPr lang="en-IN" dirty="0" smtClean="0"/>
              <a:t>​)+1)</a:t>
            </a:r>
          </a:p>
          <a:p>
            <a:pPr marL="0" lvl="1" indent="0" algn="just">
              <a:buFont typeface="Arial" pitchFamily="34" charset="0"/>
              <a:buChar char="•"/>
            </a:pPr>
            <a:r>
              <a:rPr lang="en-IN" dirty="0" smtClean="0"/>
              <a:t>  B — Leacock–</a:t>
            </a:r>
            <a:r>
              <a:rPr lang="en-IN" dirty="0" err="1" smtClean="0"/>
              <a:t>Chodorow</a:t>
            </a:r>
            <a:r>
              <a:rPr lang="en-IN" dirty="0" smtClean="0"/>
              <a:t> (LCH)</a:t>
            </a:r>
          </a:p>
          <a:p>
            <a:pPr marL="0" lvl="1" indent="0" algn="just">
              <a:buNone/>
            </a:pPr>
            <a:r>
              <a:rPr lang="en-IN" dirty="0" smtClean="0"/>
              <a:t>	Uses shortest path and taxonomy depth D:</a:t>
            </a:r>
          </a:p>
          <a:p>
            <a:pPr marL="0" lvl="1" indent="0" algn="just">
              <a:buNone/>
            </a:pPr>
            <a:r>
              <a:rPr lang="en-IN" dirty="0" smtClean="0"/>
              <a:t>		</a:t>
            </a:r>
          </a:p>
          <a:p>
            <a:pPr lvl="1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5334000"/>
            <a:ext cx="489373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458200" cy="5592763"/>
          </a:xfrm>
        </p:spPr>
        <p:txBody>
          <a:bodyPr/>
          <a:lstStyle/>
          <a:p>
            <a:pPr algn="just">
              <a:buNone/>
            </a:pPr>
            <a:r>
              <a:rPr lang="en-IN" b="1" dirty="0" smtClean="0"/>
              <a:t>Example</a:t>
            </a:r>
            <a:r>
              <a:rPr lang="en-IN" dirty="0" smtClean="0"/>
              <a:t>: </a:t>
            </a:r>
          </a:p>
          <a:p>
            <a:pPr algn="just">
              <a:buNone/>
            </a:pPr>
            <a:r>
              <a:rPr lang="en-IN" dirty="0" smtClean="0"/>
              <a:t>		“car” and “bus” in a Semantic Network</a:t>
            </a:r>
          </a:p>
          <a:p>
            <a:pPr algn="just">
              <a:buNone/>
            </a:pPr>
            <a:r>
              <a:rPr lang="en-IN" dirty="0" smtClean="0"/>
              <a:t>Below is a </a:t>
            </a:r>
            <a:r>
              <a:rPr lang="en-IN" b="1" dirty="0" smtClean="0"/>
              <a:t>simplified semantic network</a:t>
            </a:r>
            <a:r>
              <a:rPr lang="en-IN" dirty="0" smtClean="0"/>
              <a:t> showing part of </a:t>
            </a:r>
            <a:r>
              <a:rPr lang="en-IN" dirty="0" err="1" smtClean="0"/>
              <a:t>WordNet’s</a:t>
            </a:r>
            <a:r>
              <a:rPr lang="en-IN" dirty="0" smtClean="0"/>
              <a:t> </a:t>
            </a:r>
            <a:r>
              <a:rPr lang="en-IN" i="1" dirty="0" smtClean="0"/>
              <a:t>is-a (</a:t>
            </a:r>
            <a:r>
              <a:rPr lang="en-IN" i="1" dirty="0" err="1" smtClean="0"/>
              <a:t>hypernym</a:t>
            </a:r>
            <a:r>
              <a:rPr lang="en-IN" i="1" dirty="0" smtClean="0"/>
              <a:t>)</a:t>
            </a:r>
            <a:r>
              <a:rPr lang="en-IN" dirty="0" smtClean="0"/>
              <a:t> hierarchy.</a:t>
            </a:r>
            <a:br>
              <a:rPr lang="en-IN" dirty="0" smtClean="0"/>
            </a:br>
            <a:endParaRPr lang="en-IN" dirty="0" smtClean="0"/>
          </a:p>
          <a:p>
            <a:pPr algn="just">
              <a:buNone/>
            </a:pPr>
            <a:r>
              <a:rPr lang="en-IN" dirty="0" smtClean="0"/>
              <a:t>Each </a:t>
            </a:r>
            <a:r>
              <a:rPr lang="en-IN" b="1" dirty="0" smtClean="0"/>
              <a:t>node</a:t>
            </a:r>
            <a:r>
              <a:rPr lang="en-IN" dirty="0" smtClean="0"/>
              <a:t> = a </a:t>
            </a:r>
            <a:r>
              <a:rPr lang="en-IN" b="1" dirty="0" err="1" smtClean="0"/>
              <a:t>synset</a:t>
            </a:r>
            <a:r>
              <a:rPr lang="en-IN" dirty="0" smtClean="0"/>
              <a:t> (concept),</a:t>
            </a:r>
          </a:p>
          <a:p>
            <a:pPr algn="just">
              <a:buNone/>
            </a:pPr>
            <a:r>
              <a:rPr lang="en-IN" dirty="0" smtClean="0"/>
              <a:t>Each </a:t>
            </a:r>
            <a:r>
              <a:rPr lang="en-IN" b="1" dirty="0" smtClean="0"/>
              <a:t>edge</a:t>
            </a:r>
            <a:r>
              <a:rPr lang="en-IN" dirty="0" smtClean="0"/>
              <a:t> = a </a:t>
            </a:r>
            <a:r>
              <a:rPr lang="en-IN" b="1" dirty="0" smtClean="0"/>
              <a:t>semantic relation</a:t>
            </a:r>
            <a:r>
              <a:rPr lang="en-IN" dirty="0" smtClean="0"/>
              <a:t> (e.g., </a:t>
            </a:r>
            <a:r>
              <a:rPr lang="en-IN" i="1" dirty="0" smtClean="0"/>
              <a:t>is-a,</a:t>
            </a:r>
            <a:r>
              <a:rPr lang="en-IN" dirty="0" smtClean="0"/>
              <a:t> </a:t>
            </a:r>
            <a:r>
              <a:rPr lang="en-IN" i="1" dirty="0" err="1" smtClean="0"/>
              <a:t>hypernym</a:t>
            </a:r>
            <a:r>
              <a:rPr lang="en-IN" i="1" dirty="0" smtClean="0"/>
              <a:t>/hyponym</a:t>
            </a:r>
            <a:r>
              <a:rPr lang="en-IN" dirty="0" smtClean="0"/>
              <a:t>)</a:t>
            </a:r>
          </a:p>
          <a:p>
            <a:pPr algn="just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Graph representation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914400"/>
            <a:ext cx="6469144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algn="just">
              <a:buNone/>
            </a:pPr>
            <a:r>
              <a:rPr lang="en-IN" b="1" dirty="0" smtClean="0"/>
              <a:t>Similarity Computation Example:</a:t>
            </a:r>
          </a:p>
          <a:p>
            <a:pPr algn="just">
              <a:buNone/>
            </a:pPr>
            <a:r>
              <a:rPr lang="en-IN" b="1" dirty="0" smtClean="0"/>
              <a:t>	</a:t>
            </a:r>
          </a:p>
          <a:p>
            <a:pPr algn="just">
              <a:buNone/>
            </a:pPr>
            <a:r>
              <a:rPr lang="en-IN" b="1" dirty="0" smtClean="0"/>
              <a:t>Shortest path</a:t>
            </a:r>
            <a:r>
              <a:rPr lang="en-IN" dirty="0" smtClean="0"/>
              <a:t> between </a:t>
            </a:r>
            <a:r>
              <a:rPr lang="en-IN" i="1" dirty="0" smtClean="0"/>
              <a:t>car</a:t>
            </a:r>
            <a:r>
              <a:rPr lang="en-IN" dirty="0" smtClean="0"/>
              <a:t> and </a:t>
            </a:r>
            <a:r>
              <a:rPr lang="en-IN" i="1" dirty="0" smtClean="0"/>
              <a:t>bus</a:t>
            </a:r>
            <a:r>
              <a:rPr lang="en-IN" dirty="0" smtClean="0"/>
              <a:t>:</a:t>
            </a:r>
          </a:p>
          <a:p>
            <a:pPr algn="just">
              <a:buNone/>
            </a:pPr>
            <a:r>
              <a:rPr lang="en-IN" dirty="0" smtClean="0"/>
              <a:t>		car → vehicle → bus</a:t>
            </a:r>
          </a:p>
          <a:p>
            <a:pPr algn="just">
              <a:buNone/>
            </a:pPr>
            <a:r>
              <a:rPr lang="en-IN" dirty="0" smtClean="0"/>
              <a:t>		</a:t>
            </a:r>
            <a:r>
              <a:rPr lang="en-IN" dirty="0" err="1" smtClean="0"/>
              <a:t>path_length</a:t>
            </a:r>
            <a:r>
              <a:rPr lang="en-IN" dirty="0" smtClean="0"/>
              <a:t> = 2</a:t>
            </a:r>
          </a:p>
          <a:p>
            <a:pPr algn="just">
              <a:buNone/>
            </a:pPr>
            <a:r>
              <a:rPr lang="en-IN" dirty="0" smtClean="0"/>
              <a:t>		similarity = 1 / (1 + 2) = 0.33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endParaRPr lang="en-IN" dirty="0" smtClean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r>
              <a:rPr lang="en-IN" b="1" dirty="0" smtClean="0"/>
              <a:t>Leacock–</a:t>
            </a:r>
            <a:r>
              <a:rPr lang="en-IN" b="1" dirty="0" err="1" smtClean="0"/>
              <a:t>Chodorow</a:t>
            </a:r>
            <a:r>
              <a:rPr lang="en-IN" b="1" dirty="0" smtClean="0"/>
              <a:t> (LCH) — calculation for car </a:t>
            </a:r>
            <a:r>
              <a:rPr lang="en-IN" b="1" dirty="0" err="1" smtClean="0"/>
              <a:t>vs</a:t>
            </a:r>
            <a:r>
              <a:rPr lang="en-IN" b="1" dirty="0" smtClean="0"/>
              <a:t> bus</a:t>
            </a:r>
          </a:p>
          <a:p>
            <a:pPr>
              <a:buNone/>
            </a:pPr>
            <a:r>
              <a:rPr lang="en-IN" dirty="0" smtClean="0"/>
              <a:t>	Formula</a:t>
            </a:r>
            <a:endParaRPr lang="en-IN" b="1" dirty="0" smtClean="0"/>
          </a:p>
          <a:p>
            <a:endParaRPr lang="en-IN" dirty="0" smtClean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where D = maximum depth of the taxonomy (longest </a:t>
            </a:r>
            <a:r>
              <a:rPr lang="en-IN" dirty="0" err="1" smtClean="0"/>
              <a:t>root→leaf</a:t>
            </a:r>
            <a:r>
              <a:rPr lang="en-IN" dirty="0" smtClean="0"/>
              <a:t> path), and the log is natural (ln)</a:t>
            </a:r>
          </a:p>
          <a:p>
            <a:pPr algn="just">
              <a:buNone/>
            </a:pPr>
            <a:r>
              <a:rPr lang="en-IN" b="1" dirty="0" smtClean="0"/>
              <a:t>Calculation:</a:t>
            </a:r>
          </a:p>
          <a:p>
            <a:pPr algn="just">
              <a:buNone/>
            </a:pPr>
            <a:r>
              <a:rPr lang="en-IN" dirty="0" smtClean="0"/>
              <a:t>	Shortest path length between car and bus = </a:t>
            </a:r>
            <a:r>
              <a:rPr lang="en-IN" b="1" dirty="0" smtClean="0"/>
              <a:t>2</a:t>
            </a:r>
            <a:r>
              <a:rPr lang="en-IN" dirty="0" smtClean="0"/>
              <a:t> (car → vehicle → bus)</a:t>
            </a:r>
            <a:endParaRPr lang="en-IN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7518" y="2234784"/>
            <a:ext cx="665988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algn="just"/>
            <a:r>
              <a:rPr lang="en-IN" dirty="0" smtClean="0"/>
              <a:t>Assume maximum depth D=5 (we used depths: entity→… → vehicle → car, car depth = 5)</a:t>
            </a:r>
          </a:p>
          <a:p>
            <a:pPr algn="just">
              <a:buNone/>
            </a:pPr>
            <a:r>
              <a:rPr lang="en-IN" dirty="0" smtClean="0"/>
              <a:t>		LCH=−ln(2/2x5​)=−ln(2/10​)=−ln(0.2)=1.6094</a:t>
            </a:r>
          </a:p>
          <a:p>
            <a:pPr algn="just">
              <a:buNone/>
            </a:pPr>
            <a:r>
              <a:rPr lang="en-IN" dirty="0" smtClean="0"/>
              <a:t>		LCH(car, bus) ≈ 1.609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		Therefore Larger LCH → more similar.</a:t>
            </a:r>
            <a:endParaRPr lang="en-IN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Distributional similarity (corpus-based)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These are </a:t>
            </a:r>
            <a:r>
              <a:rPr lang="en-IN" b="1" dirty="0" smtClean="0"/>
              <a:t>corpus-based approaches</a:t>
            </a:r>
            <a:r>
              <a:rPr lang="en-IN" dirty="0" smtClean="0"/>
              <a:t> that estimate word similarity from </a:t>
            </a:r>
            <a:r>
              <a:rPr lang="en-IN" b="1" dirty="0" smtClean="0"/>
              <a:t>usage patterns</a:t>
            </a:r>
            <a:r>
              <a:rPr lang="en-IN" dirty="0" smtClean="0"/>
              <a:t> in large text corpora — following the </a:t>
            </a:r>
            <a:r>
              <a:rPr lang="en-IN" b="1" dirty="0" smtClean="0"/>
              <a:t>Distributional Hypothesis</a:t>
            </a:r>
          </a:p>
          <a:p>
            <a:pPr algn="just">
              <a:buNone/>
            </a:pPr>
            <a:r>
              <a:rPr lang="en-IN" dirty="0" smtClean="0"/>
              <a:t>	</a:t>
            </a:r>
          </a:p>
          <a:p>
            <a:pPr algn="just">
              <a:buNone/>
            </a:pPr>
            <a:r>
              <a:rPr lang="en-IN" dirty="0" smtClean="0"/>
              <a:t>	“Words that occur in similar contexts tend to have similar meanings.”</a:t>
            </a:r>
            <a:endParaRPr lang="en-IN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 algn="just">
              <a:buNone/>
            </a:pPr>
            <a:r>
              <a:rPr lang="en-IN" dirty="0" smtClean="0"/>
              <a:t>Instead of relying on predefined semantic networks (like </a:t>
            </a:r>
            <a:r>
              <a:rPr lang="en-IN" dirty="0" err="1" smtClean="0"/>
              <a:t>WordNet</a:t>
            </a:r>
            <a:r>
              <a:rPr lang="en-IN" dirty="0" smtClean="0"/>
              <a:t>), distributional methods learn meaning directly from </a:t>
            </a:r>
            <a:r>
              <a:rPr lang="en-IN" b="1" dirty="0" smtClean="0"/>
              <a:t>word co-occurrences</a:t>
            </a:r>
            <a:r>
              <a:rPr lang="en-IN" dirty="0" smtClean="0"/>
              <a:t> in text</a:t>
            </a:r>
          </a:p>
          <a:p>
            <a:pPr lvl="1" algn="just"/>
            <a:r>
              <a:rPr lang="en-IN" dirty="0" smtClean="0"/>
              <a:t>Each word = represented as a </a:t>
            </a:r>
            <a:r>
              <a:rPr lang="en-IN" b="1" dirty="0" smtClean="0"/>
              <a:t>vector</a:t>
            </a:r>
            <a:r>
              <a:rPr lang="en-IN" dirty="0" smtClean="0"/>
              <a:t> (numerical representation of its context).</a:t>
            </a:r>
          </a:p>
          <a:p>
            <a:pPr lvl="1" algn="just"/>
            <a:r>
              <a:rPr lang="en-IN" dirty="0" smtClean="0"/>
              <a:t>Words with similar contexts → </a:t>
            </a:r>
            <a:r>
              <a:rPr lang="en-IN" b="1" dirty="0" smtClean="0"/>
              <a:t>similar vectors</a:t>
            </a:r>
            <a:r>
              <a:rPr lang="en-IN" dirty="0" smtClean="0"/>
              <a:t> → </a:t>
            </a:r>
            <a:r>
              <a:rPr lang="en-IN" b="1" dirty="0" smtClean="0"/>
              <a:t>high cosine similarity</a:t>
            </a:r>
            <a:r>
              <a:rPr lang="en-IN" dirty="0" smtClean="0"/>
              <a:t>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Types of Distributional Methods</a:t>
            </a:r>
            <a:endParaRPr lang="en-IN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Description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Count-based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Co-occurrence Matrix, PPMI, LSA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Uses raw frequency counts of words in context windows</a:t>
                      </a:r>
                      <a:endParaRPr lang="en-IN" sz="2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Prediction-based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Word2Vec, </a:t>
                      </a:r>
                      <a:r>
                        <a:rPr lang="en-IN" sz="2400" dirty="0" err="1" smtClean="0"/>
                        <a:t>GloVe</a:t>
                      </a:r>
                      <a:r>
                        <a:rPr lang="en-IN" sz="2400" dirty="0" smtClean="0"/>
                        <a:t>, </a:t>
                      </a:r>
                      <a:r>
                        <a:rPr lang="en-IN" sz="2400" dirty="0" err="1" smtClean="0"/>
                        <a:t>FastText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 smtClean="0"/>
                        <a:t>Learns embeddings by predicting contexts or words</a:t>
                      </a:r>
                      <a:endParaRPr lang="en-IN" sz="2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35814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Example corpus: </a:t>
            </a:r>
          </a:p>
          <a:p>
            <a:pPr lvl="1" indent="695325">
              <a:buNone/>
            </a:pPr>
            <a:r>
              <a:rPr lang="en-IN" dirty="0" smtClean="0"/>
              <a:t>1. The car is on the road.</a:t>
            </a:r>
          </a:p>
          <a:p>
            <a:pPr lvl="1" indent="695325">
              <a:buNone/>
            </a:pPr>
            <a:r>
              <a:rPr lang="en-IN" dirty="0" smtClean="0"/>
              <a:t>2. The bus is on the road.</a:t>
            </a:r>
          </a:p>
          <a:p>
            <a:pPr lvl="1" indent="695325">
              <a:buNone/>
            </a:pPr>
            <a:r>
              <a:rPr lang="en-IN" dirty="0" smtClean="0"/>
              <a:t>3. The car and the bus are vehicles.</a:t>
            </a:r>
          </a:p>
          <a:p>
            <a:pPr lvl="1" indent="-742950">
              <a:buNone/>
            </a:pPr>
            <a:r>
              <a:rPr lang="en-IN" dirty="0" smtClean="0"/>
              <a:t>Step 1: Build </a:t>
            </a:r>
            <a:r>
              <a:rPr lang="en-IN" b="1" dirty="0" smtClean="0"/>
              <a:t>Co-occurrence Matrix</a:t>
            </a:r>
          </a:p>
          <a:p>
            <a:pPr lvl="1" indent="-742950">
              <a:buNone/>
            </a:pPr>
            <a:r>
              <a:rPr lang="en-IN" dirty="0" smtClean="0"/>
              <a:t>	We take a small </a:t>
            </a:r>
            <a:r>
              <a:rPr lang="en-IN" b="1" dirty="0" smtClean="0"/>
              <a:t>context window</a:t>
            </a:r>
            <a:r>
              <a:rPr lang="en-IN" dirty="0" smtClean="0"/>
              <a:t> (say, 2 words on each side)</a:t>
            </a:r>
          </a:p>
          <a:p>
            <a:pPr lvl="1" indent="-742950">
              <a:buNone/>
            </a:pPr>
            <a:endParaRPr lang="en-IN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4191000"/>
          <a:ext cx="7467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656"/>
                <a:gridCol w="651244"/>
                <a:gridCol w="933450"/>
                <a:gridCol w="933450"/>
                <a:gridCol w="933450"/>
                <a:gridCol w="933450"/>
                <a:gridCol w="933450"/>
                <a:gridCol w="93345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Target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Bus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Road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Vehicle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The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On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Bus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Road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Vehicle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3400" y="6457890"/>
            <a:ext cx="800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 smtClean="0"/>
              <a:t>(Numbers are counts of how often each pair appeared near each other.)</a:t>
            </a:r>
            <a:endParaRPr lang="en-IN" sz="2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Step 2.</a:t>
            </a:r>
            <a:r>
              <a:rPr lang="en-IN" dirty="0" smtClean="0"/>
              <a:t> Convert to </a:t>
            </a:r>
            <a:r>
              <a:rPr lang="en-IN" b="1" dirty="0" smtClean="0"/>
              <a:t>vectors</a:t>
            </a:r>
          </a:p>
          <a:p>
            <a:pPr>
              <a:buNone/>
            </a:pPr>
            <a:r>
              <a:rPr lang="en-IN" dirty="0" smtClean="0"/>
              <a:t>	v(car)  = [0,1,1,1,1,1,1]</a:t>
            </a:r>
          </a:p>
          <a:p>
            <a:pPr>
              <a:buNone/>
            </a:pPr>
            <a:r>
              <a:rPr lang="en-IN" dirty="0" smtClean="0"/>
              <a:t>	v(bus)  = [1,0,1,1,1,1,1]</a:t>
            </a:r>
          </a:p>
          <a:p>
            <a:pPr>
              <a:buNone/>
            </a:pPr>
            <a:r>
              <a:rPr lang="en-IN" b="1" dirty="0" smtClean="0"/>
              <a:t>Step 3</a:t>
            </a:r>
            <a:r>
              <a:rPr lang="en-IN" dirty="0" smtClean="0"/>
              <a:t>. Compute </a:t>
            </a:r>
            <a:r>
              <a:rPr lang="en-IN" b="1" dirty="0" smtClean="0"/>
              <a:t>Cosine Similarity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868" y="3048000"/>
            <a:ext cx="8688132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3408</Words>
  <Application>Microsoft Office PowerPoint</Application>
  <PresentationFormat>On-screen Show (4:3)</PresentationFormat>
  <Paragraphs>587</Paragraphs>
  <Slides>79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0" baseType="lpstr">
      <vt:lpstr>Office Theme</vt:lpstr>
      <vt:lpstr>UNIT 4 SEMANTICS AND PRAGMATICS</vt:lpstr>
      <vt:lpstr>What are Semantics</vt:lpstr>
      <vt:lpstr>What is Pragmatics</vt:lpstr>
      <vt:lpstr>Need for Representation</vt:lpstr>
      <vt:lpstr>Levels of Linguistic Knowledge</vt:lpstr>
      <vt:lpstr>NLP Applications Involving Meaning</vt:lpstr>
      <vt:lpstr>Challenges in Meaning</vt:lpstr>
      <vt:lpstr>      </vt:lpstr>
      <vt:lpstr>Relationship Between Semantics and Pragmatics</vt:lpstr>
      <vt:lpstr>Requirements for representation</vt:lpstr>
      <vt:lpstr>Requirements for representation</vt:lpstr>
      <vt:lpstr>PowerPoint Presentation</vt:lpstr>
      <vt:lpstr>First-order Logic:</vt:lpstr>
      <vt:lpstr>Components of FOL</vt:lpstr>
      <vt:lpstr>Syntax of FOL</vt:lpstr>
      <vt:lpstr>Example FOL Expressions</vt:lpstr>
      <vt:lpstr>Logical Connectives</vt:lpstr>
      <vt:lpstr>Quantifiers Example</vt:lpstr>
      <vt:lpstr>Complex Representation</vt:lpstr>
      <vt:lpstr>Lambda Expressions</vt:lpstr>
      <vt:lpstr>Constants and Variables</vt:lpstr>
      <vt:lpstr>Functions in FOL</vt:lpstr>
      <vt:lpstr>Predicates</vt:lpstr>
      <vt:lpstr>Atomic and Composite Formulae</vt:lpstr>
      <vt:lpstr>Description Logics (DLs)</vt:lpstr>
      <vt:lpstr>Core Components of Description Logics</vt:lpstr>
      <vt:lpstr>PowerPoint Presentation</vt:lpstr>
      <vt:lpstr>DLs in Natural Language Semantics</vt:lpstr>
      <vt:lpstr>PowerPoint Presentation</vt:lpstr>
      <vt:lpstr>PowerPoint Presentation</vt:lpstr>
      <vt:lpstr>Illustrative Summary Example</vt:lpstr>
      <vt:lpstr>Syntax-Driven Semantic analysis</vt:lpstr>
      <vt:lpstr>PowerPoint Presentation</vt:lpstr>
      <vt:lpstr>What is Syntax-Driven Semantic Analysis?</vt:lpstr>
      <vt:lpstr>Syntax–Semantics Interface</vt:lpstr>
      <vt:lpstr>Example: Simple Sentence</vt:lpstr>
      <vt:lpstr>PowerPoint Presentation</vt:lpstr>
      <vt:lpstr>Why Syntax-Driven?</vt:lpstr>
      <vt:lpstr>Semantic Attachment to Grammar Rules</vt:lpstr>
      <vt:lpstr>Using Lambda Calculus for Semantic Composition</vt:lpstr>
      <vt:lpstr>PowerPoint Presentation</vt:lpstr>
      <vt:lpstr>Word Senses</vt:lpstr>
      <vt:lpstr>PowerPoint Presentation</vt:lpstr>
      <vt:lpstr>Relations between senses (lexical-semantic relations)</vt:lpstr>
      <vt:lpstr>Thematic Roles &amp; Selectional Restrictions</vt:lpstr>
      <vt:lpstr>PowerPoint Presentation</vt:lpstr>
      <vt:lpstr>PowerPoint Presentation</vt:lpstr>
      <vt:lpstr>Word Sense Disambiguation (WSD)</vt:lpstr>
      <vt:lpstr>PowerPoint Presentation</vt:lpstr>
      <vt:lpstr>Types of WSD Approaches</vt:lpstr>
      <vt:lpstr>WSD Using Supervised Methods</vt:lpstr>
      <vt:lpstr>The Workflow of Supervised WSD:</vt:lpstr>
      <vt:lpstr>Common Features Used in WSD:</vt:lpstr>
      <vt:lpstr>Example of Supervised WSD:</vt:lpstr>
      <vt:lpstr>Common Supervised Learning Algorithms Used:</vt:lpstr>
      <vt:lpstr>PowerPoint Presentation</vt:lpstr>
      <vt:lpstr>Dictionary &amp; Thesaurus (Knowledge-based) Methods</vt:lpstr>
      <vt:lpstr>The Lesk Algorithm</vt:lpstr>
      <vt:lpstr>The Simplified Lesk Algorithm</vt:lpstr>
      <vt:lpstr>PowerPoint Presentation</vt:lpstr>
      <vt:lpstr>PowerPoint Presentation</vt:lpstr>
      <vt:lpstr>Minimally Supervised WSD: Bootstrapping Method</vt:lpstr>
      <vt:lpstr>Yarowsky algorithm</vt:lpstr>
      <vt:lpstr>Yarowsky algorithm</vt:lpstr>
      <vt:lpstr>PowerPoint Presentation</vt:lpstr>
      <vt:lpstr>PowerPoint Presentation</vt:lpstr>
      <vt:lpstr>WORD SIMILARITY</vt:lpstr>
      <vt:lpstr>PowerPoint Presentation</vt:lpstr>
      <vt:lpstr>Common approaches &amp; formulas</vt:lpstr>
      <vt:lpstr>PowerPoint Presentation</vt:lpstr>
      <vt:lpstr>Graph representation</vt:lpstr>
      <vt:lpstr>PowerPoint Presentation</vt:lpstr>
      <vt:lpstr>PowerPoint Presentation</vt:lpstr>
      <vt:lpstr>PowerPoint Presentation</vt:lpstr>
      <vt:lpstr>Distributional similarity (corpus-based)</vt:lpstr>
      <vt:lpstr>PowerPoint Presentation</vt:lpstr>
      <vt:lpstr>Types of Distributional Methods</vt:lpstr>
      <vt:lpstr>Example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SEMANTICS AND PRAGMATICS</dc:title>
  <dc:creator>vishnu</dc:creator>
  <cp:lastModifiedBy>Windows User</cp:lastModifiedBy>
  <cp:revision>225</cp:revision>
  <dcterms:created xsi:type="dcterms:W3CDTF">2006-08-16T00:00:00Z</dcterms:created>
  <dcterms:modified xsi:type="dcterms:W3CDTF">2026-03-03T13:01:57Z</dcterms:modified>
</cp:coreProperties>
</file>