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2"/>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336" r:id="rId14"/>
    <p:sldId id="269" r:id="rId15"/>
    <p:sldId id="270" r:id="rId16"/>
    <p:sldId id="272" r:id="rId17"/>
    <p:sldId id="273" r:id="rId18"/>
    <p:sldId id="274" r:id="rId19"/>
    <p:sldId id="279" r:id="rId20"/>
    <p:sldId id="280" r:id="rId21"/>
    <p:sldId id="281" r:id="rId22"/>
    <p:sldId id="282" r:id="rId23"/>
    <p:sldId id="283" r:id="rId24"/>
    <p:sldId id="284" r:id="rId25"/>
    <p:sldId id="285" r:id="rId26"/>
    <p:sldId id="286" r:id="rId27"/>
    <p:sldId id="287" r:id="rId28"/>
    <p:sldId id="329" r:id="rId29"/>
    <p:sldId id="330" r:id="rId30"/>
    <p:sldId id="331" r:id="rId31"/>
    <p:sldId id="332" r:id="rId32"/>
    <p:sldId id="333" r:id="rId33"/>
    <p:sldId id="334" r:id="rId34"/>
    <p:sldId id="335" r:id="rId35"/>
    <p:sldId id="289" r:id="rId36"/>
    <p:sldId id="290" r:id="rId37"/>
    <p:sldId id="291" r:id="rId38"/>
    <p:sldId id="292" r:id="rId39"/>
    <p:sldId id="346" r:id="rId40"/>
    <p:sldId id="294" r:id="rId41"/>
    <p:sldId id="295" r:id="rId42"/>
    <p:sldId id="296" r:id="rId43"/>
    <p:sldId id="341" r:id="rId44"/>
    <p:sldId id="342" r:id="rId45"/>
    <p:sldId id="343" r:id="rId46"/>
    <p:sldId id="344" r:id="rId47"/>
    <p:sldId id="345" r:id="rId48"/>
    <p:sldId id="347" r:id="rId49"/>
    <p:sldId id="348" r:id="rId50"/>
    <p:sldId id="349" r:id="rId51"/>
    <p:sldId id="350" r:id="rId52"/>
    <p:sldId id="351" r:id="rId53"/>
    <p:sldId id="299" r:id="rId54"/>
    <p:sldId id="301" r:id="rId55"/>
    <p:sldId id="352" r:id="rId56"/>
    <p:sldId id="353" r:id="rId57"/>
    <p:sldId id="354" r:id="rId58"/>
    <p:sldId id="302" r:id="rId59"/>
    <p:sldId id="303" r:id="rId60"/>
    <p:sldId id="357" r:id="rId61"/>
    <p:sldId id="355" r:id="rId62"/>
    <p:sldId id="304" r:id="rId63"/>
    <p:sldId id="358" r:id="rId64"/>
    <p:sldId id="305" r:id="rId65"/>
    <p:sldId id="356" r:id="rId66"/>
    <p:sldId id="359" r:id="rId67"/>
    <p:sldId id="306" r:id="rId68"/>
    <p:sldId id="307" r:id="rId69"/>
    <p:sldId id="360" r:id="rId70"/>
    <p:sldId id="308" r:id="rId71"/>
    <p:sldId id="309" r:id="rId72"/>
    <p:sldId id="310" r:id="rId73"/>
    <p:sldId id="311" r:id="rId74"/>
    <p:sldId id="361" r:id="rId75"/>
    <p:sldId id="312" r:id="rId76"/>
    <p:sldId id="362" r:id="rId77"/>
    <p:sldId id="313" r:id="rId78"/>
    <p:sldId id="314" r:id="rId79"/>
    <p:sldId id="315" r:id="rId80"/>
    <p:sldId id="316" r:id="rId81"/>
    <p:sldId id="317" r:id="rId82"/>
    <p:sldId id="318" r:id="rId83"/>
    <p:sldId id="319" r:id="rId84"/>
    <p:sldId id="363" r:id="rId85"/>
    <p:sldId id="364" r:id="rId86"/>
    <p:sldId id="365" r:id="rId87"/>
    <p:sldId id="366" r:id="rId88"/>
    <p:sldId id="367" r:id="rId89"/>
    <p:sldId id="368" r:id="rId90"/>
    <p:sldId id="369" r:id="rId91"/>
    <p:sldId id="322" r:id="rId92"/>
    <p:sldId id="323" r:id="rId93"/>
    <p:sldId id="324" r:id="rId94"/>
    <p:sldId id="325" r:id="rId95"/>
    <p:sldId id="370" r:id="rId96"/>
    <p:sldId id="371" r:id="rId97"/>
    <p:sldId id="372" r:id="rId98"/>
    <p:sldId id="373" r:id="rId99"/>
    <p:sldId id="374" r:id="rId100"/>
    <p:sldId id="375" r:id="rId101"/>
    <p:sldId id="376" r:id="rId102"/>
    <p:sldId id="377" r:id="rId103"/>
    <p:sldId id="378" r:id="rId104"/>
    <p:sldId id="379" r:id="rId105"/>
    <p:sldId id="380" r:id="rId106"/>
    <p:sldId id="381" r:id="rId107"/>
    <p:sldId id="382" r:id="rId108"/>
    <p:sldId id="326" r:id="rId109"/>
    <p:sldId id="327" r:id="rId110"/>
    <p:sldId id="328" r:id="rId1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9" d="100"/>
          <a:sy n="89" d="100"/>
        </p:scale>
        <p:origin x="-1085"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FF6DEF-1274-4ADD-8A89-EBCEBE31DDE2}" type="datetimeFigureOut">
              <a:rPr lang="en-US" smtClean="0"/>
              <a:pPr/>
              <a:t>2/1/2026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BEE1F12-E99E-49AD-B4CB-3B88742247DB}" type="slidenum">
              <a:rPr lang="en-IN" smtClean="0"/>
              <a:pPr/>
              <a:t>‹#›</a:t>
            </a:fld>
            <a:endParaRPr lang="en-IN"/>
          </a:p>
        </p:txBody>
      </p:sp>
    </p:spTree>
    <p:extLst>
      <p:ext uri="{BB962C8B-B14F-4D97-AF65-F5344CB8AC3E}">
        <p14:creationId xmlns:p14="http://schemas.microsoft.com/office/powerpoint/2010/main" val="303420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ABF41F5-611F-4F7B-B3E4-E2B241B71A38}" type="slidenum">
              <a:rPr lang="en-IN" smtClean="0"/>
              <a:pPr/>
              <a:t>96</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pPr/>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pPr/>
              <a:t>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pPr/>
              <a:t>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8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8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94675"/>
            <a:ext cx="7772400" cy="3135755"/>
          </a:xfrm>
        </p:spPr>
        <p:txBody>
          <a:bodyPr/>
          <a:lstStyle/>
          <a:p>
            <a:r>
              <a:rPr lang="en-IN" dirty="0" smtClean="0"/>
              <a:t>UNIT 2</a:t>
            </a:r>
            <a:br>
              <a:rPr lang="en-IN" dirty="0" smtClean="0"/>
            </a:br>
            <a:r>
              <a:rPr lang="en-IN" dirty="0" smtClean="0"/>
              <a:t>Word Level Analysis</a:t>
            </a:r>
            <a:endParaRPr/>
          </a:p>
        </p:txBody>
      </p:sp>
      <p:sp>
        <p:nvSpPr>
          <p:cNvPr id="3" name="Subtitle 2"/>
          <p:cNvSpPr>
            <a:spLocks noGrp="1"/>
          </p:cNvSpPr>
          <p:nvPr>
            <p:ph type="subTitle" idx="1"/>
          </p:nvPr>
        </p:nvSpPr>
        <p:spPr/>
        <p:txBody>
          <a:bodyPr/>
          <a:lstStyle/>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34634"/>
          </a:xfrm>
        </p:spPr>
        <p:txBody>
          <a:bodyPr/>
          <a:lstStyle/>
          <a:p>
            <a:r>
              <a:rPr b="1" dirty="0">
                <a:solidFill>
                  <a:srgbClr val="FF0000"/>
                </a:solidFill>
              </a:rPr>
              <a:t>What are N-grams?</a:t>
            </a:r>
          </a:p>
        </p:txBody>
      </p:sp>
      <p:sp>
        <p:nvSpPr>
          <p:cNvPr id="3" name="Content Placeholder 2"/>
          <p:cNvSpPr>
            <a:spLocks noGrp="1"/>
          </p:cNvSpPr>
          <p:nvPr>
            <p:ph idx="1"/>
          </p:nvPr>
        </p:nvSpPr>
        <p:spPr/>
        <p:txBody>
          <a:bodyPr/>
          <a:lstStyle/>
          <a:p>
            <a:pPr algn="just">
              <a:buNone/>
            </a:pPr>
            <a:r>
              <a:rPr dirty="0" smtClean="0">
                <a:latin typeface="Times New Roman" pitchFamily="18" charset="0"/>
                <a:cs typeface="Times New Roman" pitchFamily="18" charset="0"/>
              </a:rPr>
              <a:t>An </a:t>
            </a:r>
            <a:r>
              <a:rPr dirty="0">
                <a:latin typeface="Times New Roman" pitchFamily="18" charset="0"/>
                <a:cs typeface="Times New Roman" pitchFamily="18" charset="0"/>
              </a:rPr>
              <a:t>N-gram is </a:t>
            </a:r>
            <a:r>
              <a:rPr dirty="0">
                <a:latin typeface="Times New Roman" pitchFamily="18" charset="0"/>
                <a:cs typeface="Times New Roman" pitchFamily="18" charset="0"/>
              </a:rPr>
              <a:t>a </a:t>
            </a:r>
            <a:r>
              <a:rPr dirty="0" err="1" smtClean="0">
                <a:latin typeface="Times New Roman" pitchFamily="18" charset="0"/>
                <a:cs typeface="Times New Roman" pitchFamily="18" charset="0"/>
              </a:rPr>
              <a:t>conti</a:t>
            </a:r>
            <a:r>
              <a:rPr lang="en-IN" dirty="0" smtClean="0">
                <a:latin typeface="Times New Roman" pitchFamily="18" charset="0"/>
                <a:cs typeface="Times New Roman" pitchFamily="18" charset="0"/>
              </a:rPr>
              <a:t>n</a:t>
            </a:r>
            <a:r>
              <a:rPr dirty="0" err="1" smtClean="0">
                <a:latin typeface="Times New Roman" pitchFamily="18" charset="0"/>
                <a:cs typeface="Times New Roman" pitchFamily="18" charset="0"/>
              </a:rPr>
              <a:t>uous</a:t>
            </a:r>
            <a:r>
              <a:rPr dirty="0" smtClean="0">
                <a:latin typeface="Times New Roman" pitchFamily="18" charset="0"/>
                <a:cs typeface="Times New Roman" pitchFamily="18" charset="0"/>
              </a:rPr>
              <a:t> </a:t>
            </a:r>
            <a:r>
              <a:rPr dirty="0">
                <a:latin typeface="Times New Roman" pitchFamily="18" charset="0"/>
                <a:cs typeface="Times New Roman" pitchFamily="18" charset="0"/>
              </a:rPr>
              <a:t>sequence of N items (usually words) from a text.</a:t>
            </a:r>
          </a:p>
          <a:p>
            <a:pPr algn="just">
              <a:buNone/>
            </a:pPr>
            <a:r>
              <a:rPr dirty="0">
                <a:latin typeface="Times New Roman" pitchFamily="18" charset="0"/>
                <a:cs typeface="Times New Roman" pitchFamily="18" charset="0"/>
              </a:rPr>
              <a:t>Example: For sentence 'I love NLP':</a:t>
            </a:r>
          </a:p>
          <a:p>
            <a:pPr algn="just">
              <a:buNone/>
            </a:pPr>
            <a:r>
              <a:rPr dirty="0">
                <a:latin typeface="Times New Roman" pitchFamily="18" charset="0"/>
                <a:cs typeface="Times New Roman" pitchFamily="18" charset="0"/>
              </a:rPr>
              <a:t>  - Unigrams: I, love, NLP</a:t>
            </a:r>
          </a:p>
          <a:p>
            <a:pPr algn="just">
              <a:buNone/>
            </a:pPr>
            <a:r>
              <a:rPr dirty="0">
                <a:latin typeface="Times New Roman" pitchFamily="18" charset="0"/>
                <a:cs typeface="Times New Roman" pitchFamily="18" charset="0"/>
              </a:rPr>
              <a:t>  - Bigrams: I love, love NLP</a:t>
            </a:r>
          </a:p>
          <a:p>
            <a:pPr algn="just">
              <a:buNone/>
            </a:pPr>
            <a:r>
              <a:rPr dirty="0">
                <a:latin typeface="Times New Roman" pitchFamily="18" charset="0"/>
                <a:cs typeface="Times New Roman" pitchFamily="18" charset="0"/>
              </a:rPr>
              <a:t>  - Trigrams: I love NLP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b="1" dirty="0">
                <a:solidFill>
                  <a:srgbClr val="FF0000"/>
                </a:solidFill>
              </a:rPr>
              <a:t>Mathematical </a:t>
            </a:r>
            <a:r>
              <a:rPr lang="en-IN" b="1" dirty="0" smtClean="0">
                <a:solidFill>
                  <a:srgbClr val="FF0000"/>
                </a:solidFill>
              </a:rPr>
              <a:t>Model for N-grams </a:t>
            </a:r>
            <a:r>
              <a:rPr b="1" dirty="0" smtClean="0">
                <a:solidFill>
                  <a:srgbClr val="FF0000"/>
                </a:solidFill>
              </a:rPr>
              <a:t>Definition</a:t>
            </a:r>
            <a:endParaRPr b="1" dirty="0">
              <a:solidFill>
                <a:srgbClr val="FF0000"/>
              </a:solidFill>
            </a:endParaRPr>
          </a:p>
        </p:txBody>
      </p:sp>
      <p:sp>
        <p:nvSpPr>
          <p:cNvPr id="3" name="Content Placeholder 2"/>
          <p:cNvSpPr>
            <a:spLocks noGrp="1"/>
          </p:cNvSpPr>
          <p:nvPr>
            <p:ph idx="1"/>
          </p:nvPr>
        </p:nvSpPr>
        <p:spPr/>
        <p:txBody>
          <a:bodyPr>
            <a:normAutofit lnSpcReduction="10000"/>
          </a:bodyPr>
          <a:lstStyle/>
          <a:p>
            <a:pPr algn="just"/>
            <a:r>
              <a:rPr lang="en-IN" dirty="0" smtClean="0">
                <a:latin typeface="Times New Roman" pitchFamily="18" charset="0"/>
                <a:cs typeface="Times New Roman" pitchFamily="18" charset="0"/>
              </a:rPr>
              <a:t>For sequence of words w</a:t>
            </a:r>
            <a:r>
              <a:rPr lang="en-IN" sz="1800" dirty="0" smtClean="0">
                <a:latin typeface="Times New Roman" pitchFamily="18" charset="0"/>
                <a:cs typeface="Times New Roman" pitchFamily="18" charset="0"/>
              </a:rPr>
              <a:t>1</a:t>
            </a:r>
            <a:r>
              <a:rPr lang="en-IN" dirty="0" smtClean="0">
                <a:latin typeface="Times New Roman" pitchFamily="18" charset="0"/>
                <a:cs typeface="Times New Roman" pitchFamily="18" charset="0"/>
              </a:rPr>
              <a:t>,w</a:t>
            </a:r>
            <a:r>
              <a:rPr lang="en-IN" sz="1800" dirty="0" smtClean="0">
                <a:latin typeface="Times New Roman" pitchFamily="18" charset="0"/>
                <a:cs typeface="Times New Roman" pitchFamily="18" charset="0"/>
              </a:rPr>
              <a:t>2</a:t>
            </a:r>
            <a:r>
              <a:rPr lang="en-IN" dirty="0" smtClean="0">
                <a:latin typeface="Times New Roman" pitchFamily="18" charset="0"/>
                <a:cs typeface="Times New Roman" pitchFamily="18" charset="0"/>
              </a:rPr>
              <a:t>,.......w</a:t>
            </a:r>
            <a:r>
              <a:rPr lang="en-IN" sz="2000" dirty="0" smtClean="0">
                <a:latin typeface="Times New Roman" pitchFamily="18" charset="0"/>
                <a:cs typeface="Times New Roman" pitchFamily="18" charset="0"/>
              </a:rPr>
              <a:t>m</a:t>
            </a:r>
            <a:r>
              <a:rPr lang="en-IN" dirty="0" smtClean="0">
                <a:latin typeface="Times New Roman" pitchFamily="18" charset="0"/>
                <a:cs typeface="Times New Roman" pitchFamily="18" charset="0"/>
              </a:rPr>
              <a:t>:</a:t>
            </a:r>
          </a:p>
          <a:p>
            <a:pPr algn="just">
              <a:buNone/>
            </a:pPr>
            <a:r>
              <a:rPr lang="en-IN" dirty="0" smtClean="0">
                <a:latin typeface="Times New Roman" pitchFamily="18" charset="0"/>
                <a:cs typeface="Times New Roman" pitchFamily="18" charset="0"/>
              </a:rPr>
              <a:t>	Chain Rule:</a:t>
            </a:r>
          </a:p>
          <a:p>
            <a:endParaRPr lang="en-IN" dirty="0" smtClean="0">
              <a:latin typeface="Times New Roman" pitchFamily="18" charset="0"/>
              <a:cs typeface="Times New Roman" pitchFamily="18" charset="0"/>
            </a:endParaRPr>
          </a:p>
          <a:p>
            <a:pPr>
              <a:buNone/>
            </a:pPr>
            <a:endParaRPr dirty="0">
              <a:latin typeface="Times New Roman" pitchFamily="18" charset="0"/>
              <a:cs typeface="Times New Roman" pitchFamily="18" charset="0"/>
            </a:endParaRPr>
          </a:p>
          <a:p>
            <a:pPr>
              <a:buNone/>
            </a:pPr>
            <a:endParaRPr lang="en-IN" dirty="0" smtClean="0">
              <a:latin typeface="Times New Roman" pitchFamily="18" charset="0"/>
              <a:cs typeface="Times New Roman" pitchFamily="18" charset="0"/>
            </a:endParaRPr>
          </a:p>
          <a:p>
            <a:r>
              <a:rPr dirty="0" smtClean="0">
                <a:latin typeface="Times New Roman" pitchFamily="18" charset="0"/>
                <a:cs typeface="Times New Roman" pitchFamily="18" charset="0"/>
              </a:rPr>
              <a:t>Example </a:t>
            </a:r>
            <a:r>
              <a:rPr dirty="0">
                <a:latin typeface="Times New Roman" pitchFamily="18" charset="0"/>
                <a:cs typeface="Times New Roman" pitchFamily="18" charset="0"/>
              </a:rPr>
              <a:t>for bigram </a:t>
            </a:r>
            <a:r>
              <a:rPr dirty="0">
                <a:latin typeface="Times New Roman" pitchFamily="18" charset="0"/>
                <a:cs typeface="Times New Roman" pitchFamily="18" charset="0"/>
              </a:rPr>
              <a:t>model</a:t>
            </a:r>
            <a:r>
              <a:rPr dirty="0" smtClean="0">
                <a:latin typeface="Times New Roman" pitchFamily="18" charset="0"/>
                <a:cs typeface="Times New Roman" pitchFamily="18" charset="0"/>
              </a:rPr>
              <a:t>:</a:t>
            </a:r>
            <a:endParaRPr lang="en-IN" dirty="0" smtClean="0">
              <a:latin typeface="Times New Roman" pitchFamily="18" charset="0"/>
              <a:cs typeface="Times New Roman" pitchFamily="18" charset="0"/>
            </a:endParaRPr>
          </a:p>
          <a:p>
            <a:pPr>
              <a:buNone/>
            </a:pPr>
            <a:endParaRPr dirty="0">
              <a:latin typeface="Times New Roman" pitchFamily="18" charset="0"/>
              <a:cs typeface="Times New Roman" pitchFamily="18" charset="0"/>
            </a:endParaRPr>
          </a:p>
          <a:p>
            <a:pPr>
              <a:buNone/>
            </a:pPr>
            <a:r>
              <a:rPr lang="en-IN" dirty="0" smtClean="0">
                <a:latin typeface="Times New Roman" pitchFamily="18" charset="0"/>
                <a:cs typeface="Times New Roman" pitchFamily="18" charset="0"/>
              </a:rPr>
              <a:t>	</a:t>
            </a:r>
            <a:r>
              <a:rPr dirty="0" smtClean="0">
                <a:latin typeface="Times New Roman" pitchFamily="18" charset="0"/>
                <a:cs typeface="Times New Roman" pitchFamily="18" charset="0"/>
              </a:rPr>
              <a:t>P(I </a:t>
            </a:r>
            <a:r>
              <a:rPr dirty="0">
                <a:latin typeface="Times New Roman" pitchFamily="18" charset="0"/>
                <a:cs typeface="Times New Roman" pitchFamily="18" charset="0"/>
              </a:rPr>
              <a:t>love NLP) ≈ P(I) × P(</a:t>
            </a:r>
            <a:r>
              <a:rPr dirty="0" err="1">
                <a:latin typeface="Times New Roman" pitchFamily="18" charset="0"/>
                <a:cs typeface="Times New Roman" pitchFamily="18" charset="0"/>
              </a:rPr>
              <a:t>love|I</a:t>
            </a:r>
            <a:r>
              <a:rPr dirty="0">
                <a:latin typeface="Times New Roman" pitchFamily="18" charset="0"/>
                <a:cs typeface="Times New Roman" pitchFamily="18" charset="0"/>
              </a:rPr>
              <a:t>) × P(</a:t>
            </a:r>
            <a:r>
              <a:rPr dirty="0" err="1">
                <a:latin typeface="Times New Roman" pitchFamily="18" charset="0"/>
                <a:cs typeface="Times New Roman" pitchFamily="18" charset="0"/>
              </a:rPr>
              <a:t>NLP|love</a:t>
            </a:r>
            <a:r>
              <a:rPr dirty="0">
                <a:latin typeface="Times New Roman" pitchFamily="18" charset="0"/>
                <a:cs typeface="Times New Roman" pitchFamily="18" charset="0"/>
              </a:rPr>
              <a:t>)</a:t>
            </a:r>
          </a:p>
        </p:txBody>
      </p:sp>
      <p:pic>
        <p:nvPicPr>
          <p:cNvPr id="1028" name="Picture 4"/>
          <p:cNvPicPr>
            <a:picLocks noChangeAspect="1" noChangeArrowheads="1"/>
          </p:cNvPicPr>
          <p:nvPr/>
        </p:nvPicPr>
        <p:blipFill>
          <a:blip r:embed="rId2"/>
          <a:srcRect/>
          <a:stretch>
            <a:fillRect/>
          </a:stretch>
        </p:blipFill>
        <p:spPr bwMode="auto">
          <a:xfrm>
            <a:off x="1475906" y="2785123"/>
            <a:ext cx="6617720" cy="1097326"/>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FF0000"/>
                </a:solidFill>
              </a:rPr>
              <a:t>Example Corpus</a:t>
            </a:r>
          </a:p>
        </p:txBody>
      </p:sp>
      <p:sp>
        <p:nvSpPr>
          <p:cNvPr id="3" name="Content Placeholder 2"/>
          <p:cNvSpPr>
            <a:spLocks noGrp="1"/>
          </p:cNvSpPr>
          <p:nvPr>
            <p:ph idx="1"/>
          </p:nvPr>
        </p:nvSpPr>
        <p:spPr/>
        <p:txBody>
          <a:bodyPr/>
          <a:lstStyle/>
          <a:p>
            <a:pPr algn="just"/>
            <a:r>
              <a:rPr lang="en-IN" dirty="0" smtClean="0">
                <a:latin typeface="Times New Roman" pitchFamily="18" charset="0"/>
                <a:cs typeface="Times New Roman" pitchFamily="18" charset="0"/>
              </a:rPr>
              <a:t>Corpus: </a:t>
            </a:r>
            <a:r>
              <a:rPr lang="en-IN" i="1" dirty="0" smtClean="0">
                <a:latin typeface="Times New Roman" pitchFamily="18" charset="0"/>
                <a:cs typeface="Times New Roman" pitchFamily="18" charset="0"/>
              </a:rPr>
              <a:t>“I love NLP. I love AI. I study NLP.”</a:t>
            </a:r>
          </a:p>
          <a:p>
            <a:pPr algn="just"/>
            <a:endParaRPr lang="en-IN" dirty="0" smtClean="0">
              <a:latin typeface="Times New Roman" pitchFamily="18" charset="0"/>
              <a:cs typeface="Times New Roman" pitchFamily="18" charset="0"/>
            </a:endParaRPr>
          </a:p>
          <a:p>
            <a:pPr algn="just"/>
            <a:r>
              <a:rPr lang="en-IN" dirty="0" smtClean="0">
                <a:latin typeface="Times New Roman" pitchFamily="18" charset="0"/>
                <a:cs typeface="Times New Roman" pitchFamily="18" charset="0"/>
              </a:rPr>
              <a:t>Vocabulary = {I, love, NLP, AI, study}</a:t>
            </a:r>
          </a:p>
          <a:p>
            <a:pPr algn="just"/>
            <a:endParaRPr lang="en-IN" dirty="0" smtClean="0">
              <a:latin typeface="Times New Roman" pitchFamily="18" charset="0"/>
              <a:cs typeface="Times New Roman" pitchFamily="18" charset="0"/>
            </a:endParaRPr>
          </a:p>
          <a:p>
            <a:pPr algn="just"/>
            <a:r>
              <a:rPr lang="en-IN" dirty="0" smtClean="0">
                <a:latin typeface="Times New Roman" pitchFamily="18" charset="0"/>
                <a:cs typeface="Times New Roman" pitchFamily="18" charset="0"/>
              </a:rPr>
              <a:t>We will compute unigram and bigram probabilities from this corpus.</a:t>
            </a:r>
          </a:p>
          <a:p>
            <a:pPr algn="just"/>
            <a:endParaRPr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FF0000"/>
                </a:solidFill>
              </a:rPr>
              <a:t>Unigram Frequency Distribution</a:t>
            </a:r>
          </a:p>
        </p:txBody>
      </p:sp>
      <p:pic>
        <p:nvPicPr>
          <p:cNvPr id="3" name="Picture 2" descr="unigram_counts.png"/>
          <p:cNvPicPr>
            <a:picLocks noChangeAspect="1"/>
          </p:cNvPicPr>
          <p:nvPr/>
        </p:nvPicPr>
        <p:blipFill>
          <a:blip r:embed="rId2"/>
          <a:stretch>
            <a:fillRect/>
          </a:stretch>
        </p:blipFill>
        <p:spPr>
          <a:xfrm>
            <a:off x="4227226" y="2166078"/>
            <a:ext cx="4916774" cy="3657600"/>
          </a:xfrm>
          <a:prstGeom prst="rect">
            <a:avLst/>
          </a:prstGeom>
        </p:spPr>
      </p:pic>
      <p:graphicFrame>
        <p:nvGraphicFramePr>
          <p:cNvPr id="10" name="Table 9"/>
          <p:cNvGraphicFramePr>
            <a:graphicFrameLocks noGrp="1"/>
          </p:cNvGraphicFramePr>
          <p:nvPr/>
        </p:nvGraphicFramePr>
        <p:xfrm>
          <a:off x="1071796" y="1693881"/>
          <a:ext cx="2703226" cy="3822498"/>
        </p:xfrm>
        <a:graphic>
          <a:graphicData uri="http://schemas.openxmlformats.org/drawingml/2006/table">
            <a:tbl>
              <a:tblPr firstRow="1" bandRow="1">
                <a:tableStyleId>{6E25E649-3F16-4E02-A733-19D2CDBF48F0}</a:tableStyleId>
              </a:tblPr>
              <a:tblGrid>
                <a:gridCol w="1351613"/>
                <a:gridCol w="1351613"/>
              </a:tblGrid>
              <a:tr h="637083">
                <a:tc>
                  <a:txBody>
                    <a:bodyPr/>
                    <a:lstStyle/>
                    <a:p>
                      <a:pPr algn="ctr"/>
                      <a:r>
                        <a:rPr lang="en-IN" dirty="0" smtClean="0"/>
                        <a:t>Word</a:t>
                      </a:r>
                      <a:endParaRPr lang="en-IN" dirty="0"/>
                    </a:p>
                  </a:txBody>
                  <a:tcPr/>
                </a:tc>
                <a:tc>
                  <a:txBody>
                    <a:bodyPr/>
                    <a:lstStyle/>
                    <a:p>
                      <a:pPr algn="ctr"/>
                      <a:r>
                        <a:rPr lang="en-IN" dirty="0" smtClean="0"/>
                        <a:t>Count</a:t>
                      </a:r>
                      <a:endParaRPr lang="en-IN" dirty="0"/>
                    </a:p>
                  </a:txBody>
                  <a:tcPr/>
                </a:tc>
              </a:tr>
              <a:tr h="637083">
                <a:tc>
                  <a:txBody>
                    <a:bodyPr/>
                    <a:lstStyle/>
                    <a:p>
                      <a:pPr algn="ctr"/>
                      <a:r>
                        <a:rPr lang="en-IN" dirty="0" smtClean="0"/>
                        <a:t>I</a:t>
                      </a:r>
                      <a:endParaRPr lang="en-IN" dirty="0"/>
                    </a:p>
                  </a:txBody>
                  <a:tcPr/>
                </a:tc>
                <a:tc>
                  <a:txBody>
                    <a:bodyPr/>
                    <a:lstStyle/>
                    <a:p>
                      <a:pPr algn="ctr"/>
                      <a:r>
                        <a:rPr lang="en-IN" dirty="0" smtClean="0"/>
                        <a:t>3</a:t>
                      </a:r>
                      <a:endParaRPr lang="en-IN" dirty="0"/>
                    </a:p>
                  </a:txBody>
                  <a:tcPr/>
                </a:tc>
              </a:tr>
              <a:tr h="637083">
                <a:tc>
                  <a:txBody>
                    <a:bodyPr/>
                    <a:lstStyle/>
                    <a:p>
                      <a:pPr algn="ctr"/>
                      <a:r>
                        <a:rPr lang="en-IN" dirty="0" smtClean="0"/>
                        <a:t>Love</a:t>
                      </a:r>
                      <a:endParaRPr lang="en-IN" dirty="0"/>
                    </a:p>
                  </a:txBody>
                  <a:tcPr/>
                </a:tc>
                <a:tc>
                  <a:txBody>
                    <a:bodyPr/>
                    <a:lstStyle/>
                    <a:p>
                      <a:pPr algn="ctr"/>
                      <a:r>
                        <a:rPr lang="en-IN" dirty="0" smtClean="0"/>
                        <a:t>2</a:t>
                      </a:r>
                      <a:endParaRPr lang="en-IN" dirty="0"/>
                    </a:p>
                  </a:txBody>
                  <a:tcPr/>
                </a:tc>
              </a:tr>
              <a:tr h="637083">
                <a:tc>
                  <a:txBody>
                    <a:bodyPr/>
                    <a:lstStyle/>
                    <a:p>
                      <a:pPr algn="ctr"/>
                      <a:r>
                        <a:rPr lang="en-IN" dirty="0" smtClean="0"/>
                        <a:t>NLP</a:t>
                      </a:r>
                      <a:endParaRPr lang="en-IN" dirty="0"/>
                    </a:p>
                  </a:txBody>
                  <a:tcPr/>
                </a:tc>
                <a:tc>
                  <a:txBody>
                    <a:bodyPr/>
                    <a:lstStyle/>
                    <a:p>
                      <a:pPr algn="ctr"/>
                      <a:r>
                        <a:rPr lang="en-IN" dirty="0" smtClean="0"/>
                        <a:t>2</a:t>
                      </a:r>
                      <a:endParaRPr lang="en-IN" dirty="0"/>
                    </a:p>
                  </a:txBody>
                  <a:tcPr/>
                </a:tc>
              </a:tr>
              <a:tr h="637083">
                <a:tc>
                  <a:txBody>
                    <a:bodyPr/>
                    <a:lstStyle/>
                    <a:p>
                      <a:pPr algn="ctr"/>
                      <a:r>
                        <a:rPr lang="en-IN" dirty="0" smtClean="0"/>
                        <a:t>AI</a:t>
                      </a:r>
                      <a:endParaRPr lang="en-IN" dirty="0"/>
                    </a:p>
                  </a:txBody>
                  <a:tcPr/>
                </a:tc>
                <a:tc>
                  <a:txBody>
                    <a:bodyPr/>
                    <a:lstStyle/>
                    <a:p>
                      <a:pPr algn="ctr"/>
                      <a:r>
                        <a:rPr lang="en-IN" dirty="0" smtClean="0"/>
                        <a:t>1</a:t>
                      </a:r>
                      <a:endParaRPr lang="en-IN" dirty="0"/>
                    </a:p>
                  </a:txBody>
                  <a:tcPr/>
                </a:tc>
              </a:tr>
              <a:tr h="637083">
                <a:tc>
                  <a:txBody>
                    <a:bodyPr/>
                    <a:lstStyle/>
                    <a:p>
                      <a:pPr algn="ctr"/>
                      <a:r>
                        <a:rPr lang="en-IN" dirty="0" smtClean="0"/>
                        <a:t>study</a:t>
                      </a:r>
                      <a:endParaRPr lang="en-IN" dirty="0"/>
                    </a:p>
                  </a:txBody>
                  <a:tcPr/>
                </a:tc>
                <a:tc>
                  <a:txBody>
                    <a:bodyPr/>
                    <a:lstStyle/>
                    <a:p>
                      <a:pPr algn="ctr"/>
                      <a:r>
                        <a:rPr lang="en-IN" dirty="0" smtClean="0"/>
                        <a:t>1</a:t>
                      </a:r>
                      <a:endParaRPr lang="en-IN" dirty="0"/>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Unigram Probability Example</a:t>
            </a:r>
          </a:p>
        </p:txBody>
      </p:sp>
      <p:sp>
        <p:nvSpPr>
          <p:cNvPr id="3" name="Content Placeholder 2"/>
          <p:cNvSpPr>
            <a:spLocks noGrp="1"/>
          </p:cNvSpPr>
          <p:nvPr>
            <p:ph idx="1"/>
          </p:nvPr>
        </p:nvSpPr>
        <p:spPr/>
        <p:txBody>
          <a:bodyPr>
            <a:normAutofit fontScale="92500" lnSpcReduction="20000"/>
          </a:bodyPr>
          <a:lstStyle/>
          <a:p>
            <a:pPr>
              <a:buNone/>
            </a:pPr>
            <a:r>
              <a:rPr lang="en-IN" b="1" dirty="0" smtClean="0"/>
              <a:t>Corpus: </a:t>
            </a:r>
            <a:r>
              <a:rPr lang="en-IN" i="1" dirty="0" smtClean="0"/>
              <a:t>“I love NLP. I love AI. I study NLP.”</a:t>
            </a:r>
            <a:endParaRPr lang="en-IN" dirty="0" smtClean="0"/>
          </a:p>
          <a:p>
            <a:pPr>
              <a:buNone/>
            </a:pPr>
            <a:endParaRPr lang="en-IN" dirty="0" smtClean="0"/>
          </a:p>
          <a:p>
            <a:pPr>
              <a:buNone/>
            </a:pPr>
            <a:r>
              <a:rPr lang="en-IN" dirty="0" smtClean="0"/>
              <a:t>Total tokens = 3+2+2+1+1=9</a:t>
            </a:r>
          </a:p>
          <a:p>
            <a:pPr indent="1095375" algn="just">
              <a:buNone/>
            </a:pPr>
            <a:endParaRPr lang="en-IN" dirty="0" smtClean="0"/>
          </a:p>
          <a:p>
            <a:pPr indent="1095375" algn="just">
              <a:buNone/>
            </a:pPr>
            <a:r>
              <a:rPr lang="en-IN" dirty="0" smtClean="0"/>
              <a:t>P(I)=3/9=0.33</a:t>
            </a:r>
          </a:p>
          <a:p>
            <a:pPr indent="1095375" algn="just">
              <a:buNone/>
            </a:pPr>
            <a:r>
              <a:rPr lang="en-IN" dirty="0" smtClean="0"/>
              <a:t>P(love)=2/9≈0.22</a:t>
            </a:r>
          </a:p>
          <a:p>
            <a:pPr indent="1095375" algn="just">
              <a:buNone/>
            </a:pPr>
            <a:r>
              <a:rPr lang="en-IN" dirty="0" smtClean="0"/>
              <a:t>P(NLP)=2/9≈0.22</a:t>
            </a:r>
          </a:p>
          <a:p>
            <a:pPr indent="1095375" algn="just">
              <a:buNone/>
            </a:pPr>
            <a:r>
              <a:rPr lang="en-IN" dirty="0" smtClean="0"/>
              <a:t>P(AI)=1/9≈0.11</a:t>
            </a:r>
          </a:p>
          <a:p>
            <a:pPr indent="1095375" algn="just">
              <a:buNone/>
            </a:pPr>
            <a:r>
              <a:rPr lang="en-IN" dirty="0" smtClean="0"/>
              <a:t>P(study)=1/9≈0.11</a:t>
            </a:r>
          </a:p>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49624"/>
          </a:xfrm>
        </p:spPr>
        <p:txBody>
          <a:bodyPr/>
          <a:lstStyle/>
          <a:p>
            <a:r>
              <a:rPr smtClean="0"/>
              <a:t>Bigram </a:t>
            </a:r>
            <a:r>
              <a:t>Counts Visualization</a:t>
            </a:r>
          </a:p>
        </p:txBody>
      </p:sp>
      <p:pic>
        <p:nvPicPr>
          <p:cNvPr id="3" name="Picture 2" descr="bigram_counts.png"/>
          <p:cNvPicPr>
            <a:picLocks noChangeAspect="1"/>
          </p:cNvPicPr>
          <p:nvPr/>
        </p:nvPicPr>
        <p:blipFill>
          <a:blip r:embed="rId2"/>
          <a:stretch>
            <a:fillRect/>
          </a:stretch>
        </p:blipFill>
        <p:spPr>
          <a:xfrm>
            <a:off x="3657600" y="2047218"/>
            <a:ext cx="5486400" cy="3657600"/>
          </a:xfrm>
          <a:prstGeom prst="rect">
            <a:avLst/>
          </a:prstGeom>
        </p:spPr>
      </p:pic>
      <p:graphicFrame>
        <p:nvGraphicFramePr>
          <p:cNvPr id="4" name="Table 3"/>
          <p:cNvGraphicFramePr>
            <a:graphicFrameLocks noGrp="1"/>
          </p:cNvGraphicFramePr>
          <p:nvPr/>
        </p:nvGraphicFramePr>
        <p:xfrm>
          <a:off x="924393" y="2653251"/>
          <a:ext cx="2373444" cy="2893104"/>
        </p:xfrm>
        <a:graphic>
          <a:graphicData uri="http://schemas.openxmlformats.org/drawingml/2006/table">
            <a:tbl>
              <a:tblPr firstRow="1" bandRow="1">
                <a:tableStyleId>{6E25E649-3F16-4E02-A733-19D2CDBF48F0}</a:tableStyleId>
              </a:tblPr>
              <a:tblGrid>
                <a:gridCol w="1186722"/>
                <a:gridCol w="1186722"/>
              </a:tblGrid>
              <a:tr h="482184">
                <a:tc>
                  <a:txBody>
                    <a:bodyPr/>
                    <a:lstStyle/>
                    <a:p>
                      <a:pPr algn="ctr"/>
                      <a:r>
                        <a:rPr lang="en-IN" dirty="0" smtClean="0"/>
                        <a:t>Bigram</a:t>
                      </a:r>
                      <a:endParaRPr lang="en-IN" dirty="0"/>
                    </a:p>
                  </a:txBody>
                  <a:tcPr/>
                </a:tc>
                <a:tc>
                  <a:txBody>
                    <a:bodyPr/>
                    <a:lstStyle/>
                    <a:p>
                      <a:pPr algn="ctr"/>
                      <a:r>
                        <a:rPr lang="en-IN" dirty="0" smtClean="0"/>
                        <a:t>Count</a:t>
                      </a:r>
                      <a:endParaRPr lang="en-IN" dirty="0"/>
                    </a:p>
                  </a:txBody>
                  <a:tcPr/>
                </a:tc>
              </a:tr>
              <a:tr h="482184">
                <a:tc>
                  <a:txBody>
                    <a:bodyPr/>
                    <a:lstStyle/>
                    <a:p>
                      <a:pPr algn="ctr"/>
                      <a:r>
                        <a:rPr lang="en-IN" dirty="0" smtClean="0"/>
                        <a:t>I Love</a:t>
                      </a:r>
                      <a:endParaRPr lang="en-IN" dirty="0"/>
                    </a:p>
                  </a:txBody>
                  <a:tcPr/>
                </a:tc>
                <a:tc>
                  <a:txBody>
                    <a:bodyPr/>
                    <a:lstStyle/>
                    <a:p>
                      <a:pPr algn="ctr"/>
                      <a:r>
                        <a:rPr lang="en-IN" dirty="0" smtClean="0"/>
                        <a:t>2</a:t>
                      </a:r>
                      <a:endParaRPr lang="en-IN" dirty="0"/>
                    </a:p>
                  </a:txBody>
                  <a:tcPr/>
                </a:tc>
              </a:tr>
              <a:tr h="482184">
                <a:tc>
                  <a:txBody>
                    <a:bodyPr/>
                    <a:lstStyle/>
                    <a:p>
                      <a:pPr algn="ctr"/>
                      <a:r>
                        <a:rPr lang="en-IN" dirty="0" smtClean="0"/>
                        <a:t>Love</a:t>
                      </a:r>
                      <a:r>
                        <a:rPr lang="en-IN" baseline="0" dirty="0" smtClean="0"/>
                        <a:t> NLP</a:t>
                      </a:r>
                      <a:endParaRPr lang="en-IN" dirty="0"/>
                    </a:p>
                  </a:txBody>
                  <a:tcPr/>
                </a:tc>
                <a:tc>
                  <a:txBody>
                    <a:bodyPr/>
                    <a:lstStyle/>
                    <a:p>
                      <a:pPr algn="ctr"/>
                      <a:r>
                        <a:rPr lang="en-IN" dirty="0" smtClean="0"/>
                        <a:t>1</a:t>
                      </a:r>
                      <a:endParaRPr lang="en-IN" dirty="0"/>
                    </a:p>
                  </a:txBody>
                  <a:tcPr/>
                </a:tc>
              </a:tr>
              <a:tr h="482184">
                <a:tc>
                  <a:txBody>
                    <a:bodyPr/>
                    <a:lstStyle/>
                    <a:p>
                      <a:pPr algn="ctr"/>
                      <a:r>
                        <a:rPr lang="en-IN" dirty="0" smtClean="0"/>
                        <a:t>Love AI</a:t>
                      </a:r>
                      <a:endParaRPr lang="en-IN" dirty="0"/>
                    </a:p>
                  </a:txBody>
                  <a:tcPr/>
                </a:tc>
                <a:tc>
                  <a:txBody>
                    <a:bodyPr/>
                    <a:lstStyle/>
                    <a:p>
                      <a:pPr algn="ctr"/>
                      <a:r>
                        <a:rPr lang="en-IN" dirty="0" smtClean="0"/>
                        <a:t>1</a:t>
                      </a:r>
                      <a:endParaRPr lang="en-IN" dirty="0"/>
                    </a:p>
                  </a:txBody>
                  <a:tcPr/>
                </a:tc>
              </a:tr>
              <a:tr h="482184">
                <a:tc>
                  <a:txBody>
                    <a:bodyPr/>
                    <a:lstStyle/>
                    <a:p>
                      <a:pPr algn="ctr"/>
                      <a:r>
                        <a:rPr lang="en-IN" dirty="0" smtClean="0"/>
                        <a:t>I study</a:t>
                      </a:r>
                      <a:endParaRPr lang="en-IN" dirty="0"/>
                    </a:p>
                  </a:txBody>
                  <a:tcPr/>
                </a:tc>
                <a:tc>
                  <a:txBody>
                    <a:bodyPr/>
                    <a:lstStyle/>
                    <a:p>
                      <a:pPr algn="ctr"/>
                      <a:r>
                        <a:rPr lang="en-IN" dirty="0" smtClean="0"/>
                        <a:t>1</a:t>
                      </a:r>
                      <a:endParaRPr lang="en-IN" dirty="0"/>
                    </a:p>
                  </a:txBody>
                  <a:tcPr/>
                </a:tc>
              </a:tr>
              <a:tr h="482184">
                <a:tc>
                  <a:txBody>
                    <a:bodyPr/>
                    <a:lstStyle/>
                    <a:p>
                      <a:pPr algn="ctr"/>
                      <a:r>
                        <a:rPr lang="en-IN" dirty="0" smtClean="0"/>
                        <a:t>Study NLP</a:t>
                      </a:r>
                      <a:endParaRPr lang="en-IN" dirty="0"/>
                    </a:p>
                  </a:txBody>
                  <a:tcPr/>
                </a:tc>
                <a:tc>
                  <a:txBody>
                    <a:bodyPr/>
                    <a:lstStyle/>
                    <a:p>
                      <a:pPr algn="ctr"/>
                      <a:r>
                        <a:rPr lang="en-IN" dirty="0" smtClean="0"/>
                        <a:t>1</a:t>
                      </a:r>
                      <a:endParaRPr lang="en-IN" dirty="0"/>
                    </a:p>
                  </a:txBody>
                  <a:tcPr/>
                </a:tc>
              </a:tr>
            </a:tbl>
          </a:graphicData>
        </a:graphic>
      </p:graphicFrame>
      <p:sp>
        <p:nvSpPr>
          <p:cNvPr id="5" name="Rectangle 4"/>
          <p:cNvSpPr/>
          <p:nvPr/>
        </p:nvSpPr>
        <p:spPr>
          <a:xfrm>
            <a:off x="924392" y="1355094"/>
            <a:ext cx="6795542" cy="523220"/>
          </a:xfrm>
          <a:prstGeom prst="rect">
            <a:avLst/>
          </a:prstGeom>
        </p:spPr>
        <p:txBody>
          <a:bodyPr wrap="square">
            <a:spAutoFit/>
          </a:bodyPr>
          <a:lstStyle/>
          <a:p>
            <a:pPr>
              <a:buNone/>
            </a:pPr>
            <a:r>
              <a:rPr lang="en-IN" sz="2800" b="1" dirty="0" smtClean="0"/>
              <a:t>Corpus: </a:t>
            </a:r>
            <a:r>
              <a:rPr lang="en-IN" sz="2800" i="1" dirty="0" smtClean="0"/>
              <a:t>“I love NLP. I love AI. I study NLP.”</a:t>
            </a:r>
            <a:endParaRPr lang="en-IN" sz="2800"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Bigram Probability Example</a:t>
            </a:r>
            <a:endParaRPr lang="en-IN" dirty="0"/>
          </a:p>
        </p:txBody>
      </p:sp>
      <p:sp>
        <p:nvSpPr>
          <p:cNvPr id="3" name="Content Placeholder 2"/>
          <p:cNvSpPr>
            <a:spLocks noGrp="1"/>
          </p:cNvSpPr>
          <p:nvPr>
            <p:ph idx="1"/>
          </p:nvPr>
        </p:nvSpPr>
        <p:spPr>
          <a:xfrm>
            <a:off x="457200" y="2113612"/>
            <a:ext cx="8229600" cy="4117481"/>
          </a:xfrm>
        </p:spPr>
        <p:txBody>
          <a:bodyPr>
            <a:normAutofit fontScale="92500" lnSpcReduction="10000"/>
          </a:bodyPr>
          <a:lstStyle/>
          <a:p>
            <a:pPr algn="just"/>
            <a:r>
              <a:rPr lang="en-IN" dirty="0" smtClean="0"/>
              <a:t>Count("I love") = 2; Count("I study") = 1; </a:t>
            </a:r>
          </a:p>
          <a:p>
            <a:pPr algn="just">
              <a:buNone/>
            </a:pPr>
            <a:r>
              <a:rPr lang="en-IN" dirty="0" smtClean="0"/>
              <a:t>	total bigrams starting with "I" = 3.</a:t>
            </a:r>
          </a:p>
          <a:p>
            <a:pPr algn="just">
              <a:buNone/>
            </a:pPr>
            <a:endParaRPr lang="en-IN" dirty="0" smtClean="0"/>
          </a:p>
          <a:p>
            <a:pPr algn="just"/>
            <a:r>
              <a:rPr lang="en-IN" dirty="0" smtClean="0"/>
              <a:t>P(</a:t>
            </a:r>
            <a:r>
              <a:rPr lang="en-IN" dirty="0" err="1" smtClean="0"/>
              <a:t>love∣I</a:t>
            </a:r>
            <a:r>
              <a:rPr lang="en-IN" dirty="0" smtClean="0"/>
              <a:t>)=2/3≈0.67</a:t>
            </a:r>
          </a:p>
          <a:p>
            <a:pPr algn="just"/>
            <a:endParaRPr lang="en-IN" dirty="0" smtClean="0"/>
          </a:p>
          <a:p>
            <a:pPr algn="just"/>
            <a:r>
              <a:rPr lang="en-IN" dirty="0" smtClean="0"/>
              <a:t>P(</a:t>
            </a:r>
            <a:r>
              <a:rPr lang="en-IN" dirty="0" err="1" smtClean="0"/>
              <a:t>study∣I</a:t>
            </a:r>
            <a:r>
              <a:rPr lang="en-IN" dirty="0" smtClean="0"/>
              <a:t>)=1/3≈0.33</a:t>
            </a:r>
          </a:p>
          <a:p>
            <a:pPr algn="just"/>
            <a:endParaRPr lang="en-IN" dirty="0" smtClean="0"/>
          </a:p>
          <a:p>
            <a:pPr algn="just"/>
            <a:r>
              <a:rPr lang="en-IN" dirty="0" smtClean="0"/>
              <a:t>P(AI∣I)=0</a:t>
            </a:r>
          </a:p>
          <a:p>
            <a:endParaRPr lang="en-IN" dirty="0"/>
          </a:p>
        </p:txBody>
      </p:sp>
      <p:sp>
        <p:nvSpPr>
          <p:cNvPr id="4" name="Rectangle 3"/>
          <p:cNvSpPr/>
          <p:nvPr/>
        </p:nvSpPr>
        <p:spPr>
          <a:xfrm>
            <a:off x="1022710" y="1417637"/>
            <a:ext cx="6199711" cy="523220"/>
          </a:xfrm>
          <a:prstGeom prst="rect">
            <a:avLst/>
          </a:prstGeom>
        </p:spPr>
        <p:txBody>
          <a:bodyPr wrap="none">
            <a:spAutoFit/>
          </a:bodyPr>
          <a:lstStyle/>
          <a:p>
            <a:pPr>
              <a:buNone/>
            </a:pPr>
            <a:r>
              <a:rPr lang="en-IN" sz="2800" b="1" dirty="0" smtClean="0"/>
              <a:t>Corpus: </a:t>
            </a:r>
            <a:r>
              <a:rPr lang="en-IN" sz="2800" i="1" dirty="0" smtClean="0"/>
              <a:t>“I love NLP. I love AI. I study NLP.”</a:t>
            </a:r>
            <a:endParaRPr lang="en-IN" sz="2800"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34634"/>
          </a:xfrm>
        </p:spPr>
        <p:txBody>
          <a:bodyPr/>
          <a:lstStyle/>
          <a:p>
            <a:r>
              <a:rPr lang="en-IN" b="1" dirty="0" smtClean="0">
                <a:solidFill>
                  <a:srgbClr val="FF0000"/>
                </a:solidFill>
              </a:rPr>
              <a:t>Zero-Probability Problem</a:t>
            </a:r>
            <a:endParaRPr lang="en-IN" b="1" dirty="0">
              <a:solidFill>
                <a:srgbClr val="FF0000"/>
              </a:solidFill>
            </a:endParaRPr>
          </a:p>
        </p:txBody>
      </p:sp>
      <p:sp>
        <p:nvSpPr>
          <p:cNvPr id="3" name="Content Placeholder 2"/>
          <p:cNvSpPr>
            <a:spLocks noGrp="1"/>
          </p:cNvSpPr>
          <p:nvPr>
            <p:ph idx="1"/>
          </p:nvPr>
        </p:nvSpPr>
        <p:spPr>
          <a:xfrm>
            <a:off x="457200" y="1600200"/>
            <a:ext cx="8229600" cy="4066081"/>
          </a:xfrm>
        </p:spPr>
        <p:txBody>
          <a:bodyPr/>
          <a:lstStyle/>
          <a:p>
            <a:pPr algn="just"/>
            <a:r>
              <a:rPr lang="en-IN" dirty="0" smtClean="0">
                <a:latin typeface="Times New Roman" pitchFamily="18" charset="0"/>
                <a:cs typeface="Times New Roman" pitchFamily="18" charset="0"/>
              </a:rPr>
              <a:t>If a bigram never appears in the training corpus → probability = 0.</a:t>
            </a:r>
          </a:p>
          <a:p>
            <a:pPr algn="just"/>
            <a:r>
              <a:rPr lang="en-IN" dirty="0" smtClean="0">
                <a:latin typeface="Times New Roman" pitchFamily="18" charset="0"/>
                <a:cs typeface="Times New Roman" pitchFamily="18" charset="0"/>
              </a:rPr>
              <a:t>Example: P(AI∣I)=0 → makes entire sentence probability zero.</a:t>
            </a:r>
          </a:p>
          <a:p>
            <a:pPr algn="just"/>
            <a:r>
              <a:rPr lang="en-IN" dirty="0" smtClean="0">
                <a:latin typeface="Times New Roman" pitchFamily="18" charset="0"/>
                <a:cs typeface="Times New Roman" pitchFamily="18" charset="0"/>
              </a:rPr>
              <a:t>This motivates </a:t>
            </a:r>
            <a:r>
              <a:rPr lang="en-IN" b="1" dirty="0" smtClean="0">
                <a:latin typeface="Times New Roman" pitchFamily="18" charset="0"/>
                <a:cs typeface="Times New Roman" pitchFamily="18" charset="0"/>
              </a:rPr>
              <a:t>smoothing methods</a:t>
            </a:r>
            <a:r>
              <a:rPr lang="en-IN" dirty="0" smtClean="0">
                <a:latin typeface="Times New Roman" pitchFamily="18" charset="0"/>
                <a:cs typeface="Times New Roman" pitchFamily="18" charset="0"/>
              </a:rPr>
              <a:t> (to handle unseen N-grams).</a:t>
            </a:r>
          </a:p>
          <a:p>
            <a:endParaRPr lang="en-IN"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Evaluating N-grams</a:t>
            </a:r>
            <a:endParaRPr lang="en-IN" dirty="0"/>
          </a:p>
        </p:txBody>
      </p:sp>
      <p:sp>
        <p:nvSpPr>
          <p:cNvPr id="3" name="Content Placeholder 2"/>
          <p:cNvSpPr>
            <a:spLocks noGrp="1"/>
          </p:cNvSpPr>
          <p:nvPr>
            <p:ph idx="1"/>
          </p:nvPr>
        </p:nvSpPr>
        <p:spPr/>
        <p:txBody>
          <a:bodyPr>
            <a:normAutofit lnSpcReduction="10000"/>
          </a:bodyPr>
          <a:lstStyle/>
          <a:p>
            <a:pPr algn="just"/>
            <a:r>
              <a:rPr lang="en-IN" dirty="0" smtClean="0"/>
              <a:t>Why Evaluate N-grams?</a:t>
            </a:r>
          </a:p>
          <a:p>
            <a:pPr algn="just"/>
            <a:endParaRPr lang="en-IN" dirty="0" smtClean="0"/>
          </a:p>
          <a:p>
            <a:pPr lvl="1" algn="just"/>
            <a:r>
              <a:rPr lang="en-IN" dirty="0" smtClean="0"/>
              <a:t>We need to know how well an N-gram model predicts unseen sentences.</a:t>
            </a:r>
          </a:p>
          <a:p>
            <a:pPr lvl="1" algn="just"/>
            <a:endParaRPr lang="en-IN" dirty="0" smtClean="0"/>
          </a:p>
          <a:p>
            <a:pPr lvl="1" algn="just"/>
            <a:r>
              <a:rPr lang="en-IN" dirty="0" smtClean="0"/>
              <a:t>Evaluation helps compare models (e.g., unigram vs. bigram).</a:t>
            </a:r>
          </a:p>
          <a:p>
            <a:pPr lvl="1" algn="just"/>
            <a:endParaRPr lang="en-IN" dirty="0" smtClean="0"/>
          </a:p>
          <a:p>
            <a:pPr lvl="1" algn="just"/>
            <a:r>
              <a:rPr lang="en-IN" dirty="0" smtClean="0"/>
              <a:t>Main metrics: </a:t>
            </a:r>
            <a:r>
              <a:rPr lang="en-IN" b="1" dirty="0" smtClean="0"/>
              <a:t>Cross-Entropy</a:t>
            </a:r>
            <a:r>
              <a:rPr lang="en-IN" dirty="0" smtClean="0"/>
              <a:t> and </a:t>
            </a:r>
            <a:r>
              <a:rPr lang="en-IN" b="1" dirty="0" smtClean="0"/>
              <a:t>Perplexity</a:t>
            </a:r>
            <a:r>
              <a:rPr lang="en-IN" dirty="0" smtClean="0"/>
              <a:t>.</a:t>
            </a:r>
          </a:p>
          <a:p>
            <a:pPr lvl="1" algn="just"/>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44693"/>
          </a:xfrm>
        </p:spPr>
        <p:txBody>
          <a:bodyPr>
            <a:normAutofit fontScale="90000"/>
          </a:bodyPr>
          <a:lstStyle/>
          <a:p>
            <a:r>
              <a:rPr lang="en-IN" dirty="0" smtClean="0"/>
              <a:t>Cross-Entropy Definition</a:t>
            </a:r>
            <a:endParaRPr lang="en-IN" dirty="0"/>
          </a:p>
        </p:txBody>
      </p:sp>
      <p:sp>
        <p:nvSpPr>
          <p:cNvPr id="3" name="Content Placeholder 2"/>
          <p:cNvSpPr>
            <a:spLocks noGrp="1"/>
          </p:cNvSpPr>
          <p:nvPr>
            <p:ph idx="1"/>
          </p:nvPr>
        </p:nvSpPr>
        <p:spPr>
          <a:xfrm>
            <a:off x="457200" y="1019332"/>
            <a:ext cx="8229600" cy="5106832"/>
          </a:xfrm>
        </p:spPr>
        <p:txBody>
          <a:bodyPr/>
          <a:lstStyle/>
          <a:p>
            <a:pPr algn="just"/>
            <a:r>
              <a:rPr lang="en-IN" dirty="0" smtClean="0"/>
              <a:t>In </a:t>
            </a:r>
            <a:r>
              <a:rPr lang="en-IN" b="1" dirty="0" smtClean="0"/>
              <a:t>Natural Language Processing (NLP)</a:t>
            </a:r>
            <a:r>
              <a:rPr lang="en-IN" dirty="0" smtClean="0"/>
              <a:t>, cross-entropy is a measure of how well a probabilistic model predicts a sample of data (typically sequences of words).</a:t>
            </a:r>
          </a:p>
          <a:p>
            <a:pPr algn="just"/>
            <a:r>
              <a:rPr lang="en-IN" dirty="0" smtClean="0"/>
              <a:t>Cross-Entropy measures the average uncertainty of predictions:</a:t>
            </a:r>
          </a:p>
          <a:p>
            <a:pPr>
              <a:buNone/>
            </a:pPr>
            <a:r>
              <a:rPr lang="en-IN" dirty="0" smtClean="0"/>
              <a:t>			</a:t>
            </a:r>
            <a:endParaRPr lang="en-IN" dirty="0"/>
          </a:p>
        </p:txBody>
      </p:sp>
      <p:pic>
        <p:nvPicPr>
          <p:cNvPr id="34818" name="Picture 2"/>
          <p:cNvPicPr>
            <a:picLocks noChangeAspect="1" noChangeArrowheads="1"/>
          </p:cNvPicPr>
          <p:nvPr/>
        </p:nvPicPr>
        <p:blipFill>
          <a:blip r:embed="rId2"/>
          <a:srcRect/>
          <a:stretch>
            <a:fillRect/>
          </a:stretch>
        </p:blipFill>
        <p:spPr bwMode="auto">
          <a:xfrm>
            <a:off x="2181459" y="4355949"/>
            <a:ext cx="5088770" cy="1297945"/>
          </a:xfrm>
          <a:prstGeom prst="rect">
            <a:avLst/>
          </a:prstGeom>
          <a:noFill/>
          <a:ln w="9525">
            <a:noFill/>
            <a:miter lim="800000"/>
            <a:headEnd/>
            <a:tailEnd/>
          </a:ln>
          <a:effectLst/>
        </p:spPr>
      </p:pic>
      <p:sp>
        <p:nvSpPr>
          <p:cNvPr id="5" name="Rectangle 4"/>
          <p:cNvSpPr/>
          <p:nvPr/>
        </p:nvSpPr>
        <p:spPr>
          <a:xfrm>
            <a:off x="952418" y="5833776"/>
            <a:ext cx="5515677" cy="584775"/>
          </a:xfrm>
          <a:prstGeom prst="rect">
            <a:avLst/>
          </a:prstGeom>
        </p:spPr>
        <p:txBody>
          <a:bodyPr wrap="none">
            <a:spAutoFit/>
          </a:bodyPr>
          <a:lstStyle/>
          <a:p>
            <a:r>
              <a:rPr lang="en-IN" sz="3200" dirty="0" smtClean="0"/>
              <a:t>Lower H(p) → better prediction.</a:t>
            </a:r>
            <a:endParaRPr lang="en-IN"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Cross-Entropy Example</a:t>
            </a:r>
            <a:endParaRPr lang="en-IN" dirty="0"/>
          </a:p>
        </p:txBody>
      </p:sp>
      <p:sp>
        <p:nvSpPr>
          <p:cNvPr id="3" name="Content Placeholder 2"/>
          <p:cNvSpPr>
            <a:spLocks noGrp="1"/>
          </p:cNvSpPr>
          <p:nvPr>
            <p:ph idx="1"/>
          </p:nvPr>
        </p:nvSpPr>
        <p:spPr/>
        <p:txBody>
          <a:bodyPr>
            <a:normAutofit/>
          </a:bodyPr>
          <a:lstStyle/>
          <a:p>
            <a:r>
              <a:rPr lang="en-IN" dirty="0" smtClean="0"/>
              <a:t>Test Words: ["the", "cat", "sat", "on", "the", "mat"]</a:t>
            </a:r>
            <a:r>
              <a:rPr lang="en-IN" i="1" dirty="0" smtClean="0"/>
              <a:t>”</a:t>
            </a:r>
          </a:p>
          <a:p>
            <a:r>
              <a:rPr lang="it-IT" dirty="0" smtClean="0"/>
              <a:t>Probabilities: [0.3, 0.2, 0.1, 0.1, 0.3, 0.3]</a:t>
            </a:r>
            <a:endParaRPr lang="en-IN" dirty="0" smtClean="0"/>
          </a:p>
          <a:p>
            <a:pPr>
              <a:buNone/>
            </a:pPr>
            <a:endParaRPr lang="en-IN" dirty="0" smtClean="0"/>
          </a:p>
        </p:txBody>
      </p:sp>
      <p:pic>
        <p:nvPicPr>
          <p:cNvPr id="1026" name="Picture 2"/>
          <p:cNvPicPr>
            <a:picLocks noChangeAspect="1" noChangeArrowheads="1"/>
          </p:cNvPicPr>
          <p:nvPr/>
        </p:nvPicPr>
        <p:blipFill>
          <a:blip r:embed="rId2"/>
          <a:srcRect/>
          <a:stretch>
            <a:fillRect/>
          </a:stretch>
        </p:blipFill>
        <p:spPr bwMode="auto">
          <a:xfrm>
            <a:off x="956794" y="3398354"/>
            <a:ext cx="7467678" cy="948794"/>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1196637" y="4587734"/>
            <a:ext cx="2904324" cy="1538429"/>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773165" y="1230363"/>
            <a:ext cx="7086870" cy="1368321"/>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What is Perplexity?</a:t>
            </a:r>
            <a:endParaRPr lang="en-IN" dirty="0">
              <a:solidFill>
                <a:srgbClr val="FF0000"/>
              </a:solidFill>
            </a:endParaRPr>
          </a:p>
        </p:txBody>
      </p:sp>
      <p:sp>
        <p:nvSpPr>
          <p:cNvPr id="3" name="Content Placeholder 2"/>
          <p:cNvSpPr>
            <a:spLocks noGrp="1"/>
          </p:cNvSpPr>
          <p:nvPr>
            <p:ph idx="1"/>
          </p:nvPr>
        </p:nvSpPr>
        <p:spPr>
          <a:xfrm>
            <a:off x="457200" y="1417638"/>
            <a:ext cx="8229600" cy="4708525"/>
          </a:xfrm>
        </p:spPr>
        <p:txBody>
          <a:bodyPr>
            <a:normAutofit lnSpcReduction="10000"/>
          </a:bodyPr>
          <a:lstStyle/>
          <a:p>
            <a:pPr algn="just"/>
            <a:r>
              <a:rPr lang="en-IN" dirty="0" smtClean="0">
                <a:latin typeface="Times New Roman" pitchFamily="18" charset="0"/>
                <a:cs typeface="Times New Roman" pitchFamily="18" charset="0"/>
              </a:rPr>
              <a:t>Perplexity is the </a:t>
            </a:r>
            <a:r>
              <a:rPr lang="en-IN" b="1" dirty="0" smtClean="0">
                <a:latin typeface="Times New Roman" pitchFamily="18" charset="0"/>
                <a:cs typeface="Times New Roman" pitchFamily="18" charset="0"/>
              </a:rPr>
              <a:t>exponential of the cross-entropy</a:t>
            </a:r>
            <a:r>
              <a:rPr lang="en-IN" dirty="0" smtClean="0">
                <a:latin typeface="Times New Roman" pitchFamily="18" charset="0"/>
                <a:cs typeface="Times New Roman" pitchFamily="18" charset="0"/>
              </a:rPr>
              <a:t>. It represents the </a:t>
            </a:r>
            <a:r>
              <a:rPr lang="en-IN" b="1" dirty="0" smtClean="0">
                <a:latin typeface="Times New Roman" pitchFamily="18" charset="0"/>
                <a:cs typeface="Times New Roman" pitchFamily="18" charset="0"/>
              </a:rPr>
              <a:t>average branching factor</a:t>
            </a:r>
            <a:r>
              <a:rPr lang="en-IN" dirty="0" smtClean="0">
                <a:latin typeface="Times New Roman" pitchFamily="18" charset="0"/>
                <a:cs typeface="Times New Roman" pitchFamily="18" charset="0"/>
              </a:rPr>
              <a:t> — how many likely choices the model considers at each step.</a:t>
            </a:r>
          </a:p>
          <a:p>
            <a:r>
              <a:rPr lang="en-IN" dirty="0" smtClean="0">
                <a:latin typeface="Times New Roman" pitchFamily="18" charset="0"/>
                <a:cs typeface="Times New Roman" pitchFamily="18" charset="0"/>
              </a:rPr>
              <a:t>Perplexity (PP) measures how “confused” the model is:</a:t>
            </a:r>
          </a:p>
          <a:p>
            <a:pPr>
              <a:buNone/>
            </a:pPr>
            <a:r>
              <a:rPr lang="en-IN" dirty="0" smtClean="0">
                <a:latin typeface="Times New Roman" pitchFamily="18" charset="0"/>
                <a:cs typeface="Times New Roman" pitchFamily="18" charset="0"/>
              </a:rPr>
              <a:t> </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Lower PP means better performance.</a:t>
            </a:r>
          </a:p>
          <a:p>
            <a:endParaRPr lang="en-IN" dirty="0">
              <a:latin typeface="Times New Roman" pitchFamily="18" charset="0"/>
              <a:cs typeface="Times New Roman" pitchFamily="18" charset="0"/>
            </a:endParaRPr>
          </a:p>
        </p:txBody>
      </p:sp>
      <p:pic>
        <p:nvPicPr>
          <p:cNvPr id="36867" name="Picture 3"/>
          <p:cNvPicPr>
            <a:picLocks noChangeAspect="1" noChangeArrowheads="1"/>
          </p:cNvPicPr>
          <p:nvPr/>
        </p:nvPicPr>
        <p:blipFill>
          <a:blip r:embed="rId2"/>
          <a:srcRect/>
          <a:stretch>
            <a:fillRect/>
          </a:stretch>
        </p:blipFill>
        <p:spPr bwMode="auto">
          <a:xfrm>
            <a:off x="3426657" y="4188189"/>
            <a:ext cx="1954812" cy="6782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Perplexity Example</a:t>
            </a:r>
            <a:endParaRPr lang="en-IN" dirty="0">
              <a:solidFill>
                <a:srgbClr val="FF0000"/>
              </a:solidFill>
            </a:endParaRPr>
          </a:p>
        </p:txBody>
      </p:sp>
      <p:sp>
        <p:nvSpPr>
          <p:cNvPr id="3" name="Content Placeholder 2"/>
          <p:cNvSpPr>
            <a:spLocks noGrp="1"/>
          </p:cNvSpPr>
          <p:nvPr>
            <p:ph idx="1"/>
          </p:nvPr>
        </p:nvSpPr>
        <p:spPr>
          <a:xfrm>
            <a:off x="457200" y="1600200"/>
            <a:ext cx="8229600" cy="4920521"/>
          </a:xfrm>
        </p:spPr>
        <p:txBody>
          <a:bodyPr>
            <a:normAutofit lnSpcReduction="10000"/>
          </a:bodyPr>
          <a:lstStyle/>
          <a:p>
            <a:r>
              <a:rPr lang="pt-BR" dirty="0" smtClean="0">
                <a:latin typeface="Times New Roman" pitchFamily="18" charset="0"/>
                <a:cs typeface="Times New Roman" pitchFamily="18" charset="0"/>
              </a:rPr>
              <a:t>From previous example: </a:t>
            </a:r>
          </a:p>
          <a:p>
            <a:endParaRPr lang="pt-BR" dirty="0" smtClean="0">
              <a:latin typeface="Times New Roman" pitchFamily="18" charset="0"/>
              <a:cs typeface="Times New Roman" pitchFamily="18" charset="0"/>
            </a:endParaRPr>
          </a:p>
          <a:p>
            <a:pPr>
              <a:buNone/>
            </a:pPr>
            <a:r>
              <a:rPr lang="pt-BR" dirty="0" smtClean="0">
                <a:latin typeface="Times New Roman" pitchFamily="18" charset="0"/>
                <a:cs typeface="Times New Roman" pitchFamily="18" charset="0"/>
              </a:rPr>
              <a:t>		we have H=2.36</a:t>
            </a:r>
          </a:p>
          <a:p>
            <a:endParaRPr lang="pt-BR" dirty="0" smtClean="0">
              <a:latin typeface="Times New Roman" pitchFamily="18" charset="0"/>
              <a:cs typeface="Times New Roman" pitchFamily="18" charset="0"/>
            </a:endParaRPr>
          </a:p>
          <a:p>
            <a:pPr>
              <a:buNone/>
            </a:pPr>
            <a:r>
              <a:rPr lang="pt-BR" dirty="0" smtClean="0">
                <a:latin typeface="Times New Roman" pitchFamily="18" charset="0"/>
                <a:cs typeface="Times New Roman" pitchFamily="18" charset="0"/>
              </a:rPr>
              <a:t>			PP=2^(2.36)≈5.18</a:t>
            </a:r>
          </a:p>
          <a:p>
            <a:pPr>
              <a:buNone/>
            </a:pPr>
            <a:endParaRPr lang="pt-BR" dirty="0" smtClean="0">
              <a:latin typeface="Times New Roman" pitchFamily="18" charset="0"/>
              <a:cs typeface="Times New Roman" pitchFamily="18" charset="0"/>
            </a:endParaRPr>
          </a:p>
          <a:p>
            <a:pPr algn="just">
              <a:buNone/>
            </a:pPr>
            <a:r>
              <a:rPr lang="en-IN" dirty="0" smtClean="0">
                <a:latin typeface="Times New Roman" pitchFamily="18" charset="0"/>
                <a:cs typeface="Times New Roman" pitchFamily="18" charset="0"/>
              </a:rPr>
              <a:t>So the model is as "confused" as if it had to choose between about </a:t>
            </a:r>
            <a:r>
              <a:rPr lang="en-IN" b="1" dirty="0" smtClean="0">
                <a:latin typeface="Times New Roman" pitchFamily="18" charset="0"/>
                <a:cs typeface="Times New Roman" pitchFamily="18" charset="0"/>
              </a:rPr>
              <a:t>5.18 equally likely options</a:t>
            </a:r>
            <a:r>
              <a:rPr lang="en-IN" dirty="0" smtClean="0">
                <a:latin typeface="Times New Roman" pitchFamily="18" charset="0"/>
                <a:cs typeface="Times New Roman" pitchFamily="18" charset="0"/>
              </a:rPr>
              <a:t> at each word</a:t>
            </a:r>
            <a:endParaRPr lang="en-IN"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solidFill>
                  <a:srgbClr val="FF0000"/>
                </a:solidFill>
              </a:rPr>
              <a:t>Why Perplexity is Useful</a:t>
            </a:r>
            <a:endParaRPr lang="en-IN" dirty="0">
              <a:solidFill>
                <a:srgbClr val="FF0000"/>
              </a:solidFill>
            </a:endParaRPr>
          </a:p>
        </p:txBody>
      </p:sp>
      <p:sp>
        <p:nvSpPr>
          <p:cNvPr id="3" name="Content Placeholder 2"/>
          <p:cNvSpPr>
            <a:spLocks noGrp="1"/>
          </p:cNvSpPr>
          <p:nvPr>
            <p:ph idx="1"/>
          </p:nvPr>
        </p:nvSpPr>
        <p:spPr/>
        <p:txBody>
          <a:bodyPr/>
          <a:lstStyle/>
          <a:p>
            <a:pPr algn="just"/>
            <a:r>
              <a:rPr lang="en-IN" dirty="0" smtClean="0">
                <a:latin typeface="Times New Roman" pitchFamily="18" charset="0"/>
                <a:cs typeface="Times New Roman" pitchFamily="18" charset="0"/>
              </a:rPr>
              <a:t>Standard metric for comparing language models.</a:t>
            </a:r>
          </a:p>
          <a:p>
            <a:pPr algn="just"/>
            <a:endParaRPr lang="en-IN" dirty="0" smtClean="0">
              <a:latin typeface="Times New Roman" pitchFamily="18" charset="0"/>
              <a:cs typeface="Times New Roman" pitchFamily="18" charset="0"/>
            </a:endParaRPr>
          </a:p>
          <a:p>
            <a:pPr algn="just"/>
            <a:r>
              <a:rPr lang="en-IN" dirty="0" smtClean="0">
                <a:latin typeface="Times New Roman" pitchFamily="18" charset="0"/>
                <a:cs typeface="Times New Roman" pitchFamily="18" charset="0"/>
              </a:rPr>
              <a:t>Allows evaluation without manual inspection.</a:t>
            </a:r>
          </a:p>
          <a:p>
            <a:pPr algn="just"/>
            <a:endParaRPr lang="en-IN" dirty="0" smtClean="0">
              <a:latin typeface="Times New Roman" pitchFamily="18" charset="0"/>
              <a:cs typeface="Times New Roman" pitchFamily="18" charset="0"/>
            </a:endParaRPr>
          </a:p>
          <a:p>
            <a:pPr algn="just"/>
            <a:r>
              <a:rPr lang="en-IN" dirty="0" smtClean="0">
                <a:latin typeface="Times New Roman" pitchFamily="18" charset="0"/>
                <a:cs typeface="Times New Roman" pitchFamily="18" charset="0"/>
              </a:rPr>
              <a:t>Lower perplexity usually correlates with better real-world performance.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solidFill>
                  <a:srgbClr val="FF0000"/>
                </a:solidFill>
              </a:rPr>
              <a:t>Limitations</a:t>
            </a:r>
            <a:r>
              <a:rPr lang="en-IN" b="1" dirty="0" smtClean="0"/>
              <a:t> of Perplexity</a:t>
            </a:r>
            <a:endParaRPr lang="en-IN" b="1" dirty="0"/>
          </a:p>
        </p:txBody>
      </p:sp>
      <p:sp>
        <p:nvSpPr>
          <p:cNvPr id="3" name="Content Placeholder 2"/>
          <p:cNvSpPr>
            <a:spLocks noGrp="1"/>
          </p:cNvSpPr>
          <p:nvPr>
            <p:ph idx="1"/>
          </p:nvPr>
        </p:nvSpPr>
        <p:spPr/>
        <p:txBody>
          <a:bodyPr/>
          <a:lstStyle/>
          <a:p>
            <a:pPr algn="just"/>
            <a:r>
              <a:rPr lang="en-IN" dirty="0" smtClean="0">
                <a:latin typeface="Times New Roman" pitchFamily="18" charset="0"/>
                <a:cs typeface="Times New Roman" pitchFamily="18" charset="0"/>
              </a:rPr>
              <a:t>PP depends on the test set; results vary with data size.</a:t>
            </a:r>
          </a:p>
          <a:p>
            <a:pPr algn="just"/>
            <a:r>
              <a:rPr lang="en-IN" dirty="0" smtClean="0">
                <a:latin typeface="Times New Roman" pitchFamily="18" charset="0"/>
                <a:cs typeface="Times New Roman" pitchFamily="18" charset="0"/>
              </a:rPr>
              <a:t>Models with artificially low PP may not generalize.</a:t>
            </a:r>
          </a:p>
          <a:p>
            <a:pPr algn="just"/>
            <a:r>
              <a:rPr lang="en-IN" dirty="0" smtClean="0">
                <a:latin typeface="Times New Roman" pitchFamily="18" charset="0"/>
                <a:cs typeface="Times New Roman" pitchFamily="18" charset="0"/>
              </a:rPr>
              <a:t>Cannot capture semantic or grammatical correctness.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Cross-Entropy vs. Perplexity</a:t>
            </a:r>
            <a:endParaRPr lang="en-IN" dirty="0"/>
          </a:p>
        </p:txBody>
      </p:sp>
      <p:sp>
        <p:nvSpPr>
          <p:cNvPr id="3" name="Content Placeholder 2"/>
          <p:cNvSpPr>
            <a:spLocks noGrp="1"/>
          </p:cNvSpPr>
          <p:nvPr>
            <p:ph idx="1"/>
          </p:nvPr>
        </p:nvSpPr>
        <p:spPr/>
        <p:txBody>
          <a:bodyPr/>
          <a:lstStyle/>
          <a:p>
            <a:pPr algn="just"/>
            <a:r>
              <a:rPr lang="en-IN" dirty="0" smtClean="0"/>
              <a:t>Cross-Entropy is measured in </a:t>
            </a:r>
            <a:r>
              <a:rPr lang="en-IN" b="1" dirty="0" smtClean="0"/>
              <a:t>bits per word</a:t>
            </a:r>
            <a:r>
              <a:rPr lang="en-IN" dirty="0" smtClean="0"/>
              <a:t>.</a:t>
            </a:r>
          </a:p>
          <a:p>
            <a:pPr algn="just"/>
            <a:r>
              <a:rPr lang="en-IN" dirty="0" smtClean="0"/>
              <a:t>Perplexity is the </a:t>
            </a:r>
            <a:r>
              <a:rPr lang="en-IN" b="1" dirty="0" smtClean="0"/>
              <a:t>exponentiated form</a:t>
            </a:r>
            <a:r>
              <a:rPr lang="en-IN" dirty="0" smtClean="0"/>
              <a:t>: easier to interpret.</a:t>
            </a:r>
          </a:p>
          <a:p>
            <a:pPr algn="just"/>
            <a:r>
              <a:rPr lang="en-IN" dirty="0" smtClean="0"/>
              <a:t>Both are equivalent measures; they differ in readability.</a:t>
            </a:r>
          </a:p>
          <a:p>
            <a:pPr algn="just"/>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 Sparsity Impact</a:t>
            </a:r>
            <a:endParaRPr lang="en-IN" dirty="0"/>
          </a:p>
        </p:txBody>
      </p:sp>
      <p:sp>
        <p:nvSpPr>
          <p:cNvPr id="3" name="Content Placeholder 2"/>
          <p:cNvSpPr>
            <a:spLocks noGrp="1"/>
          </p:cNvSpPr>
          <p:nvPr>
            <p:ph idx="1"/>
          </p:nvPr>
        </p:nvSpPr>
        <p:spPr/>
        <p:txBody>
          <a:bodyPr/>
          <a:lstStyle/>
          <a:p>
            <a:pPr algn="just"/>
            <a:r>
              <a:rPr lang="en-IN" dirty="0" smtClean="0"/>
              <a:t>Many N-grams in test data may not appear in training data.</a:t>
            </a:r>
          </a:p>
          <a:p>
            <a:pPr algn="just"/>
            <a:r>
              <a:rPr lang="en-IN" dirty="0" smtClean="0"/>
              <a:t>Leads to zero probabilities and inflated perplexity.</a:t>
            </a:r>
          </a:p>
          <a:p>
            <a:pPr algn="just"/>
            <a:r>
              <a:rPr lang="en-IN" dirty="0" smtClean="0"/>
              <a:t>This is why </a:t>
            </a:r>
            <a:r>
              <a:rPr lang="en-IN" b="1" dirty="0" smtClean="0"/>
              <a:t>smoothing</a:t>
            </a:r>
            <a:r>
              <a:rPr lang="en-IN" dirty="0" smtClean="0"/>
              <a:t> is essential.</a:t>
            </a:r>
          </a:p>
          <a:p>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Transition to Smoothing</a:t>
            </a:r>
            <a:endParaRPr lang="en-IN" dirty="0"/>
          </a:p>
        </p:txBody>
      </p:sp>
      <p:sp>
        <p:nvSpPr>
          <p:cNvPr id="3" name="Content Placeholder 2"/>
          <p:cNvSpPr>
            <a:spLocks noGrp="1"/>
          </p:cNvSpPr>
          <p:nvPr>
            <p:ph idx="1"/>
          </p:nvPr>
        </p:nvSpPr>
        <p:spPr/>
        <p:txBody>
          <a:bodyPr/>
          <a:lstStyle/>
          <a:p>
            <a:pPr algn="just"/>
            <a:r>
              <a:rPr lang="en-IN" dirty="0" smtClean="0"/>
              <a:t>We’ve seen that </a:t>
            </a:r>
            <a:r>
              <a:rPr lang="en-IN" b="1" dirty="0" smtClean="0"/>
              <a:t>unsmoothed models</a:t>
            </a:r>
            <a:r>
              <a:rPr lang="en-IN" dirty="0" smtClean="0"/>
              <a:t> assign zero probabilities to unseen sequences.</a:t>
            </a:r>
          </a:p>
          <a:p>
            <a:pPr algn="just"/>
            <a:r>
              <a:rPr lang="en-IN" b="1" dirty="0" smtClean="0"/>
              <a:t>Smoothing methods</a:t>
            </a:r>
            <a:r>
              <a:rPr lang="en-IN" dirty="0" smtClean="0"/>
              <a:t> fix this by redistributing probability mass.</a:t>
            </a:r>
          </a:p>
          <a:p>
            <a:pPr algn="just"/>
            <a:r>
              <a:rPr lang="en-IN" dirty="0" smtClean="0"/>
              <a:t>Next: Laplace, Good-Turing, and </a:t>
            </a:r>
            <a:r>
              <a:rPr lang="en-IN" dirty="0" err="1" smtClean="0"/>
              <a:t>Kneser</a:t>
            </a:r>
            <a:r>
              <a:rPr lang="en-IN" dirty="0" smtClean="0"/>
              <a:t>-Ney smoothing.</a:t>
            </a:r>
          </a:p>
          <a:p>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4695"/>
            <a:ext cx="8229600" cy="849624"/>
          </a:xfrm>
        </p:spPr>
        <p:txBody>
          <a:bodyPr/>
          <a:lstStyle/>
          <a:p>
            <a:r>
              <a:rPr lang="en-IN" dirty="0" smtClean="0">
                <a:solidFill>
                  <a:srgbClr val="FF0000"/>
                </a:solidFill>
              </a:rPr>
              <a:t>Why Do We Need Smoothing?</a:t>
            </a:r>
            <a:endParaRPr lang="en-IN" dirty="0">
              <a:solidFill>
                <a:srgbClr val="FF0000"/>
              </a:solidFill>
            </a:endParaRPr>
          </a:p>
        </p:txBody>
      </p:sp>
      <p:sp>
        <p:nvSpPr>
          <p:cNvPr id="3" name="Content Placeholder 2"/>
          <p:cNvSpPr>
            <a:spLocks noGrp="1"/>
          </p:cNvSpPr>
          <p:nvPr>
            <p:ph idx="1"/>
          </p:nvPr>
        </p:nvSpPr>
        <p:spPr>
          <a:xfrm>
            <a:off x="457200" y="1528997"/>
            <a:ext cx="8229600" cy="4597166"/>
          </a:xfrm>
        </p:spPr>
        <p:txBody>
          <a:bodyPr/>
          <a:lstStyle/>
          <a:p>
            <a:pPr algn="just"/>
            <a:r>
              <a:rPr lang="en-IN" b="1" dirty="0" smtClean="0">
                <a:latin typeface="Times New Roman" pitchFamily="18" charset="0"/>
                <a:cs typeface="Times New Roman" pitchFamily="18" charset="0"/>
              </a:rPr>
              <a:t>Unsmoothed models</a:t>
            </a:r>
            <a:r>
              <a:rPr lang="en-IN" dirty="0" smtClean="0">
                <a:latin typeface="Times New Roman" pitchFamily="18" charset="0"/>
                <a:cs typeface="Times New Roman" pitchFamily="18" charset="0"/>
              </a:rPr>
              <a:t> give zero probability to unseen N-grams.</a:t>
            </a:r>
          </a:p>
          <a:p>
            <a:pPr algn="just"/>
            <a:r>
              <a:rPr lang="en-IN" dirty="0" smtClean="0">
                <a:latin typeface="Times New Roman" pitchFamily="18" charset="0"/>
                <a:cs typeface="Times New Roman" pitchFamily="18" charset="0"/>
              </a:rPr>
              <a:t>Real language data is sparse; many possible word combinations never appear in training.</a:t>
            </a:r>
          </a:p>
          <a:p>
            <a:pPr algn="just"/>
            <a:r>
              <a:rPr lang="en-IN" dirty="0" smtClean="0">
                <a:latin typeface="Times New Roman" pitchFamily="18" charset="0"/>
                <a:cs typeface="Times New Roman" pitchFamily="18" charset="0"/>
              </a:rPr>
              <a:t>Smoothing adjusts counts to avoid zero probabilities.</a:t>
            </a:r>
          </a:p>
          <a:p>
            <a:pPr algn="just"/>
            <a:endParaRPr lang="en-IN"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Laplace (Add-1) Smoothing</a:t>
            </a:r>
            <a:endParaRPr lang="en-IN" dirty="0"/>
          </a:p>
        </p:txBody>
      </p:sp>
      <p:sp>
        <p:nvSpPr>
          <p:cNvPr id="3" name="Content Placeholder 2"/>
          <p:cNvSpPr>
            <a:spLocks noGrp="1"/>
          </p:cNvSpPr>
          <p:nvPr>
            <p:ph idx="1"/>
          </p:nvPr>
        </p:nvSpPr>
        <p:spPr/>
        <p:txBody>
          <a:bodyPr/>
          <a:lstStyle/>
          <a:p>
            <a:r>
              <a:rPr lang="en-IN" dirty="0" smtClean="0"/>
              <a:t>Simplest smoothing technique:</a:t>
            </a:r>
          </a:p>
          <a:p>
            <a:pPr>
              <a:buNone/>
            </a:pPr>
            <a:endParaRPr lang="en-IN" dirty="0"/>
          </a:p>
        </p:txBody>
      </p:sp>
      <p:pic>
        <p:nvPicPr>
          <p:cNvPr id="38914" name="Picture 2"/>
          <p:cNvPicPr>
            <a:picLocks noChangeAspect="1" noChangeArrowheads="1"/>
          </p:cNvPicPr>
          <p:nvPr/>
        </p:nvPicPr>
        <p:blipFill>
          <a:blip r:embed="rId2"/>
          <a:srcRect/>
          <a:stretch>
            <a:fillRect/>
          </a:stretch>
        </p:blipFill>
        <p:spPr bwMode="auto">
          <a:xfrm>
            <a:off x="1213033" y="2514599"/>
            <a:ext cx="6953738" cy="1412823"/>
          </a:xfrm>
          <a:prstGeom prst="rect">
            <a:avLst/>
          </a:prstGeom>
          <a:noFill/>
          <a:ln w="9525">
            <a:noFill/>
            <a:miter lim="800000"/>
            <a:headEnd/>
            <a:tailEnd/>
          </a:ln>
          <a:effectLst/>
        </p:spPr>
      </p:pic>
      <p:sp>
        <p:nvSpPr>
          <p:cNvPr id="5" name="Rectangle 4"/>
          <p:cNvSpPr/>
          <p:nvPr/>
        </p:nvSpPr>
        <p:spPr>
          <a:xfrm>
            <a:off x="986076" y="4392118"/>
            <a:ext cx="3437159" cy="584775"/>
          </a:xfrm>
          <a:prstGeom prst="rect">
            <a:avLst/>
          </a:prstGeom>
        </p:spPr>
        <p:txBody>
          <a:bodyPr wrap="none">
            <a:spAutoFit/>
          </a:bodyPr>
          <a:lstStyle/>
          <a:p>
            <a:r>
              <a:rPr lang="en-IN" sz="3200" dirty="0" smtClean="0"/>
              <a:t>V = vocabulary size.</a:t>
            </a:r>
            <a:endParaRPr lang="en-IN"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Laplace Example: Bigram</a:t>
            </a:r>
            <a:endParaRPr lang="en-IN" dirty="0"/>
          </a:p>
        </p:txBody>
      </p:sp>
      <p:sp>
        <p:nvSpPr>
          <p:cNvPr id="3" name="Content Placeholder 2"/>
          <p:cNvSpPr>
            <a:spLocks noGrp="1"/>
          </p:cNvSpPr>
          <p:nvPr>
            <p:ph idx="1"/>
          </p:nvPr>
        </p:nvSpPr>
        <p:spPr>
          <a:xfrm>
            <a:off x="457200" y="1417638"/>
            <a:ext cx="8229600" cy="4708525"/>
          </a:xfrm>
        </p:spPr>
        <p:txBody>
          <a:bodyPr/>
          <a:lstStyle/>
          <a:p>
            <a:r>
              <a:rPr lang="en-IN" dirty="0" smtClean="0"/>
              <a:t>Example corpus: “I love NLP. I love AI. I study NLP.”</a:t>
            </a:r>
          </a:p>
          <a:p>
            <a:r>
              <a:rPr lang="en-IN" dirty="0" smtClean="0"/>
              <a:t>Vocabulary V=5, total bigrams after “I” = 3.</a:t>
            </a:r>
          </a:p>
          <a:p>
            <a:r>
              <a:rPr lang="en-IN" dirty="0" smtClean="0"/>
              <a:t>Count(</a:t>
            </a:r>
            <a:r>
              <a:rPr lang="en-IN" dirty="0" err="1" smtClean="0"/>
              <a:t>love|I</a:t>
            </a:r>
            <a:r>
              <a:rPr lang="en-IN" dirty="0" smtClean="0"/>
              <a:t>)=2, Count(</a:t>
            </a:r>
            <a:r>
              <a:rPr lang="en-IN" dirty="0" err="1" smtClean="0"/>
              <a:t>study|I</a:t>
            </a:r>
            <a:r>
              <a:rPr lang="en-IN" dirty="0" smtClean="0"/>
              <a:t>)=1, Count(AI|I)=0.</a:t>
            </a:r>
            <a:endParaRPr lang="en-IN" dirty="0"/>
          </a:p>
        </p:txBody>
      </p:sp>
      <p:pic>
        <p:nvPicPr>
          <p:cNvPr id="39938" name="Picture 2"/>
          <p:cNvPicPr>
            <a:picLocks noChangeAspect="1" noChangeArrowheads="1"/>
          </p:cNvPicPr>
          <p:nvPr/>
        </p:nvPicPr>
        <p:blipFill>
          <a:blip r:embed="rId2"/>
          <a:srcRect/>
          <a:stretch>
            <a:fillRect/>
          </a:stretch>
        </p:blipFill>
        <p:spPr bwMode="auto">
          <a:xfrm>
            <a:off x="1407825" y="4275475"/>
            <a:ext cx="6701853" cy="2261875"/>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Laplace Probability Distribution</a:t>
            </a:r>
            <a:endParaRPr lang="en-IN" dirty="0"/>
          </a:p>
        </p:txBody>
      </p:sp>
      <p:graphicFrame>
        <p:nvGraphicFramePr>
          <p:cNvPr id="4" name="Content Placeholder 3"/>
          <p:cNvGraphicFramePr>
            <a:graphicFrameLocks noGrp="1"/>
          </p:cNvGraphicFramePr>
          <p:nvPr>
            <p:ph idx="1"/>
          </p:nvPr>
        </p:nvGraphicFramePr>
        <p:xfrm>
          <a:off x="457200" y="1600198"/>
          <a:ext cx="8229600" cy="4500798"/>
        </p:xfrm>
        <a:graphic>
          <a:graphicData uri="http://schemas.openxmlformats.org/drawingml/2006/table">
            <a:tbl>
              <a:tblPr firstRow="1" bandRow="1">
                <a:tableStyleId>{5C22544A-7EE6-4342-B048-85BDC9FD1C3A}</a:tableStyleId>
              </a:tblPr>
              <a:tblGrid>
                <a:gridCol w="2057400"/>
                <a:gridCol w="2057400"/>
                <a:gridCol w="2057400"/>
                <a:gridCol w="2057400"/>
              </a:tblGrid>
              <a:tr h="750133">
                <a:tc>
                  <a:txBody>
                    <a:bodyPr/>
                    <a:lstStyle/>
                    <a:p>
                      <a:pPr algn="ctr"/>
                      <a:r>
                        <a:rPr lang="en-IN" b="1" dirty="0" smtClean="0"/>
                        <a:t>Bigram</a:t>
                      </a:r>
                      <a:endParaRPr lang="en-IN" b="1" dirty="0"/>
                    </a:p>
                  </a:txBody>
                  <a:tcPr/>
                </a:tc>
                <a:tc>
                  <a:txBody>
                    <a:bodyPr/>
                    <a:lstStyle/>
                    <a:p>
                      <a:pPr algn="ctr"/>
                      <a:r>
                        <a:rPr lang="en-IN" b="1" dirty="0" smtClean="0"/>
                        <a:t>Raw count</a:t>
                      </a:r>
                      <a:endParaRPr lang="en-IN" b="1" dirty="0"/>
                    </a:p>
                  </a:txBody>
                  <a:tcPr/>
                </a:tc>
                <a:tc>
                  <a:txBody>
                    <a:bodyPr/>
                    <a:lstStyle/>
                    <a:p>
                      <a:pPr algn="ctr"/>
                      <a:r>
                        <a:rPr lang="en-IN" b="1" dirty="0" smtClean="0"/>
                        <a:t>Smoothed</a:t>
                      </a:r>
                      <a:r>
                        <a:rPr lang="en-IN" b="1" baseline="0" dirty="0" smtClean="0"/>
                        <a:t> count</a:t>
                      </a:r>
                      <a:endParaRPr lang="en-IN" b="1" dirty="0"/>
                    </a:p>
                  </a:txBody>
                  <a:tcPr/>
                </a:tc>
                <a:tc>
                  <a:txBody>
                    <a:bodyPr/>
                    <a:lstStyle/>
                    <a:p>
                      <a:pPr algn="ctr"/>
                      <a:r>
                        <a:rPr lang="en-IN" b="1" dirty="0" smtClean="0"/>
                        <a:t>Smoothed Prob</a:t>
                      </a:r>
                      <a:endParaRPr lang="en-IN" b="1" dirty="0"/>
                    </a:p>
                  </a:txBody>
                  <a:tcPr/>
                </a:tc>
              </a:tr>
              <a:tr h="750133">
                <a:tc>
                  <a:txBody>
                    <a:bodyPr/>
                    <a:lstStyle/>
                    <a:p>
                      <a:pPr algn="ctr"/>
                      <a:r>
                        <a:rPr lang="en-IN" dirty="0" smtClean="0"/>
                        <a:t>I love</a:t>
                      </a:r>
                      <a:endParaRPr lang="en-IN" dirty="0"/>
                    </a:p>
                  </a:txBody>
                  <a:tcPr/>
                </a:tc>
                <a:tc>
                  <a:txBody>
                    <a:bodyPr/>
                    <a:lstStyle/>
                    <a:p>
                      <a:pPr algn="ctr"/>
                      <a:r>
                        <a:rPr lang="en-IN" dirty="0" smtClean="0"/>
                        <a:t>2</a:t>
                      </a:r>
                      <a:endParaRPr lang="en-IN" dirty="0"/>
                    </a:p>
                  </a:txBody>
                  <a:tcPr/>
                </a:tc>
                <a:tc>
                  <a:txBody>
                    <a:bodyPr/>
                    <a:lstStyle/>
                    <a:p>
                      <a:pPr algn="ctr"/>
                      <a:r>
                        <a:rPr lang="en-IN" dirty="0" smtClean="0"/>
                        <a:t>3</a:t>
                      </a:r>
                      <a:endParaRPr lang="en-IN" dirty="0"/>
                    </a:p>
                  </a:txBody>
                  <a:tcPr/>
                </a:tc>
                <a:tc>
                  <a:txBody>
                    <a:bodyPr/>
                    <a:lstStyle/>
                    <a:p>
                      <a:pPr algn="ctr"/>
                      <a:r>
                        <a:rPr lang="en-IN" dirty="0" smtClean="0"/>
                        <a:t>0.375</a:t>
                      </a:r>
                      <a:endParaRPr lang="en-IN" dirty="0"/>
                    </a:p>
                  </a:txBody>
                  <a:tcPr/>
                </a:tc>
              </a:tr>
              <a:tr h="750133">
                <a:tc>
                  <a:txBody>
                    <a:bodyPr/>
                    <a:lstStyle/>
                    <a:p>
                      <a:pPr algn="ctr"/>
                      <a:r>
                        <a:rPr lang="en-IN" dirty="0" smtClean="0"/>
                        <a:t>I study</a:t>
                      </a:r>
                      <a:endParaRPr lang="en-IN" dirty="0"/>
                    </a:p>
                  </a:txBody>
                  <a:tcPr/>
                </a:tc>
                <a:tc>
                  <a:txBody>
                    <a:bodyPr/>
                    <a:lstStyle/>
                    <a:p>
                      <a:pPr algn="ctr"/>
                      <a:r>
                        <a:rPr lang="en-IN" dirty="0" smtClean="0"/>
                        <a:t>1</a:t>
                      </a:r>
                      <a:endParaRPr lang="en-IN" dirty="0"/>
                    </a:p>
                  </a:txBody>
                  <a:tcPr/>
                </a:tc>
                <a:tc>
                  <a:txBody>
                    <a:bodyPr/>
                    <a:lstStyle/>
                    <a:p>
                      <a:pPr algn="ctr"/>
                      <a:r>
                        <a:rPr lang="en-IN" dirty="0" smtClean="0"/>
                        <a:t>2</a:t>
                      </a:r>
                      <a:endParaRPr lang="en-IN" dirty="0"/>
                    </a:p>
                  </a:txBody>
                  <a:tcPr/>
                </a:tc>
                <a:tc>
                  <a:txBody>
                    <a:bodyPr/>
                    <a:lstStyle/>
                    <a:p>
                      <a:pPr algn="ctr"/>
                      <a:r>
                        <a:rPr lang="en-IN" dirty="0" smtClean="0"/>
                        <a:t>0.25</a:t>
                      </a:r>
                      <a:endParaRPr lang="en-IN" dirty="0"/>
                    </a:p>
                  </a:txBody>
                  <a:tcPr/>
                </a:tc>
              </a:tr>
              <a:tr h="750133">
                <a:tc>
                  <a:txBody>
                    <a:bodyPr/>
                    <a:lstStyle/>
                    <a:p>
                      <a:pPr algn="ctr"/>
                      <a:r>
                        <a:rPr lang="en-IN" dirty="0" smtClean="0"/>
                        <a:t>I AI</a:t>
                      </a:r>
                      <a:endParaRPr lang="en-IN" dirty="0"/>
                    </a:p>
                  </a:txBody>
                  <a:tcPr/>
                </a:tc>
                <a:tc>
                  <a:txBody>
                    <a:bodyPr/>
                    <a:lstStyle/>
                    <a:p>
                      <a:pPr algn="ctr"/>
                      <a:r>
                        <a:rPr lang="en-IN" dirty="0" smtClean="0"/>
                        <a:t>0</a:t>
                      </a:r>
                      <a:endParaRPr lang="en-IN" dirty="0"/>
                    </a:p>
                  </a:txBody>
                  <a:tcPr/>
                </a:tc>
                <a:tc>
                  <a:txBody>
                    <a:bodyPr/>
                    <a:lstStyle/>
                    <a:p>
                      <a:pPr algn="ctr"/>
                      <a:r>
                        <a:rPr lang="en-IN" dirty="0" smtClean="0"/>
                        <a:t>1</a:t>
                      </a:r>
                      <a:endParaRPr lang="en-IN" dirty="0"/>
                    </a:p>
                  </a:txBody>
                  <a:tcPr/>
                </a:tc>
                <a:tc>
                  <a:txBody>
                    <a:bodyPr/>
                    <a:lstStyle/>
                    <a:p>
                      <a:pPr algn="ctr"/>
                      <a:r>
                        <a:rPr lang="en-IN" dirty="0" smtClean="0"/>
                        <a:t>0.125</a:t>
                      </a:r>
                      <a:endParaRPr lang="en-IN" dirty="0"/>
                    </a:p>
                  </a:txBody>
                  <a:tcPr/>
                </a:tc>
              </a:tr>
              <a:tr h="750133">
                <a:tc>
                  <a:txBody>
                    <a:bodyPr/>
                    <a:lstStyle/>
                    <a:p>
                      <a:pPr algn="ctr"/>
                      <a:r>
                        <a:rPr lang="en-IN" dirty="0" smtClean="0"/>
                        <a:t>I NLP</a:t>
                      </a:r>
                      <a:endParaRPr lang="en-IN" dirty="0"/>
                    </a:p>
                  </a:txBody>
                  <a:tcPr/>
                </a:tc>
                <a:tc>
                  <a:txBody>
                    <a:bodyPr/>
                    <a:lstStyle/>
                    <a:p>
                      <a:pPr algn="ctr"/>
                      <a:r>
                        <a:rPr lang="en-IN" dirty="0" smtClean="0"/>
                        <a:t>0</a:t>
                      </a:r>
                      <a:endParaRPr lang="en-IN" dirty="0"/>
                    </a:p>
                  </a:txBody>
                  <a:tcPr/>
                </a:tc>
                <a:tc>
                  <a:txBody>
                    <a:bodyPr/>
                    <a:lstStyle/>
                    <a:p>
                      <a:pPr algn="ctr"/>
                      <a:r>
                        <a:rPr lang="en-IN" dirty="0" smtClean="0"/>
                        <a:t>1</a:t>
                      </a:r>
                      <a:endParaRPr lang="en-IN" dirty="0"/>
                    </a:p>
                  </a:txBody>
                  <a:tcPr/>
                </a:tc>
                <a:tc>
                  <a:txBody>
                    <a:bodyPr/>
                    <a:lstStyle/>
                    <a:p>
                      <a:pPr algn="ctr"/>
                      <a:r>
                        <a:rPr lang="en-IN" dirty="0" smtClean="0"/>
                        <a:t>0.125</a:t>
                      </a:r>
                      <a:endParaRPr lang="en-IN" dirty="0"/>
                    </a:p>
                  </a:txBody>
                  <a:tcPr/>
                </a:tc>
              </a:tr>
              <a:tr h="750133">
                <a:tc>
                  <a:txBody>
                    <a:bodyPr/>
                    <a:lstStyle/>
                    <a:p>
                      <a:pPr algn="ctr"/>
                      <a:r>
                        <a:rPr lang="en-IN" dirty="0" smtClean="0"/>
                        <a:t>I others</a:t>
                      </a:r>
                      <a:endParaRPr lang="en-IN" dirty="0"/>
                    </a:p>
                  </a:txBody>
                  <a:tcPr/>
                </a:tc>
                <a:tc>
                  <a:txBody>
                    <a:bodyPr/>
                    <a:lstStyle/>
                    <a:p>
                      <a:pPr algn="ctr"/>
                      <a:r>
                        <a:rPr lang="en-IN" dirty="0" smtClean="0"/>
                        <a:t>0</a:t>
                      </a:r>
                      <a:endParaRPr lang="en-IN" dirty="0"/>
                    </a:p>
                  </a:txBody>
                  <a:tcPr/>
                </a:tc>
                <a:tc>
                  <a:txBody>
                    <a:bodyPr/>
                    <a:lstStyle/>
                    <a:p>
                      <a:pPr algn="ctr"/>
                      <a:r>
                        <a:rPr lang="en-IN" dirty="0" smtClean="0"/>
                        <a:t>1</a:t>
                      </a:r>
                      <a:endParaRPr lang="en-IN" dirty="0"/>
                    </a:p>
                  </a:txBody>
                  <a:tcPr/>
                </a:tc>
                <a:tc>
                  <a:txBody>
                    <a:bodyPr/>
                    <a:lstStyle/>
                    <a:p>
                      <a:pPr algn="ctr"/>
                      <a:r>
                        <a:rPr lang="en-IN" dirty="0" smtClean="0"/>
                        <a:t>0.125</a:t>
                      </a:r>
                      <a:endParaRPr lang="en-IN" dirty="0"/>
                    </a:p>
                  </a:txBody>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Laplace: Pros and Cons</a:t>
            </a:r>
            <a:endParaRPr lang="en-IN" dirty="0"/>
          </a:p>
        </p:txBody>
      </p:sp>
      <p:sp>
        <p:nvSpPr>
          <p:cNvPr id="3" name="Content Placeholder 2"/>
          <p:cNvSpPr>
            <a:spLocks noGrp="1"/>
          </p:cNvSpPr>
          <p:nvPr>
            <p:ph idx="1"/>
          </p:nvPr>
        </p:nvSpPr>
        <p:spPr/>
        <p:txBody>
          <a:bodyPr/>
          <a:lstStyle/>
          <a:p>
            <a:pPr>
              <a:buNone/>
            </a:pPr>
            <a:r>
              <a:rPr lang="en-IN" b="1" dirty="0" smtClean="0"/>
              <a:t>Pros:</a:t>
            </a:r>
            <a:endParaRPr lang="en-IN" dirty="0" smtClean="0"/>
          </a:p>
          <a:p>
            <a:pPr>
              <a:buNone/>
            </a:pPr>
            <a:r>
              <a:rPr lang="en-IN" dirty="0" smtClean="0"/>
              <a:t>Easy to implement.</a:t>
            </a:r>
          </a:p>
          <a:p>
            <a:pPr>
              <a:buNone/>
            </a:pPr>
            <a:r>
              <a:rPr lang="en-IN" dirty="0" smtClean="0"/>
              <a:t>Eliminates zero probabilities.</a:t>
            </a:r>
          </a:p>
          <a:p>
            <a:pPr>
              <a:buNone/>
            </a:pPr>
            <a:r>
              <a:rPr lang="en-IN" b="1" dirty="0" smtClean="0"/>
              <a:t>Cons:</a:t>
            </a:r>
            <a:endParaRPr lang="en-IN" dirty="0" smtClean="0"/>
          </a:p>
          <a:p>
            <a:pPr>
              <a:buNone/>
            </a:pPr>
            <a:r>
              <a:rPr lang="en-IN" dirty="0" smtClean="0"/>
              <a:t>Overestimates unseen events.</a:t>
            </a:r>
          </a:p>
          <a:p>
            <a:pPr marL="0" indent="0">
              <a:buNone/>
            </a:pPr>
            <a:r>
              <a:rPr lang="en-IN" dirty="0" smtClean="0"/>
              <a:t>Reduces probability accuracy for frequent events.</a:t>
            </a:r>
          </a:p>
          <a:p>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69546"/>
          </a:xfrm>
        </p:spPr>
        <p:txBody>
          <a:bodyPr>
            <a:normAutofit/>
          </a:bodyPr>
          <a:lstStyle/>
          <a:p>
            <a:r>
              <a:rPr lang="en-IN" b="1" dirty="0" smtClean="0"/>
              <a:t>Good-Turing Smoothing</a:t>
            </a:r>
            <a:endParaRPr lang="en-IN" dirty="0"/>
          </a:p>
        </p:txBody>
      </p:sp>
      <p:sp>
        <p:nvSpPr>
          <p:cNvPr id="3" name="Content Placeholder 2"/>
          <p:cNvSpPr>
            <a:spLocks noGrp="1"/>
          </p:cNvSpPr>
          <p:nvPr>
            <p:ph idx="1"/>
          </p:nvPr>
        </p:nvSpPr>
        <p:spPr>
          <a:xfrm>
            <a:off x="457200" y="1244184"/>
            <a:ext cx="8229600" cy="5351488"/>
          </a:xfrm>
        </p:spPr>
        <p:txBody>
          <a:bodyPr>
            <a:normAutofit/>
          </a:bodyPr>
          <a:lstStyle/>
          <a:p>
            <a:pPr marL="179388" indent="-179388" algn="just"/>
            <a:r>
              <a:rPr lang="en-IN" sz="2800" dirty="0" smtClean="0"/>
              <a:t> Good-Turing smoothing is designed to </a:t>
            </a:r>
            <a:r>
              <a:rPr lang="en-IN" sz="2800" b="1" dirty="0" smtClean="0"/>
              <a:t>adjust the observed frequency counts</a:t>
            </a:r>
            <a:r>
              <a:rPr lang="en-IN" sz="2800" dirty="0" smtClean="0"/>
              <a:t> of N-grams to better estimate probabilities for </a:t>
            </a:r>
            <a:r>
              <a:rPr lang="en-IN" sz="2800" b="1" dirty="0" smtClean="0"/>
              <a:t>unseen</a:t>
            </a:r>
            <a:r>
              <a:rPr lang="en-IN" sz="2800" dirty="0" smtClean="0"/>
              <a:t> events in language modeling.</a:t>
            </a:r>
          </a:p>
          <a:p>
            <a:pPr marL="269875" indent="-269875" algn="just"/>
            <a:r>
              <a:rPr lang="en-IN" sz="2800" dirty="0" smtClean="0"/>
              <a:t>Re-estimate the count of events seen c times using:</a:t>
            </a:r>
          </a:p>
          <a:p>
            <a:pPr lvl="1">
              <a:buNone/>
            </a:pPr>
            <a:r>
              <a:rPr lang="en-IN" sz="2400" dirty="0" smtClean="0"/>
              <a:t>	</a:t>
            </a:r>
          </a:p>
        </p:txBody>
      </p:sp>
      <p:pic>
        <p:nvPicPr>
          <p:cNvPr id="40962" name="Picture 2"/>
          <p:cNvPicPr>
            <a:picLocks noChangeAspect="1" noChangeArrowheads="1"/>
          </p:cNvPicPr>
          <p:nvPr/>
        </p:nvPicPr>
        <p:blipFill>
          <a:blip r:embed="rId2"/>
          <a:srcRect/>
          <a:stretch>
            <a:fillRect/>
          </a:stretch>
        </p:blipFill>
        <p:spPr bwMode="auto">
          <a:xfrm>
            <a:off x="2813935" y="3537680"/>
            <a:ext cx="3474875" cy="1253273"/>
          </a:xfrm>
          <a:prstGeom prst="rect">
            <a:avLst/>
          </a:prstGeom>
          <a:noFill/>
          <a:ln w="9525">
            <a:noFill/>
            <a:miter lim="800000"/>
            <a:headEnd/>
            <a:tailEnd/>
          </a:ln>
          <a:effectLst/>
        </p:spPr>
      </p:pic>
      <p:sp>
        <p:nvSpPr>
          <p:cNvPr id="5" name="Rectangle 4"/>
          <p:cNvSpPr/>
          <p:nvPr/>
        </p:nvSpPr>
        <p:spPr>
          <a:xfrm>
            <a:off x="269823" y="4910873"/>
            <a:ext cx="8649325" cy="1384995"/>
          </a:xfrm>
          <a:prstGeom prst="rect">
            <a:avLst/>
          </a:prstGeom>
        </p:spPr>
        <p:txBody>
          <a:bodyPr wrap="square">
            <a:spAutoFit/>
          </a:bodyPr>
          <a:lstStyle/>
          <a:p>
            <a:pPr algn="just"/>
            <a:r>
              <a:rPr lang="en-IN" sz="2800" dirty="0" smtClean="0"/>
              <a:t>c∗ is the adjusted count (expected count)</a:t>
            </a:r>
          </a:p>
          <a:p>
            <a:pPr algn="just"/>
            <a:r>
              <a:rPr lang="en-IN" sz="2800" dirty="0" smtClean="0"/>
              <a:t>N</a:t>
            </a:r>
            <a:r>
              <a:rPr lang="en-IN" sz="2000" dirty="0" smtClean="0"/>
              <a:t>c</a:t>
            </a:r>
            <a:r>
              <a:rPr lang="en-IN" sz="2800" dirty="0" smtClean="0"/>
              <a:t> is the number of N-grams that occur exactly c times</a:t>
            </a:r>
          </a:p>
          <a:p>
            <a:pPr algn="just"/>
            <a:r>
              <a:rPr lang="en-IN" sz="2800" dirty="0" smtClean="0"/>
              <a:t>N</a:t>
            </a:r>
            <a:r>
              <a:rPr lang="en-IN" dirty="0" smtClean="0"/>
              <a:t>c+1</a:t>
            </a:r>
            <a:r>
              <a:rPr lang="en-IN" sz="2800" dirty="0" smtClean="0"/>
              <a:t> is the number of N-grams that occur exactly c+1 times</a:t>
            </a:r>
            <a:endParaRPr lang="en-IN"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Good-Turing Probability</a:t>
            </a:r>
            <a:endParaRPr lang="en-IN" dirty="0"/>
          </a:p>
        </p:txBody>
      </p:sp>
      <p:sp>
        <p:nvSpPr>
          <p:cNvPr id="3" name="Content Placeholder 2"/>
          <p:cNvSpPr>
            <a:spLocks noGrp="1"/>
          </p:cNvSpPr>
          <p:nvPr>
            <p:ph idx="1"/>
          </p:nvPr>
        </p:nvSpPr>
        <p:spPr>
          <a:xfrm>
            <a:off x="457200" y="1600200"/>
            <a:ext cx="8229600" cy="5040443"/>
          </a:xfrm>
        </p:spPr>
        <p:txBody>
          <a:bodyPr>
            <a:normAutofit/>
          </a:bodyPr>
          <a:lstStyle/>
          <a:p>
            <a:pPr>
              <a:buNone/>
            </a:pPr>
            <a:endParaRPr lang="en-IN" dirty="0" smtClean="0"/>
          </a:p>
          <a:p>
            <a:pPr>
              <a:buNone/>
            </a:pPr>
            <a:r>
              <a:rPr lang="en-IN" dirty="0" smtClean="0"/>
              <a:t>Adjusted Probability:  P(w)=c</a:t>
            </a:r>
            <a:r>
              <a:rPr lang="en-IN" sz="2800" dirty="0" smtClean="0"/>
              <a:t>∗</a:t>
            </a:r>
            <a:r>
              <a:rPr lang="en-IN" dirty="0" smtClean="0"/>
              <a:t>​/N</a:t>
            </a:r>
          </a:p>
          <a:p>
            <a:pPr>
              <a:buNone/>
            </a:pPr>
            <a:endParaRPr lang="en-IN" dirty="0" smtClean="0"/>
          </a:p>
          <a:p>
            <a:pPr algn="just">
              <a:buNone/>
            </a:pPr>
            <a:r>
              <a:rPr lang="en-IN" dirty="0" smtClean="0"/>
              <a:t>		Where N is the </a:t>
            </a:r>
            <a:r>
              <a:rPr lang="en-IN" b="1" dirty="0" smtClean="0"/>
              <a:t>total number of tokens</a:t>
            </a:r>
            <a:r>
              <a:rPr lang="en-IN" dirty="0" smtClean="0"/>
              <a:t> (before smoothing)</a:t>
            </a:r>
          </a:p>
          <a:p>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Example 1 – Simple Word Frequency Case</a:t>
            </a:r>
            <a:endParaRPr lang="en-IN" dirty="0"/>
          </a:p>
        </p:txBody>
      </p:sp>
      <p:sp>
        <p:nvSpPr>
          <p:cNvPr id="3" name="Content Placeholder 2"/>
          <p:cNvSpPr>
            <a:spLocks noGrp="1"/>
          </p:cNvSpPr>
          <p:nvPr>
            <p:ph idx="1"/>
          </p:nvPr>
        </p:nvSpPr>
        <p:spPr>
          <a:xfrm>
            <a:off x="457200" y="1600201"/>
            <a:ext cx="8229600" cy="1227292"/>
          </a:xfrm>
        </p:spPr>
        <p:txBody>
          <a:bodyPr>
            <a:normAutofit/>
          </a:bodyPr>
          <a:lstStyle/>
          <a:p>
            <a:pPr algn="just"/>
            <a:r>
              <a:rPr lang="en-IN" dirty="0" smtClean="0"/>
              <a:t>Suppose you have the following word frequency from a tiny corpus</a:t>
            </a:r>
            <a:r>
              <a:rPr lang="en-IN" b="1" dirty="0" smtClean="0"/>
              <a:t>:</a:t>
            </a:r>
          </a:p>
          <a:p>
            <a:pPr algn="just"/>
            <a:endParaRPr lang="en-IN" b="1" dirty="0" smtClean="0"/>
          </a:p>
        </p:txBody>
      </p:sp>
      <p:graphicFrame>
        <p:nvGraphicFramePr>
          <p:cNvPr id="4" name="Table 3"/>
          <p:cNvGraphicFramePr>
            <a:graphicFrameLocks noGrp="1"/>
          </p:cNvGraphicFramePr>
          <p:nvPr/>
        </p:nvGraphicFramePr>
        <p:xfrm>
          <a:off x="1568966" y="2827493"/>
          <a:ext cx="6096000" cy="3627120"/>
        </p:xfrm>
        <a:graphic>
          <a:graphicData uri="http://schemas.openxmlformats.org/drawingml/2006/table">
            <a:tbl>
              <a:tblPr firstRow="1" bandRow="1">
                <a:tableStyleId>{6E25E649-3F16-4E02-A733-19D2CDBF48F0}</a:tableStyleId>
              </a:tblPr>
              <a:tblGrid>
                <a:gridCol w="3048000"/>
                <a:gridCol w="3048000"/>
              </a:tblGrid>
              <a:tr h="370840">
                <a:tc>
                  <a:txBody>
                    <a:bodyPr/>
                    <a:lstStyle/>
                    <a:p>
                      <a:pPr algn="ctr"/>
                      <a:r>
                        <a:rPr lang="en-IN" sz="2800" b="1" dirty="0" smtClean="0"/>
                        <a:t>Word</a:t>
                      </a:r>
                      <a:endParaRPr lang="en-IN" sz="2800" b="1" dirty="0"/>
                    </a:p>
                  </a:txBody>
                  <a:tcPr/>
                </a:tc>
                <a:tc>
                  <a:txBody>
                    <a:bodyPr/>
                    <a:lstStyle/>
                    <a:p>
                      <a:pPr algn="ctr"/>
                      <a:r>
                        <a:rPr lang="en-IN" sz="2800" b="1" dirty="0" smtClean="0"/>
                        <a:t>Count</a:t>
                      </a:r>
                      <a:endParaRPr lang="en-IN" sz="2800" b="1" dirty="0"/>
                    </a:p>
                  </a:txBody>
                  <a:tcPr/>
                </a:tc>
              </a:tr>
              <a:tr h="370840">
                <a:tc>
                  <a:txBody>
                    <a:bodyPr/>
                    <a:lstStyle/>
                    <a:p>
                      <a:pPr algn="ctr"/>
                      <a:r>
                        <a:rPr lang="en-IN" sz="2800" dirty="0" smtClean="0"/>
                        <a:t>"cat"</a:t>
                      </a:r>
                      <a:endParaRPr lang="en-IN" sz="2800" dirty="0"/>
                    </a:p>
                  </a:txBody>
                  <a:tcPr/>
                </a:tc>
                <a:tc>
                  <a:txBody>
                    <a:bodyPr/>
                    <a:lstStyle/>
                    <a:p>
                      <a:pPr algn="ctr"/>
                      <a:r>
                        <a:rPr lang="en-IN" sz="2800" dirty="0" smtClean="0"/>
                        <a:t>3</a:t>
                      </a:r>
                      <a:endParaRPr lang="en-IN" sz="2800" dirty="0"/>
                    </a:p>
                  </a:txBody>
                  <a:tcPr/>
                </a:tc>
              </a:tr>
              <a:tr h="370840">
                <a:tc>
                  <a:txBody>
                    <a:bodyPr/>
                    <a:lstStyle/>
                    <a:p>
                      <a:pPr algn="ctr"/>
                      <a:r>
                        <a:rPr lang="en-IN" sz="2800" dirty="0" smtClean="0"/>
                        <a:t>"dog"</a:t>
                      </a:r>
                      <a:endParaRPr lang="en-IN" sz="2800" dirty="0"/>
                    </a:p>
                  </a:txBody>
                  <a:tcPr/>
                </a:tc>
                <a:tc>
                  <a:txBody>
                    <a:bodyPr/>
                    <a:lstStyle/>
                    <a:p>
                      <a:pPr algn="ctr"/>
                      <a:r>
                        <a:rPr lang="en-IN" sz="2800" dirty="0" smtClean="0"/>
                        <a:t>2</a:t>
                      </a:r>
                      <a:endParaRPr lang="en-IN" sz="2800" dirty="0"/>
                    </a:p>
                  </a:txBody>
                  <a:tcPr/>
                </a:tc>
              </a:tr>
              <a:tr h="370840">
                <a:tc>
                  <a:txBody>
                    <a:bodyPr/>
                    <a:lstStyle/>
                    <a:p>
                      <a:pPr algn="ctr"/>
                      <a:r>
                        <a:rPr lang="en-IN" sz="2800" dirty="0" smtClean="0"/>
                        <a:t>"rat"</a:t>
                      </a:r>
                      <a:endParaRPr lang="en-IN" sz="2800" dirty="0"/>
                    </a:p>
                  </a:txBody>
                  <a:tcPr/>
                </a:tc>
                <a:tc>
                  <a:txBody>
                    <a:bodyPr/>
                    <a:lstStyle/>
                    <a:p>
                      <a:pPr algn="ctr"/>
                      <a:r>
                        <a:rPr lang="en-IN" sz="2800" dirty="0" smtClean="0"/>
                        <a:t>2</a:t>
                      </a:r>
                      <a:endParaRPr lang="en-IN" sz="2800" dirty="0"/>
                    </a:p>
                  </a:txBody>
                  <a:tcPr/>
                </a:tc>
              </a:tr>
              <a:tr h="370840">
                <a:tc>
                  <a:txBody>
                    <a:bodyPr/>
                    <a:lstStyle/>
                    <a:p>
                      <a:pPr algn="ctr"/>
                      <a:r>
                        <a:rPr lang="en-IN" sz="2800" dirty="0" smtClean="0"/>
                        <a:t>"bat"</a:t>
                      </a:r>
                      <a:endParaRPr lang="en-IN" sz="2800" dirty="0"/>
                    </a:p>
                  </a:txBody>
                  <a:tcPr/>
                </a:tc>
                <a:tc>
                  <a:txBody>
                    <a:bodyPr/>
                    <a:lstStyle/>
                    <a:p>
                      <a:pPr algn="ctr"/>
                      <a:r>
                        <a:rPr lang="en-IN" sz="2800" dirty="0" smtClean="0"/>
                        <a:t>1</a:t>
                      </a:r>
                      <a:endParaRPr lang="en-IN" sz="2800" dirty="0"/>
                    </a:p>
                  </a:txBody>
                  <a:tcPr/>
                </a:tc>
              </a:tr>
              <a:tr h="370840">
                <a:tc>
                  <a:txBody>
                    <a:bodyPr/>
                    <a:lstStyle/>
                    <a:p>
                      <a:pPr algn="ctr"/>
                      <a:r>
                        <a:rPr lang="en-IN" sz="2800" dirty="0" smtClean="0"/>
                        <a:t>"cow"</a:t>
                      </a:r>
                      <a:endParaRPr lang="en-IN" sz="2800" dirty="0"/>
                    </a:p>
                  </a:txBody>
                  <a:tcPr/>
                </a:tc>
                <a:tc>
                  <a:txBody>
                    <a:bodyPr/>
                    <a:lstStyle/>
                    <a:p>
                      <a:pPr algn="ctr"/>
                      <a:r>
                        <a:rPr lang="en-IN" sz="2800" dirty="0" smtClean="0"/>
                        <a:t>1</a:t>
                      </a:r>
                      <a:endParaRPr lang="en-IN" sz="2800" dirty="0"/>
                    </a:p>
                  </a:txBody>
                  <a:tcPr/>
                </a:tc>
              </a:tr>
              <a:tr h="370840">
                <a:tc>
                  <a:txBody>
                    <a:bodyPr/>
                    <a:lstStyle/>
                    <a:p>
                      <a:pPr algn="ctr"/>
                      <a:r>
                        <a:rPr lang="en-IN" sz="2800" dirty="0" smtClean="0"/>
                        <a:t>(others)</a:t>
                      </a:r>
                      <a:endParaRPr lang="en-IN" sz="2800" dirty="0"/>
                    </a:p>
                  </a:txBody>
                  <a:tcPr/>
                </a:tc>
                <a:tc>
                  <a:txBody>
                    <a:bodyPr/>
                    <a:lstStyle/>
                    <a:p>
                      <a:pPr algn="ctr"/>
                      <a:r>
                        <a:rPr lang="en-IN" sz="2800" dirty="0" smtClean="0"/>
                        <a:t>0</a:t>
                      </a:r>
                      <a:endParaRPr lang="en-IN" sz="2800" dirty="0"/>
                    </a:p>
                  </a:txBody>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9626"/>
            <a:ext cx="8229600" cy="848012"/>
          </a:xfrm>
        </p:spPr>
        <p:txBody>
          <a:bodyPr/>
          <a:lstStyle/>
          <a:p>
            <a:r>
              <a:rPr lang="en-IN" dirty="0" smtClean="0"/>
              <a:t>Step 1: Compute Nc</a:t>
            </a:r>
            <a:endParaRPr lang="en-IN" dirty="0"/>
          </a:p>
        </p:txBody>
      </p:sp>
      <p:graphicFrame>
        <p:nvGraphicFramePr>
          <p:cNvPr id="5" name="Content Placeholder 4"/>
          <p:cNvGraphicFramePr>
            <a:graphicFrameLocks noGrp="1"/>
          </p:cNvGraphicFramePr>
          <p:nvPr>
            <p:ph idx="1"/>
          </p:nvPr>
        </p:nvGraphicFramePr>
        <p:xfrm>
          <a:off x="457200" y="2083633"/>
          <a:ext cx="8229600" cy="2804160"/>
        </p:xfrm>
        <a:graphic>
          <a:graphicData uri="http://schemas.openxmlformats.org/drawingml/2006/table">
            <a:tbl>
              <a:tblPr firstRow="1" bandRow="1">
                <a:tableStyleId>{6E25E649-3F16-4E02-A733-19D2CDBF48F0}</a:tableStyleId>
              </a:tblPr>
              <a:tblGrid>
                <a:gridCol w="4114800"/>
                <a:gridCol w="4114800"/>
              </a:tblGrid>
              <a:tr h="370840">
                <a:tc>
                  <a:txBody>
                    <a:bodyPr/>
                    <a:lstStyle/>
                    <a:p>
                      <a:pPr algn="ctr"/>
                      <a:r>
                        <a:rPr lang="en-IN" sz="4000" dirty="0" smtClean="0"/>
                        <a:t>Count c</a:t>
                      </a:r>
                      <a:endParaRPr lang="en-IN" sz="4000" dirty="0"/>
                    </a:p>
                  </a:txBody>
                  <a:tcPr/>
                </a:tc>
                <a:tc>
                  <a:txBody>
                    <a:bodyPr/>
                    <a:lstStyle/>
                    <a:p>
                      <a:pPr algn="ctr"/>
                      <a:r>
                        <a:rPr lang="en-IN" sz="4000" dirty="0" smtClean="0"/>
                        <a:t>Nc</a:t>
                      </a:r>
                      <a:endParaRPr lang="en-IN" sz="4000" dirty="0"/>
                    </a:p>
                  </a:txBody>
                  <a:tcPr/>
                </a:tc>
              </a:tr>
              <a:tr h="370840">
                <a:tc>
                  <a:txBody>
                    <a:bodyPr/>
                    <a:lstStyle/>
                    <a:p>
                      <a:pPr algn="ctr"/>
                      <a:r>
                        <a:rPr lang="en-IN" sz="4000" dirty="0" smtClean="0"/>
                        <a:t>1</a:t>
                      </a:r>
                      <a:endParaRPr lang="en-IN" sz="4000" dirty="0"/>
                    </a:p>
                  </a:txBody>
                  <a:tcPr/>
                </a:tc>
                <a:tc>
                  <a:txBody>
                    <a:bodyPr/>
                    <a:lstStyle/>
                    <a:p>
                      <a:pPr algn="ctr"/>
                      <a:r>
                        <a:rPr lang="en-IN" sz="4000" dirty="0" smtClean="0"/>
                        <a:t>2</a:t>
                      </a:r>
                      <a:endParaRPr lang="en-IN" sz="4000" dirty="0"/>
                    </a:p>
                  </a:txBody>
                  <a:tcPr/>
                </a:tc>
              </a:tr>
              <a:tr h="370840">
                <a:tc>
                  <a:txBody>
                    <a:bodyPr/>
                    <a:lstStyle/>
                    <a:p>
                      <a:pPr algn="ctr"/>
                      <a:r>
                        <a:rPr lang="en-IN" sz="4000" dirty="0" smtClean="0"/>
                        <a:t>2</a:t>
                      </a:r>
                      <a:endParaRPr lang="en-IN" sz="4000" dirty="0"/>
                    </a:p>
                  </a:txBody>
                  <a:tcPr/>
                </a:tc>
                <a:tc>
                  <a:txBody>
                    <a:bodyPr/>
                    <a:lstStyle/>
                    <a:p>
                      <a:pPr algn="ctr"/>
                      <a:r>
                        <a:rPr lang="en-IN" sz="4000" dirty="0" smtClean="0"/>
                        <a:t>2</a:t>
                      </a:r>
                      <a:endParaRPr lang="en-IN" sz="4000" dirty="0"/>
                    </a:p>
                  </a:txBody>
                  <a:tcPr/>
                </a:tc>
              </a:tr>
              <a:tr h="370840">
                <a:tc>
                  <a:txBody>
                    <a:bodyPr/>
                    <a:lstStyle/>
                    <a:p>
                      <a:pPr algn="ctr"/>
                      <a:r>
                        <a:rPr lang="en-IN" sz="4000" dirty="0" smtClean="0"/>
                        <a:t>3</a:t>
                      </a:r>
                      <a:endParaRPr lang="en-IN" sz="4000" dirty="0"/>
                    </a:p>
                  </a:txBody>
                  <a:tcPr/>
                </a:tc>
                <a:tc>
                  <a:txBody>
                    <a:bodyPr/>
                    <a:lstStyle/>
                    <a:p>
                      <a:pPr algn="ctr"/>
                      <a:r>
                        <a:rPr lang="en-IN" sz="4000" dirty="0" smtClean="0"/>
                        <a:t>1</a:t>
                      </a:r>
                      <a:endParaRPr lang="en-IN" sz="4000" dirty="0"/>
                    </a:p>
                  </a:txBody>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Step 2: Apply Good-Turing for observed counts</a:t>
            </a:r>
            <a:endParaRPr lang="en-IN" dirty="0"/>
          </a:p>
        </p:txBody>
      </p:sp>
      <p:sp>
        <p:nvSpPr>
          <p:cNvPr id="3" name="Content Placeholder 2"/>
          <p:cNvSpPr>
            <a:spLocks noGrp="1"/>
          </p:cNvSpPr>
          <p:nvPr>
            <p:ph idx="1"/>
          </p:nvPr>
        </p:nvSpPr>
        <p:spPr/>
        <p:txBody>
          <a:bodyPr>
            <a:normAutofit fontScale="85000" lnSpcReduction="20000"/>
          </a:bodyPr>
          <a:lstStyle/>
          <a:p>
            <a:r>
              <a:rPr lang="en-IN" dirty="0" smtClean="0"/>
              <a:t>For "dog" and "rat" (c = 2):</a:t>
            </a:r>
          </a:p>
          <a:p>
            <a:endParaRPr lang="en-IN" dirty="0" smtClean="0"/>
          </a:p>
          <a:p>
            <a:endParaRPr lang="en-IN" dirty="0" smtClean="0"/>
          </a:p>
          <a:p>
            <a:endParaRPr lang="en-IN" dirty="0" smtClean="0"/>
          </a:p>
          <a:p>
            <a:r>
              <a:rPr lang="en-IN" dirty="0" smtClean="0"/>
              <a:t>For "bat" and "cow" (c = 1):</a:t>
            </a:r>
          </a:p>
          <a:p>
            <a:endParaRPr lang="en-IN" dirty="0" smtClean="0"/>
          </a:p>
          <a:p>
            <a:endParaRPr lang="en-IN" dirty="0" smtClean="0"/>
          </a:p>
          <a:p>
            <a:endParaRPr lang="en-IN" dirty="0" smtClean="0"/>
          </a:p>
          <a:p>
            <a:r>
              <a:rPr lang="en-IN" dirty="0" smtClean="0"/>
              <a:t>For unseen words (c = 0):</a:t>
            </a:r>
          </a:p>
          <a:p>
            <a:pPr>
              <a:buNone/>
            </a:pPr>
            <a:r>
              <a:rPr lang="en-IN" dirty="0" smtClean="0"/>
              <a:t>					</a:t>
            </a:r>
          </a:p>
        </p:txBody>
      </p:sp>
      <p:pic>
        <p:nvPicPr>
          <p:cNvPr id="1027" name="Picture 3"/>
          <p:cNvPicPr>
            <a:picLocks noChangeAspect="1" noChangeArrowheads="1"/>
          </p:cNvPicPr>
          <p:nvPr/>
        </p:nvPicPr>
        <p:blipFill>
          <a:blip r:embed="rId2"/>
          <a:srcRect/>
          <a:stretch>
            <a:fillRect/>
          </a:stretch>
        </p:blipFill>
        <p:spPr bwMode="auto">
          <a:xfrm>
            <a:off x="2634677" y="1999236"/>
            <a:ext cx="5282333" cy="1146699"/>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2964461" y="3615036"/>
            <a:ext cx="4455671" cy="1293465"/>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a:srcRect/>
          <a:stretch>
            <a:fillRect/>
          </a:stretch>
        </p:blipFill>
        <p:spPr bwMode="auto">
          <a:xfrm>
            <a:off x="4433496" y="5094387"/>
            <a:ext cx="2521939" cy="1211658"/>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Example 2: Good-Turing on Trigram Frequencies</a:t>
            </a:r>
            <a:endParaRPr lang="en-IN" dirty="0"/>
          </a:p>
        </p:txBody>
      </p:sp>
      <p:sp>
        <p:nvSpPr>
          <p:cNvPr id="3" name="Content Placeholder 2"/>
          <p:cNvSpPr>
            <a:spLocks noGrp="1"/>
          </p:cNvSpPr>
          <p:nvPr>
            <p:ph idx="1"/>
          </p:nvPr>
        </p:nvSpPr>
        <p:spPr/>
        <p:txBody>
          <a:bodyPr/>
          <a:lstStyle/>
          <a:p>
            <a:r>
              <a:rPr lang="en-IN" dirty="0" smtClean="0"/>
              <a:t>Suppose we have the following </a:t>
            </a:r>
            <a:r>
              <a:rPr lang="en-IN" b="1" dirty="0" smtClean="0"/>
              <a:t>trigram counts</a:t>
            </a:r>
            <a:r>
              <a:rPr lang="en-IN" dirty="0" smtClean="0"/>
              <a:t> from a toy corpus:</a:t>
            </a:r>
          </a:p>
          <a:p>
            <a:pPr>
              <a:buNone/>
            </a:pPr>
            <a:endParaRPr lang="en-IN" dirty="0"/>
          </a:p>
        </p:txBody>
      </p:sp>
      <p:graphicFrame>
        <p:nvGraphicFramePr>
          <p:cNvPr id="4" name="Table 3"/>
          <p:cNvGraphicFramePr>
            <a:graphicFrameLocks noGrp="1"/>
          </p:cNvGraphicFramePr>
          <p:nvPr/>
        </p:nvGraphicFramePr>
        <p:xfrm>
          <a:off x="1194216" y="2833141"/>
          <a:ext cx="6096000" cy="3627120"/>
        </p:xfrm>
        <a:graphic>
          <a:graphicData uri="http://schemas.openxmlformats.org/drawingml/2006/table">
            <a:tbl>
              <a:tblPr firstRow="1" bandRow="1">
                <a:tableStyleId>{6E25E649-3F16-4E02-A733-19D2CDBF48F0}</a:tableStyleId>
              </a:tblPr>
              <a:tblGrid>
                <a:gridCol w="3048000"/>
                <a:gridCol w="3048000"/>
              </a:tblGrid>
              <a:tr h="370840">
                <a:tc>
                  <a:txBody>
                    <a:bodyPr/>
                    <a:lstStyle/>
                    <a:p>
                      <a:pPr algn="ctr"/>
                      <a:r>
                        <a:rPr lang="en-IN" sz="2800" dirty="0" smtClean="0"/>
                        <a:t>Trigram</a:t>
                      </a:r>
                      <a:endParaRPr lang="en-IN" sz="2800" dirty="0"/>
                    </a:p>
                  </a:txBody>
                  <a:tcPr/>
                </a:tc>
                <a:tc>
                  <a:txBody>
                    <a:bodyPr/>
                    <a:lstStyle/>
                    <a:p>
                      <a:pPr algn="ctr"/>
                      <a:r>
                        <a:rPr lang="en-IN" sz="2800" dirty="0" smtClean="0"/>
                        <a:t>Count</a:t>
                      </a:r>
                      <a:r>
                        <a:rPr lang="en-IN" sz="2800" baseline="0" dirty="0" smtClean="0"/>
                        <a:t> c</a:t>
                      </a:r>
                      <a:endParaRPr lang="en-IN" sz="2800" dirty="0"/>
                    </a:p>
                  </a:txBody>
                  <a:tcPr/>
                </a:tc>
              </a:tr>
              <a:tr h="370840">
                <a:tc>
                  <a:txBody>
                    <a:bodyPr/>
                    <a:lstStyle/>
                    <a:p>
                      <a:pPr algn="ctr"/>
                      <a:r>
                        <a:rPr lang="en-IN" sz="2800" dirty="0" smtClean="0"/>
                        <a:t>"the cat sat"</a:t>
                      </a:r>
                      <a:endParaRPr lang="en-IN" sz="2800" dirty="0"/>
                    </a:p>
                  </a:txBody>
                  <a:tcPr/>
                </a:tc>
                <a:tc>
                  <a:txBody>
                    <a:bodyPr/>
                    <a:lstStyle/>
                    <a:p>
                      <a:pPr algn="ctr"/>
                      <a:r>
                        <a:rPr lang="en-IN" sz="2800" dirty="0" smtClean="0"/>
                        <a:t>3</a:t>
                      </a:r>
                      <a:endParaRPr lang="en-IN" sz="2800" dirty="0"/>
                    </a:p>
                  </a:txBody>
                  <a:tcPr/>
                </a:tc>
              </a:tr>
              <a:tr h="370840">
                <a:tc>
                  <a:txBody>
                    <a:bodyPr/>
                    <a:lstStyle/>
                    <a:p>
                      <a:pPr algn="ctr"/>
                      <a:r>
                        <a:rPr lang="en-IN" sz="2800" dirty="0" smtClean="0"/>
                        <a:t>"cat sat on"</a:t>
                      </a:r>
                      <a:endParaRPr lang="en-IN" sz="2800" dirty="0"/>
                    </a:p>
                  </a:txBody>
                  <a:tcPr/>
                </a:tc>
                <a:tc>
                  <a:txBody>
                    <a:bodyPr/>
                    <a:lstStyle/>
                    <a:p>
                      <a:pPr algn="ctr"/>
                      <a:r>
                        <a:rPr lang="en-IN" sz="2800" dirty="0" smtClean="0"/>
                        <a:t>2</a:t>
                      </a:r>
                      <a:endParaRPr lang="en-IN" sz="2800" dirty="0"/>
                    </a:p>
                  </a:txBody>
                  <a:tcPr/>
                </a:tc>
              </a:tr>
              <a:tr h="370840">
                <a:tc>
                  <a:txBody>
                    <a:bodyPr/>
                    <a:lstStyle/>
                    <a:p>
                      <a:pPr algn="ctr"/>
                      <a:r>
                        <a:rPr lang="en-IN" sz="2800" dirty="0" smtClean="0"/>
                        <a:t>"sat on the"</a:t>
                      </a:r>
                      <a:endParaRPr lang="en-IN" sz="2800" dirty="0"/>
                    </a:p>
                  </a:txBody>
                  <a:tcPr/>
                </a:tc>
                <a:tc>
                  <a:txBody>
                    <a:bodyPr/>
                    <a:lstStyle/>
                    <a:p>
                      <a:pPr algn="ctr"/>
                      <a:r>
                        <a:rPr lang="en-IN" sz="2800" dirty="0" smtClean="0"/>
                        <a:t>2</a:t>
                      </a:r>
                      <a:endParaRPr lang="en-IN" sz="2800" dirty="0"/>
                    </a:p>
                  </a:txBody>
                  <a:tcPr/>
                </a:tc>
              </a:tr>
              <a:tr h="370840">
                <a:tc>
                  <a:txBody>
                    <a:bodyPr/>
                    <a:lstStyle/>
                    <a:p>
                      <a:pPr algn="ctr"/>
                      <a:r>
                        <a:rPr lang="en-IN" sz="2800" dirty="0" smtClean="0"/>
                        <a:t>"on the mat"</a:t>
                      </a:r>
                      <a:endParaRPr lang="en-IN" sz="2800" dirty="0"/>
                    </a:p>
                  </a:txBody>
                  <a:tcPr/>
                </a:tc>
                <a:tc>
                  <a:txBody>
                    <a:bodyPr/>
                    <a:lstStyle/>
                    <a:p>
                      <a:pPr algn="ctr"/>
                      <a:r>
                        <a:rPr lang="en-IN" sz="2800" dirty="0" smtClean="0"/>
                        <a:t>1</a:t>
                      </a:r>
                      <a:endParaRPr lang="en-IN" sz="2800" dirty="0"/>
                    </a:p>
                  </a:txBody>
                  <a:tcPr/>
                </a:tc>
              </a:tr>
              <a:tr h="370840">
                <a:tc>
                  <a:txBody>
                    <a:bodyPr/>
                    <a:lstStyle/>
                    <a:p>
                      <a:pPr algn="ctr"/>
                      <a:r>
                        <a:rPr lang="en-IN" sz="2800" dirty="0" smtClean="0"/>
                        <a:t>"the mat barked"</a:t>
                      </a:r>
                      <a:endParaRPr lang="en-IN" sz="2800" dirty="0"/>
                    </a:p>
                  </a:txBody>
                  <a:tcPr/>
                </a:tc>
                <a:tc>
                  <a:txBody>
                    <a:bodyPr/>
                    <a:lstStyle/>
                    <a:p>
                      <a:pPr algn="ctr"/>
                      <a:r>
                        <a:rPr lang="en-IN" sz="2800" dirty="0" smtClean="0"/>
                        <a:t>1</a:t>
                      </a:r>
                      <a:endParaRPr lang="en-IN" sz="2800" dirty="0"/>
                    </a:p>
                  </a:txBody>
                  <a:tcPr/>
                </a:tc>
              </a:tr>
              <a:tr h="370840">
                <a:tc>
                  <a:txBody>
                    <a:bodyPr/>
                    <a:lstStyle/>
                    <a:p>
                      <a:pPr algn="ctr"/>
                      <a:r>
                        <a:rPr lang="en-IN" sz="2800" dirty="0" smtClean="0"/>
                        <a:t>(many others)</a:t>
                      </a:r>
                      <a:endParaRPr lang="en-IN" sz="2800" dirty="0"/>
                    </a:p>
                  </a:txBody>
                  <a:tcPr/>
                </a:tc>
                <a:tc>
                  <a:txBody>
                    <a:bodyPr/>
                    <a:lstStyle/>
                    <a:p>
                      <a:pPr algn="ctr"/>
                      <a:r>
                        <a:rPr lang="en-IN" sz="2800" dirty="0" smtClean="0"/>
                        <a:t>0</a:t>
                      </a:r>
                      <a:endParaRPr lang="en-IN" sz="2800" dirty="0"/>
                    </a:p>
                  </a:txBody>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Step 1: Tabulate Nc​ — the number of trigrams with frequency c</a:t>
            </a:r>
            <a:endParaRPr lang="en-IN" dirty="0"/>
          </a:p>
        </p:txBody>
      </p:sp>
      <p:graphicFrame>
        <p:nvGraphicFramePr>
          <p:cNvPr id="4" name="Content Placeholder 3"/>
          <p:cNvGraphicFramePr>
            <a:graphicFrameLocks noGrp="1"/>
          </p:cNvGraphicFramePr>
          <p:nvPr>
            <p:ph idx="1"/>
          </p:nvPr>
        </p:nvGraphicFramePr>
        <p:xfrm>
          <a:off x="457200" y="1600200"/>
          <a:ext cx="8229600" cy="2316480"/>
        </p:xfrm>
        <a:graphic>
          <a:graphicData uri="http://schemas.openxmlformats.org/drawingml/2006/table">
            <a:tbl>
              <a:tblPr firstRow="1" bandRow="1">
                <a:tableStyleId>{6E25E649-3F16-4E02-A733-19D2CDBF48F0}</a:tableStyleId>
              </a:tblPr>
              <a:tblGrid>
                <a:gridCol w="4114800"/>
                <a:gridCol w="4114800"/>
              </a:tblGrid>
              <a:tr h="370840">
                <a:tc>
                  <a:txBody>
                    <a:bodyPr/>
                    <a:lstStyle/>
                    <a:p>
                      <a:pPr algn="ctr"/>
                      <a:r>
                        <a:rPr lang="en-IN" sz="3200" dirty="0" smtClean="0"/>
                        <a:t>Count</a:t>
                      </a:r>
                      <a:r>
                        <a:rPr lang="en-IN" sz="3200" baseline="0" dirty="0" smtClean="0"/>
                        <a:t> c</a:t>
                      </a:r>
                      <a:endParaRPr lang="en-IN" sz="3200" dirty="0"/>
                    </a:p>
                  </a:txBody>
                  <a:tcPr/>
                </a:tc>
                <a:tc>
                  <a:txBody>
                    <a:bodyPr/>
                    <a:lstStyle/>
                    <a:p>
                      <a:pPr algn="ctr"/>
                      <a:r>
                        <a:rPr lang="en-IN" sz="3200" dirty="0" smtClean="0"/>
                        <a:t>Nc</a:t>
                      </a:r>
                      <a:endParaRPr lang="en-IN" sz="3200" dirty="0"/>
                    </a:p>
                  </a:txBody>
                  <a:tcPr/>
                </a:tc>
              </a:tr>
              <a:tr h="370840">
                <a:tc>
                  <a:txBody>
                    <a:bodyPr/>
                    <a:lstStyle/>
                    <a:p>
                      <a:pPr algn="ctr"/>
                      <a:r>
                        <a:rPr lang="en-IN" sz="3200" dirty="0" smtClean="0"/>
                        <a:t>1</a:t>
                      </a:r>
                      <a:endParaRPr lang="en-IN" sz="3200" dirty="0"/>
                    </a:p>
                  </a:txBody>
                  <a:tcPr/>
                </a:tc>
                <a:tc>
                  <a:txBody>
                    <a:bodyPr/>
                    <a:lstStyle/>
                    <a:p>
                      <a:pPr algn="ctr"/>
                      <a:r>
                        <a:rPr lang="en-IN" sz="3200" dirty="0" smtClean="0"/>
                        <a:t>2</a:t>
                      </a:r>
                      <a:endParaRPr lang="en-IN" sz="3200" dirty="0"/>
                    </a:p>
                  </a:txBody>
                  <a:tcPr/>
                </a:tc>
              </a:tr>
              <a:tr h="370840">
                <a:tc>
                  <a:txBody>
                    <a:bodyPr/>
                    <a:lstStyle/>
                    <a:p>
                      <a:pPr algn="ctr"/>
                      <a:r>
                        <a:rPr lang="en-IN" sz="3200" dirty="0" smtClean="0"/>
                        <a:t>2</a:t>
                      </a:r>
                      <a:endParaRPr lang="en-IN" sz="3200" dirty="0"/>
                    </a:p>
                  </a:txBody>
                  <a:tcPr/>
                </a:tc>
                <a:tc>
                  <a:txBody>
                    <a:bodyPr/>
                    <a:lstStyle/>
                    <a:p>
                      <a:pPr algn="ctr"/>
                      <a:r>
                        <a:rPr lang="en-IN" sz="3200" dirty="0" smtClean="0"/>
                        <a:t>2</a:t>
                      </a:r>
                      <a:endParaRPr lang="en-IN" sz="3200" dirty="0"/>
                    </a:p>
                  </a:txBody>
                  <a:tcPr/>
                </a:tc>
              </a:tr>
              <a:tr h="370840">
                <a:tc>
                  <a:txBody>
                    <a:bodyPr/>
                    <a:lstStyle/>
                    <a:p>
                      <a:pPr algn="ctr"/>
                      <a:r>
                        <a:rPr lang="en-IN" sz="3200" dirty="0" smtClean="0"/>
                        <a:t>3</a:t>
                      </a:r>
                      <a:endParaRPr lang="en-IN" sz="3200" dirty="0"/>
                    </a:p>
                  </a:txBody>
                  <a:tcPr/>
                </a:tc>
                <a:tc>
                  <a:txBody>
                    <a:bodyPr/>
                    <a:lstStyle/>
                    <a:p>
                      <a:pPr algn="ctr"/>
                      <a:r>
                        <a:rPr lang="en-IN" sz="3200" dirty="0" smtClean="0"/>
                        <a:t>1</a:t>
                      </a:r>
                      <a:endParaRPr lang="en-IN" sz="3200" dirty="0"/>
                    </a:p>
                  </a:txBody>
                  <a:tcPr/>
                </a:tc>
              </a:tr>
            </a:tbl>
          </a:graphicData>
        </a:graphic>
      </p:graphicFrame>
      <p:sp>
        <p:nvSpPr>
          <p:cNvPr id="5" name="Rectangle 4"/>
          <p:cNvSpPr/>
          <p:nvPr/>
        </p:nvSpPr>
        <p:spPr>
          <a:xfrm>
            <a:off x="457200" y="4182256"/>
            <a:ext cx="8229600" cy="954107"/>
          </a:xfrm>
          <a:prstGeom prst="rect">
            <a:avLst/>
          </a:prstGeom>
        </p:spPr>
        <p:txBody>
          <a:bodyPr wrap="square">
            <a:spAutoFit/>
          </a:bodyPr>
          <a:lstStyle/>
          <a:p>
            <a:pPr algn="just"/>
            <a:r>
              <a:rPr lang="en-IN" sz="2800" dirty="0" smtClean="0"/>
              <a:t>Step 2: Compute Adjusted Counts c∗ using Good-Turing Formula</a:t>
            </a:r>
            <a:endParaRPr lang="en-IN" sz="2800" dirty="0"/>
          </a:p>
        </p:txBody>
      </p:sp>
      <p:pic>
        <p:nvPicPr>
          <p:cNvPr id="2050" name="Picture 2"/>
          <p:cNvPicPr>
            <a:picLocks noChangeAspect="1" noChangeArrowheads="1"/>
          </p:cNvPicPr>
          <p:nvPr/>
        </p:nvPicPr>
        <p:blipFill>
          <a:blip r:embed="rId2"/>
          <a:srcRect/>
          <a:stretch>
            <a:fillRect/>
          </a:stretch>
        </p:blipFill>
        <p:spPr bwMode="auto">
          <a:xfrm>
            <a:off x="2659816" y="5136362"/>
            <a:ext cx="3632719" cy="1294417"/>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2945471" y="1663282"/>
            <a:ext cx="5170156" cy="1139877"/>
          </a:xfrm>
          <a:prstGeom prst="rect">
            <a:avLst/>
          </a:prstGeom>
          <a:noFill/>
          <a:ln w="9525">
            <a:noFill/>
            <a:miter lim="800000"/>
            <a:headEnd/>
            <a:tailEnd/>
          </a:ln>
          <a:effectLst/>
        </p:spPr>
      </p:pic>
      <p:sp>
        <p:nvSpPr>
          <p:cNvPr id="6" name="Rectangle 5"/>
          <p:cNvSpPr/>
          <p:nvPr/>
        </p:nvSpPr>
        <p:spPr>
          <a:xfrm>
            <a:off x="818645" y="3590862"/>
            <a:ext cx="6301232" cy="523220"/>
          </a:xfrm>
          <a:prstGeom prst="rect">
            <a:avLst/>
          </a:prstGeom>
        </p:spPr>
        <p:txBody>
          <a:bodyPr wrap="square">
            <a:spAutoFit/>
          </a:bodyPr>
          <a:lstStyle/>
          <a:p>
            <a:pPr>
              <a:buFont typeface="Arial" pitchFamily="34" charset="0"/>
              <a:buChar char="•"/>
            </a:pPr>
            <a:r>
              <a:rPr lang="en-IN" sz="2800" dirty="0" smtClean="0"/>
              <a:t> For "cat sat on" and "sat on the" (c = 2):</a:t>
            </a:r>
            <a:endParaRPr lang="en-IN" sz="2800" dirty="0"/>
          </a:p>
        </p:txBody>
      </p:sp>
      <p:pic>
        <p:nvPicPr>
          <p:cNvPr id="3075" name="Picture 3"/>
          <p:cNvPicPr>
            <a:picLocks noGrp="1" noChangeAspect="1" noChangeArrowheads="1"/>
          </p:cNvPicPr>
          <p:nvPr>
            <p:ph idx="1"/>
          </p:nvPr>
        </p:nvPicPr>
        <p:blipFill>
          <a:blip r:embed="rId3"/>
          <a:srcRect/>
          <a:stretch>
            <a:fillRect/>
          </a:stretch>
        </p:blipFill>
        <p:spPr bwMode="auto">
          <a:xfrm>
            <a:off x="3248025" y="4598211"/>
            <a:ext cx="4867602" cy="1083061"/>
          </a:xfrm>
          <a:prstGeom prst="rect">
            <a:avLst/>
          </a:prstGeom>
          <a:noFill/>
          <a:ln w="9525">
            <a:noFill/>
            <a:miter lim="800000"/>
            <a:headEnd/>
            <a:tailEnd/>
          </a:ln>
          <a:effectLst/>
        </p:spPr>
      </p:pic>
      <p:sp>
        <p:nvSpPr>
          <p:cNvPr id="9" name="Rectangle 8"/>
          <p:cNvSpPr/>
          <p:nvPr/>
        </p:nvSpPr>
        <p:spPr>
          <a:xfrm>
            <a:off x="818645" y="779489"/>
            <a:ext cx="6940618" cy="523220"/>
          </a:xfrm>
          <a:prstGeom prst="rect">
            <a:avLst/>
          </a:prstGeom>
        </p:spPr>
        <p:txBody>
          <a:bodyPr wrap="none">
            <a:spAutoFit/>
          </a:bodyPr>
          <a:lstStyle/>
          <a:p>
            <a:r>
              <a:rPr lang="en-IN" sz="2800" dirty="0" smtClean="0"/>
              <a:t>For "on the mat" and "the mat barked" (c = 1):</a:t>
            </a:r>
            <a:endParaRPr lang="en-IN"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9686"/>
            <a:ext cx="8229600" cy="5646478"/>
          </a:xfrm>
        </p:spPr>
        <p:txBody>
          <a:bodyPr>
            <a:normAutofit lnSpcReduction="10000"/>
          </a:bodyPr>
          <a:lstStyle/>
          <a:p>
            <a:r>
              <a:rPr lang="en-IN" dirty="0" smtClean="0"/>
              <a:t>Step 3: Adjusted Probabilities:</a:t>
            </a:r>
          </a:p>
          <a:p>
            <a:endParaRPr lang="en-IN" dirty="0" smtClean="0"/>
          </a:p>
          <a:p>
            <a:pPr>
              <a:buNone/>
            </a:pPr>
            <a:r>
              <a:rPr lang="pt-BR" dirty="0" smtClean="0"/>
              <a:t>			Assume total original trigram tokens</a:t>
            </a:r>
          </a:p>
          <a:p>
            <a:pPr>
              <a:buNone/>
            </a:pPr>
            <a:endParaRPr lang="pt-BR" dirty="0" smtClean="0"/>
          </a:p>
          <a:p>
            <a:pPr>
              <a:buNone/>
            </a:pPr>
            <a:r>
              <a:rPr lang="pt-BR" dirty="0" smtClean="0"/>
              <a:t>						N=3+2+2+1+1=9</a:t>
            </a:r>
          </a:p>
          <a:p>
            <a:pPr>
              <a:buNone/>
            </a:pPr>
            <a:endParaRPr lang="en-IN" dirty="0" smtClean="0"/>
          </a:p>
          <a:p>
            <a:pPr>
              <a:buNone/>
            </a:pPr>
            <a:r>
              <a:rPr lang="en-IN" dirty="0" smtClean="0"/>
              <a:t>Now compute probabilities:</a:t>
            </a:r>
          </a:p>
          <a:p>
            <a:pPr indent="376238"/>
            <a:r>
              <a:rPr lang="en-IN" dirty="0" smtClean="0"/>
              <a:t>P∗(on the mat)=2/9​=0.222</a:t>
            </a:r>
          </a:p>
          <a:p>
            <a:pPr indent="376238"/>
            <a:r>
              <a:rPr lang="en-IN" dirty="0" smtClean="0"/>
              <a:t>P∗(cat sat on)=1.5/9=0.167</a:t>
            </a:r>
          </a:p>
          <a:p>
            <a:pPr indent="376238"/>
            <a:r>
              <a:rPr lang="en-IN" dirty="0" smtClean="0"/>
              <a:t>P∗(the cat sat)=3/9=0.333</a:t>
            </a:r>
          </a:p>
          <a:p>
            <a:pPr>
              <a:buNone/>
            </a:pPr>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Good-Turing Pros &amp; Cons</a:t>
            </a:r>
            <a:endParaRPr lang="en-IN" dirty="0"/>
          </a:p>
        </p:txBody>
      </p:sp>
      <p:sp>
        <p:nvSpPr>
          <p:cNvPr id="3" name="Content Placeholder 2"/>
          <p:cNvSpPr>
            <a:spLocks noGrp="1"/>
          </p:cNvSpPr>
          <p:nvPr>
            <p:ph idx="1"/>
          </p:nvPr>
        </p:nvSpPr>
        <p:spPr/>
        <p:txBody>
          <a:bodyPr/>
          <a:lstStyle/>
          <a:p>
            <a:pPr>
              <a:buNone/>
            </a:pPr>
            <a:r>
              <a:rPr lang="en-IN" b="1" dirty="0" smtClean="0"/>
              <a:t>Pros:</a:t>
            </a:r>
            <a:endParaRPr lang="en-IN" dirty="0" smtClean="0"/>
          </a:p>
          <a:p>
            <a:pPr>
              <a:buNone/>
            </a:pPr>
            <a:r>
              <a:rPr lang="en-IN" dirty="0" smtClean="0"/>
              <a:t>More accurate for unseen events than Laplace.</a:t>
            </a:r>
          </a:p>
          <a:p>
            <a:pPr>
              <a:buNone/>
            </a:pPr>
            <a:r>
              <a:rPr lang="en-IN" dirty="0" smtClean="0"/>
              <a:t>Based on statistical evidence.</a:t>
            </a:r>
          </a:p>
          <a:p>
            <a:pPr>
              <a:buNone/>
            </a:pPr>
            <a:r>
              <a:rPr lang="en-IN" b="1" dirty="0" smtClean="0"/>
              <a:t>Cons:</a:t>
            </a:r>
            <a:endParaRPr lang="en-IN" dirty="0" smtClean="0"/>
          </a:p>
          <a:p>
            <a:pPr>
              <a:buNone/>
            </a:pPr>
            <a:r>
              <a:rPr lang="en-IN" dirty="0" smtClean="0"/>
              <a:t>Requires reliable Nc counts.</a:t>
            </a:r>
          </a:p>
          <a:p>
            <a:pPr>
              <a:buNone/>
            </a:pPr>
            <a:r>
              <a:rPr lang="en-IN" dirty="0" smtClean="0"/>
              <a:t>More complex to implement.</a:t>
            </a:r>
          </a:p>
          <a:p>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Transition to Interpolation and Backoff</a:t>
            </a:r>
            <a:endParaRPr lang="en-IN" dirty="0"/>
          </a:p>
        </p:txBody>
      </p:sp>
      <p:sp>
        <p:nvSpPr>
          <p:cNvPr id="3" name="Content Placeholder 2"/>
          <p:cNvSpPr>
            <a:spLocks noGrp="1"/>
          </p:cNvSpPr>
          <p:nvPr>
            <p:ph idx="1"/>
          </p:nvPr>
        </p:nvSpPr>
        <p:spPr/>
        <p:txBody>
          <a:bodyPr/>
          <a:lstStyle/>
          <a:p>
            <a:pPr algn="just"/>
            <a:r>
              <a:rPr lang="en-IN" dirty="0" smtClean="0"/>
              <a:t>Smoothing fixes zero probabilities.</a:t>
            </a:r>
          </a:p>
          <a:p>
            <a:pPr algn="just"/>
            <a:r>
              <a:rPr lang="en-IN" dirty="0" smtClean="0"/>
              <a:t>But we can improve further by </a:t>
            </a:r>
            <a:r>
              <a:rPr lang="en-IN" b="1" dirty="0" smtClean="0"/>
              <a:t>combining models</a:t>
            </a:r>
            <a:r>
              <a:rPr lang="en-IN" dirty="0" smtClean="0"/>
              <a:t>.</a:t>
            </a:r>
          </a:p>
          <a:p>
            <a:pPr algn="just"/>
            <a:r>
              <a:rPr lang="en-IN" dirty="0" smtClean="0"/>
              <a:t>Next: </a:t>
            </a:r>
            <a:r>
              <a:rPr lang="en-IN" b="1" dirty="0" smtClean="0"/>
              <a:t>Interpolation</a:t>
            </a:r>
            <a:r>
              <a:rPr lang="en-IN" dirty="0" smtClean="0"/>
              <a:t> and </a:t>
            </a:r>
            <a:r>
              <a:rPr lang="en-IN" b="1" dirty="0" smtClean="0"/>
              <a:t>Backoff</a:t>
            </a:r>
            <a:r>
              <a:rPr lang="en-IN" dirty="0" smtClean="0"/>
              <a:t> techniques.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is Interpolation?</a:t>
            </a:r>
            <a:endParaRPr lang="en-IN" dirty="0"/>
          </a:p>
        </p:txBody>
      </p:sp>
      <p:sp>
        <p:nvSpPr>
          <p:cNvPr id="3" name="Content Placeholder 2"/>
          <p:cNvSpPr>
            <a:spLocks noGrp="1"/>
          </p:cNvSpPr>
          <p:nvPr>
            <p:ph idx="1"/>
          </p:nvPr>
        </p:nvSpPr>
        <p:spPr>
          <a:xfrm>
            <a:off x="457200" y="1417638"/>
            <a:ext cx="8229600" cy="4708525"/>
          </a:xfrm>
        </p:spPr>
        <p:txBody>
          <a:bodyPr/>
          <a:lstStyle/>
          <a:p>
            <a:pPr algn="just"/>
            <a:r>
              <a:rPr lang="en-IN" dirty="0" smtClean="0"/>
              <a:t>Interpolation combines probabilities from </a:t>
            </a:r>
            <a:r>
              <a:rPr lang="en-IN" b="1" dirty="0" smtClean="0"/>
              <a:t>multiple N-gram models</a:t>
            </a:r>
            <a:r>
              <a:rPr lang="en-IN" dirty="0" smtClean="0"/>
              <a:t> (unigram, bigram, trigram).</a:t>
            </a:r>
          </a:p>
          <a:p>
            <a:pPr algn="just"/>
            <a:r>
              <a:rPr lang="en-IN" dirty="0" smtClean="0"/>
              <a:t>It assigns a </a:t>
            </a:r>
            <a:r>
              <a:rPr lang="en-IN" b="1" dirty="0" smtClean="0"/>
              <a:t>weighted sum</a:t>
            </a:r>
            <a:r>
              <a:rPr lang="en-IN" dirty="0" smtClean="0"/>
              <a:t> of probabilities:</a:t>
            </a:r>
          </a:p>
          <a:p>
            <a:endParaRPr lang="en-IN" dirty="0"/>
          </a:p>
        </p:txBody>
      </p:sp>
      <p:pic>
        <p:nvPicPr>
          <p:cNvPr id="41986" name="Picture 2"/>
          <p:cNvPicPr>
            <a:picLocks noChangeAspect="1" noChangeArrowheads="1"/>
          </p:cNvPicPr>
          <p:nvPr/>
        </p:nvPicPr>
        <p:blipFill>
          <a:blip r:embed="rId2"/>
          <a:srcRect/>
          <a:stretch>
            <a:fillRect/>
          </a:stretch>
        </p:blipFill>
        <p:spPr bwMode="auto">
          <a:xfrm>
            <a:off x="457200" y="4076388"/>
            <a:ext cx="8460386" cy="441759"/>
          </a:xfrm>
          <a:prstGeom prst="rect">
            <a:avLst/>
          </a:prstGeom>
          <a:noFill/>
          <a:ln w="9525">
            <a:noFill/>
            <a:miter lim="800000"/>
            <a:headEnd/>
            <a:tailEnd/>
          </a:ln>
          <a:effectLst/>
        </p:spPr>
      </p:pic>
      <p:sp>
        <p:nvSpPr>
          <p:cNvPr id="5" name="Rectangle 4"/>
          <p:cNvSpPr/>
          <p:nvPr/>
        </p:nvSpPr>
        <p:spPr>
          <a:xfrm>
            <a:off x="1274391" y="5007331"/>
            <a:ext cx="1887055" cy="523220"/>
          </a:xfrm>
          <a:prstGeom prst="rect">
            <a:avLst/>
          </a:prstGeom>
        </p:spPr>
        <p:txBody>
          <a:bodyPr wrap="none">
            <a:spAutoFit/>
          </a:bodyPr>
          <a:lstStyle/>
          <a:p>
            <a:r>
              <a:rPr lang="el-GR" sz="2800" dirty="0" smtClean="0"/>
              <a:t>λ</a:t>
            </a:r>
            <a:r>
              <a:rPr lang="el-GR" sz="2000" dirty="0" smtClean="0"/>
              <a:t>1​</a:t>
            </a:r>
            <a:r>
              <a:rPr lang="el-GR" sz="2800" dirty="0" smtClean="0"/>
              <a:t>+λ</a:t>
            </a:r>
            <a:r>
              <a:rPr lang="el-GR" sz="2000" dirty="0" smtClean="0"/>
              <a:t>2</a:t>
            </a:r>
            <a:r>
              <a:rPr lang="el-GR" sz="2800" dirty="0" smtClean="0"/>
              <a:t>​+λ</a:t>
            </a:r>
            <a:r>
              <a:rPr lang="el-GR" sz="2000" dirty="0" smtClean="0"/>
              <a:t>3</a:t>
            </a:r>
            <a:r>
              <a:rPr lang="el-GR" sz="2800" dirty="0" smtClean="0"/>
              <a:t>​=1.</a:t>
            </a:r>
            <a:endParaRPr lang="el-GR"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04654"/>
          </a:xfrm>
        </p:spPr>
        <p:txBody>
          <a:bodyPr/>
          <a:lstStyle/>
          <a:p>
            <a:r>
              <a:rPr lang="en-IN" dirty="0" smtClean="0"/>
              <a:t>Why Use Interpolation?</a:t>
            </a:r>
            <a:endParaRPr lang="en-IN" dirty="0"/>
          </a:p>
        </p:txBody>
      </p:sp>
      <p:sp>
        <p:nvSpPr>
          <p:cNvPr id="3" name="Content Placeholder 2"/>
          <p:cNvSpPr>
            <a:spLocks noGrp="1"/>
          </p:cNvSpPr>
          <p:nvPr>
            <p:ph idx="1"/>
          </p:nvPr>
        </p:nvSpPr>
        <p:spPr>
          <a:xfrm>
            <a:off x="457200" y="1600201"/>
            <a:ext cx="8229600" cy="3346554"/>
          </a:xfrm>
        </p:spPr>
        <p:txBody>
          <a:bodyPr/>
          <a:lstStyle/>
          <a:p>
            <a:pPr algn="just"/>
            <a:r>
              <a:rPr lang="en-IN" dirty="0" smtClean="0"/>
              <a:t>Higher-order N-grams are more accurate but sparse.</a:t>
            </a:r>
          </a:p>
          <a:p>
            <a:pPr algn="just"/>
            <a:r>
              <a:rPr lang="en-IN" dirty="0" smtClean="0"/>
              <a:t>Lower-order models cover unseen cases.</a:t>
            </a:r>
          </a:p>
          <a:p>
            <a:pPr algn="just"/>
            <a:r>
              <a:rPr lang="en-IN" dirty="0" smtClean="0"/>
              <a:t>Interpolation ensures </a:t>
            </a:r>
            <a:r>
              <a:rPr lang="en-IN" b="1" dirty="0" smtClean="0"/>
              <a:t>no probability is zero</a:t>
            </a:r>
            <a:r>
              <a:rPr lang="en-IN" dirty="0" smtClean="0"/>
              <a:t> and improves accuracy.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4813"/>
            <a:ext cx="8229600" cy="6385810"/>
          </a:xfrm>
        </p:spPr>
        <p:txBody>
          <a:bodyPr>
            <a:normAutofit/>
          </a:bodyPr>
          <a:lstStyle/>
          <a:p>
            <a:pPr>
              <a:buNone/>
            </a:pPr>
            <a:r>
              <a:rPr lang="en-IN" sz="3600" b="1" dirty="0" smtClean="0"/>
              <a:t>Interpolation Example</a:t>
            </a:r>
          </a:p>
          <a:p>
            <a:pPr>
              <a:buNone/>
            </a:pPr>
            <a:r>
              <a:rPr lang="en-IN" dirty="0" smtClean="0"/>
              <a:t>We use:</a:t>
            </a:r>
          </a:p>
          <a:p>
            <a:pPr>
              <a:buNone/>
            </a:pPr>
            <a:endParaRPr lang="en-IN" dirty="0" smtClean="0"/>
          </a:p>
          <a:p>
            <a:pPr>
              <a:buNone/>
            </a:pPr>
            <a:r>
              <a:rPr lang="en-IN" dirty="0" smtClean="0"/>
              <a:t>Assume:		</a:t>
            </a:r>
            <a:r>
              <a:rPr lang="el-GR" dirty="0" smtClean="0"/>
              <a:t>λ</a:t>
            </a:r>
            <a:r>
              <a:rPr lang="el-GR" sz="2400" dirty="0" smtClean="0"/>
              <a:t>3​</a:t>
            </a:r>
            <a:r>
              <a:rPr lang="el-GR" dirty="0" smtClean="0"/>
              <a:t>=0.5,</a:t>
            </a:r>
            <a:r>
              <a:rPr lang="en-IN" dirty="0" smtClean="0"/>
              <a:t>   </a:t>
            </a:r>
            <a:r>
              <a:rPr lang="el-GR" dirty="0" smtClean="0"/>
              <a:t>λ</a:t>
            </a:r>
            <a:r>
              <a:rPr lang="el-GR" sz="2400" dirty="0" smtClean="0"/>
              <a:t>2</a:t>
            </a:r>
            <a:r>
              <a:rPr lang="el-GR" dirty="0" smtClean="0"/>
              <a:t>​=0.3,</a:t>
            </a:r>
            <a:r>
              <a:rPr lang="en-IN" dirty="0" smtClean="0"/>
              <a:t>   </a:t>
            </a:r>
            <a:r>
              <a:rPr lang="el-GR" dirty="0" smtClean="0"/>
              <a:t>λ</a:t>
            </a:r>
            <a:r>
              <a:rPr lang="el-GR" sz="2400" dirty="0" smtClean="0"/>
              <a:t>1</a:t>
            </a:r>
            <a:r>
              <a:rPr lang="el-GR" dirty="0" smtClean="0"/>
              <a:t>​=0.2</a:t>
            </a:r>
            <a:endParaRPr lang="en-IN" dirty="0" smtClean="0"/>
          </a:p>
          <a:p>
            <a:pPr>
              <a:buNone/>
            </a:pPr>
            <a:r>
              <a:rPr lang="it-IT" dirty="0" smtClean="0"/>
              <a:t>Let’s compute </a:t>
            </a:r>
            <a:r>
              <a:rPr lang="it-IT" b="1" dirty="0" smtClean="0"/>
              <a:t>P(NLP | I love)</a:t>
            </a:r>
          </a:p>
          <a:p>
            <a:pPr>
              <a:buNone/>
            </a:pPr>
            <a:r>
              <a:rPr lang="it-IT" b="1" dirty="0" smtClean="0"/>
              <a:t>				</a:t>
            </a:r>
            <a:r>
              <a:rPr lang="en-IN" dirty="0" smtClean="0"/>
              <a:t>Trigram P(NLP ∣ I love)=1/2=0.5</a:t>
            </a:r>
          </a:p>
          <a:p>
            <a:pPr indent="1095375">
              <a:buNone/>
            </a:pPr>
            <a:r>
              <a:rPr lang="en-IN" dirty="0" smtClean="0"/>
              <a:t>Bigram P(NLP ∣ love)=2/3≈0.667</a:t>
            </a:r>
          </a:p>
          <a:p>
            <a:pPr indent="1095375">
              <a:buNone/>
            </a:pPr>
            <a:r>
              <a:rPr lang="en-IN" dirty="0" smtClean="0"/>
              <a:t>Unigram P(NLP)=3/12=0.25</a:t>
            </a:r>
          </a:p>
          <a:p>
            <a:pPr>
              <a:buNone/>
            </a:pPr>
            <a:r>
              <a:rPr lang="it-IT" sz="2400" b="1" dirty="0" smtClean="0"/>
              <a:t>P</a:t>
            </a:r>
            <a:r>
              <a:rPr lang="it-IT" sz="1800" b="1" dirty="0" smtClean="0"/>
              <a:t>interp</a:t>
            </a:r>
            <a:r>
              <a:rPr lang="it-IT" sz="2400" b="1" dirty="0" smtClean="0"/>
              <a:t>(NLP | I love) = </a:t>
            </a:r>
            <a:r>
              <a:rPr lang="it-IT" sz="2400" dirty="0" smtClean="0"/>
              <a:t>(0.5x0.5) + (0.3x0.667) + (0.2x0.25) = 0.50</a:t>
            </a:r>
            <a:r>
              <a:rPr lang="it-IT" sz="2800" dirty="0" smtClean="0"/>
              <a:t> </a:t>
            </a:r>
            <a:endParaRPr lang="en-IN" sz="2800" dirty="0" smtClean="0"/>
          </a:p>
          <a:p>
            <a:pPr>
              <a:buNone/>
            </a:pPr>
            <a:r>
              <a:rPr lang="en-IN" b="1" dirty="0" smtClean="0"/>
              <a:t>Even if trigram was 0</a:t>
            </a:r>
            <a:r>
              <a:rPr lang="en-IN" dirty="0" smtClean="0"/>
              <a:t>, interpolation would still produce a probability using the other n-grams.</a:t>
            </a:r>
            <a:endParaRPr lang="en-IN" dirty="0"/>
          </a:p>
        </p:txBody>
      </p:sp>
      <p:pic>
        <p:nvPicPr>
          <p:cNvPr id="1027" name="Picture 3"/>
          <p:cNvPicPr>
            <a:picLocks noChangeAspect="1" noChangeArrowheads="1"/>
          </p:cNvPicPr>
          <p:nvPr/>
        </p:nvPicPr>
        <p:blipFill>
          <a:blip r:embed="rId2"/>
          <a:srcRect/>
          <a:stretch>
            <a:fillRect/>
          </a:stretch>
        </p:blipFill>
        <p:spPr bwMode="auto">
          <a:xfrm>
            <a:off x="1057561" y="1491522"/>
            <a:ext cx="7629239" cy="584616"/>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Choosing </a:t>
            </a:r>
            <a:r>
              <a:rPr lang="el-GR" dirty="0" smtClean="0"/>
              <a:t>λ </a:t>
            </a:r>
            <a:r>
              <a:rPr lang="en-IN" dirty="0" smtClean="0"/>
              <a:t>Values</a:t>
            </a:r>
            <a:endParaRPr lang="en-IN" dirty="0"/>
          </a:p>
        </p:txBody>
      </p:sp>
      <p:sp>
        <p:nvSpPr>
          <p:cNvPr id="3" name="Content Placeholder 2"/>
          <p:cNvSpPr>
            <a:spLocks noGrp="1"/>
          </p:cNvSpPr>
          <p:nvPr>
            <p:ph idx="1"/>
          </p:nvPr>
        </p:nvSpPr>
        <p:spPr/>
        <p:txBody>
          <a:bodyPr/>
          <a:lstStyle/>
          <a:p>
            <a:r>
              <a:rPr lang="el-GR" dirty="0" smtClean="0"/>
              <a:t>λ </a:t>
            </a:r>
            <a:r>
              <a:rPr lang="en-IN" dirty="0" smtClean="0"/>
              <a:t>parameters are often tuned using:</a:t>
            </a:r>
          </a:p>
          <a:p>
            <a:endParaRPr lang="en-IN" dirty="0" smtClean="0"/>
          </a:p>
          <a:p>
            <a:pPr lvl="1"/>
            <a:r>
              <a:rPr lang="en-IN" b="1" dirty="0" smtClean="0"/>
              <a:t>Held-out data</a:t>
            </a:r>
            <a:r>
              <a:rPr lang="en-IN" dirty="0" smtClean="0"/>
              <a:t> (validation set).</a:t>
            </a:r>
          </a:p>
          <a:p>
            <a:pPr lvl="1"/>
            <a:r>
              <a:rPr lang="en-IN" dirty="0" smtClean="0"/>
              <a:t>Expectation-Maximization (EM)</a:t>
            </a:r>
            <a:r>
              <a:rPr lang="en-IN" b="1" dirty="0" smtClean="0"/>
              <a:t> algorithm</a:t>
            </a:r>
            <a:r>
              <a:rPr lang="en-IN" dirty="0" smtClean="0"/>
              <a:t> for optimization.</a:t>
            </a:r>
          </a:p>
          <a:p>
            <a:pPr lvl="1">
              <a:buNone/>
            </a:pPr>
            <a:endParaRPr lang="en-IN" dirty="0" smtClean="0"/>
          </a:p>
          <a:p>
            <a:r>
              <a:rPr lang="en-IN" dirty="0" smtClean="0"/>
              <a:t>Must ensure </a:t>
            </a:r>
            <a:r>
              <a:rPr lang="el-GR" dirty="0" smtClean="0"/>
              <a:t>λ</a:t>
            </a:r>
            <a:r>
              <a:rPr lang="el-GR" sz="2400" dirty="0" smtClean="0"/>
              <a:t>1</a:t>
            </a:r>
            <a:r>
              <a:rPr lang="el-GR" dirty="0" smtClean="0"/>
              <a:t>+λ</a:t>
            </a:r>
            <a:r>
              <a:rPr lang="el-GR" sz="2400" dirty="0" smtClean="0"/>
              <a:t>2</a:t>
            </a:r>
            <a:r>
              <a:rPr lang="el-GR" dirty="0" smtClean="0"/>
              <a:t>+λ</a:t>
            </a:r>
            <a:r>
              <a:rPr lang="el-GR" sz="2400" dirty="0" smtClean="0"/>
              <a:t>3</a:t>
            </a:r>
            <a:r>
              <a:rPr lang="el-GR" dirty="0" smtClean="0"/>
              <a:t>=1</a:t>
            </a:r>
          </a:p>
          <a:p>
            <a:endParaRPr lang="en-I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84536"/>
          </a:xfrm>
        </p:spPr>
        <p:txBody>
          <a:bodyPr>
            <a:normAutofit/>
          </a:bodyPr>
          <a:lstStyle/>
          <a:p>
            <a:r>
              <a:rPr lang="en-IN" b="1" dirty="0" smtClean="0"/>
              <a:t>Backoff Concept</a:t>
            </a:r>
            <a:endParaRPr lang="en-IN" dirty="0"/>
          </a:p>
        </p:txBody>
      </p:sp>
      <p:sp>
        <p:nvSpPr>
          <p:cNvPr id="3" name="Content Placeholder 2"/>
          <p:cNvSpPr>
            <a:spLocks noGrp="1"/>
          </p:cNvSpPr>
          <p:nvPr>
            <p:ph idx="1"/>
          </p:nvPr>
        </p:nvSpPr>
        <p:spPr/>
        <p:txBody>
          <a:bodyPr/>
          <a:lstStyle/>
          <a:p>
            <a:pPr algn="just"/>
            <a:r>
              <a:rPr lang="en-IN" dirty="0" smtClean="0"/>
              <a:t>Backoff uses the highest-order N-gram available.</a:t>
            </a:r>
          </a:p>
          <a:p>
            <a:pPr algn="just"/>
            <a:r>
              <a:rPr lang="en-IN" dirty="0" smtClean="0"/>
              <a:t>If the probability is zero, it </a:t>
            </a:r>
            <a:r>
              <a:rPr lang="en-IN" b="1" dirty="0" smtClean="0"/>
              <a:t>backs off</a:t>
            </a:r>
            <a:r>
              <a:rPr lang="en-IN" dirty="0" smtClean="0"/>
              <a:t> to a lower-order model:</a:t>
            </a:r>
          </a:p>
          <a:p>
            <a:pPr lvl="1" algn="just"/>
            <a:r>
              <a:rPr lang="en-IN" dirty="0" smtClean="0"/>
              <a:t>Try trigram → if unavailable → use bigram → if unavailable → use unigram.</a:t>
            </a:r>
          </a:p>
          <a:p>
            <a:pPr algn="just"/>
            <a:endParaRPr lang="en-I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1875" y="274638"/>
            <a:ext cx="7247744" cy="714713"/>
          </a:xfrm>
        </p:spPr>
        <p:txBody>
          <a:bodyPr>
            <a:normAutofit/>
          </a:bodyPr>
          <a:lstStyle/>
          <a:p>
            <a:r>
              <a:rPr lang="en-IN" sz="4000" dirty="0" smtClean="0"/>
              <a:t>Katz Backoff Formula</a:t>
            </a:r>
            <a:endParaRPr lang="en-IN" sz="4000" dirty="0"/>
          </a:p>
        </p:txBody>
      </p:sp>
      <p:pic>
        <p:nvPicPr>
          <p:cNvPr id="43010" name="Picture 2"/>
          <p:cNvPicPr>
            <a:picLocks noChangeAspect="1" noChangeArrowheads="1"/>
          </p:cNvPicPr>
          <p:nvPr/>
        </p:nvPicPr>
        <p:blipFill>
          <a:blip r:embed="rId2"/>
          <a:srcRect/>
          <a:stretch>
            <a:fillRect/>
          </a:stretch>
        </p:blipFill>
        <p:spPr bwMode="auto">
          <a:xfrm>
            <a:off x="284812" y="1102860"/>
            <a:ext cx="8686800" cy="1384903"/>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a:srcRect/>
          <a:stretch>
            <a:fillRect/>
          </a:stretch>
        </p:blipFill>
        <p:spPr bwMode="auto">
          <a:xfrm>
            <a:off x="624593" y="3364274"/>
            <a:ext cx="8229600" cy="1627458"/>
          </a:xfrm>
          <a:prstGeom prst="rect">
            <a:avLst/>
          </a:prstGeom>
          <a:noFill/>
          <a:ln w="9525">
            <a:noFill/>
            <a:miter lim="800000"/>
            <a:headEnd/>
            <a:tailEnd/>
          </a:ln>
          <a:effectLst/>
        </p:spPr>
      </p:pic>
      <p:sp>
        <p:nvSpPr>
          <p:cNvPr id="5" name="Rectangle 4"/>
          <p:cNvSpPr/>
          <p:nvPr/>
        </p:nvSpPr>
        <p:spPr>
          <a:xfrm>
            <a:off x="607103" y="4796859"/>
            <a:ext cx="8229599" cy="1754326"/>
          </a:xfrm>
          <a:prstGeom prst="rect">
            <a:avLst/>
          </a:prstGeom>
        </p:spPr>
        <p:txBody>
          <a:bodyPr wrap="square">
            <a:spAutoFit/>
          </a:bodyPr>
          <a:lstStyle/>
          <a:p>
            <a:pPr algn="just"/>
            <a:r>
              <a:rPr lang="en-IN" sz="2400" b="1" dirty="0" smtClean="0"/>
              <a:t>In this </a:t>
            </a:r>
            <a:r>
              <a:rPr lang="el-GR" sz="2400" b="1" dirty="0" smtClean="0"/>
              <a:t>α</a:t>
            </a:r>
            <a:r>
              <a:rPr lang="en-IN" sz="2400" b="1" dirty="0" smtClean="0"/>
              <a:t> :</a:t>
            </a:r>
          </a:p>
          <a:p>
            <a:pPr algn="just"/>
            <a:r>
              <a:rPr lang="en-IN" sz="2000" dirty="0" smtClean="0"/>
              <a:t>The </a:t>
            </a:r>
            <a:r>
              <a:rPr lang="en-IN" sz="2000" b="1" dirty="0" smtClean="0"/>
              <a:t>numerator</a:t>
            </a:r>
            <a:r>
              <a:rPr lang="en-IN" sz="2000" dirty="0" smtClean="0"/>
              <a:t> is the leftover probability mass after discounting observed trigrams.</a:t>
            </a:r>
          </a:p>
          <a:p>
            <a:pPr algn="just"/>
            <a:r>
              <a:rPr lang="en-IN" sz="2000" dirty="0" smtClean="0"/>
              <a:t>The </a:t>
            </a:r>
            <a:r>
              <a:rPr lang="en-IN" sz="2000" b="1" dirty="0" smtClean="0"/>
              <a:t>denominator</a:t>
            </a:r>
            <a:r>
              <a:rPr lang="en-IN" sz="2000" dirty="0" smtClean="0"/>
              <a:t> is the total probability mass assigned by the lower-order model to all </a:t>
            </a:r>
            <a:r>
              <a:rPr lang="en-IN" sz="2000" b="1" dirty="0" smtClean="0"/>
              <a:t>unseen trigrams</a:t>
            </a:r>
            <a:endParaRPr lang="en-IN" sz="2000" dirty="0"/>
          </a:p>
        </p:txBody>
      </p:sp>
      <p:sp>
        <p:nvSpPr>
          <p:cNvPr id="6" name="Rectangle 5"/>
          <p:cNvSpPr/>
          <p:nvPr/>
        </p:nvSpPr>
        <p:spPr>
          <a:xfrm>
            <a:off x="624593" y="2835669"/>
            <a:ext cx="8229599" cy="830997"/>
          </a:xfrm>
          <a:prstGeom prst="rect">
            <a:avLst/>
          </a:prstGeom>
        </p:spPr>
        <p:txBody>
          <a:bodyPr wrap="square">
            <a:spAutoFit/>
          </a:bodyPr>
          <a:lstStyle/>
          <a:p>
            <a:r>
              <a:rPr lang="en-IN" sz="2400" dirty="0" smtClean="0"/>
              <a:t>Where  d ----------&gt;  discount some probability for seen N-grams and </a:t>
            </a:r>
            <a:r>
              <a:rPr lang="en-IN" sz="2400" b="1" dirty="0" smtClean="0"/>
              <a:t>back off</a:t>
            </a:r>
            <a:r>
              <a:rPr lang="en-IN" sz="2400" dirty="0" smtClean="0"/>
              <a:t> to lower-order models.</a:t>
            </a:r>
            <a:r>
              <a:rPr lang="en-IN" sz="2400" dirty="0" smtClean="0">
                <a:sym typeface="Wingdings" pitchFamily="2" charset="2"/>
              </a:rPr>
              <a:t> </a:t>
            </a:r>
            <a:endParaRPr lang="en-IN"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800" dirty="0" smtClean="0"/>
              <a:t>Example</a:t>
            </a:r>
            <a:endParaRPr lang="en-IN" sz="4800" dirty="0"/>
          </a:p>
        </p:txBody>
      </p:sp>
      <p:sp>
        <p:nvSpPr>
          <p:cNvPr id="3" name="Content Placeholder 2"/>
          <p:cNvSpPr>
            <a:spLocks noGrp="1"/>
          </p:cNvSpPr>
          <p:nvPr>
            <p:ph idx="1"/>
          </p:nvPr>
        </p:nvSpPr>
        <p:spPr/>
        <p:txBody>
          <a:bodyPr>
            <a:normAutofit lnSpcReduction="10000"/>
          </a:bodyPr>
          <a:lstStyle/>
          <a:p>
            <a:r>
              <a:rPr lang="en-IN" b="1" dirty="0" smtClean="0"/>
              <a:t>Corpus</a:t>
            </a:r>
            <a:r>
              <a:rPr lang="en-IN" dirty="0" smtClean="0"/>
              <a:t>: “the cat sat on the mat”</a:t>
            </a:r>
          </a:p>
          <a:p>
            <a:pPr>
              <a:buNone/>
            </a:pPr>
            <a:r>
              <a:rPr lang="en-IN" dirty="0" smtClean="0"/>
              <a:t>Unigrams:				</a:t>
            </a:r>
          </a:p>
          <a:p>
            <a:pPr>
              <a:buNone/>
            </a:pPr>
            <a:r>
              <a:rPr lang="en-IN" dirty="0" smtClean="0"/>
              <a:t>C(the) = 2</a:t>
            </a:r>
          </a:p>
          <a:p>
            <a:pPr>
              <a:buNone/>
            </a:pPr>
            <a:r>
              <a:rPr lang="en-IN" dirty="0" smtClean="0"/>
              <a:t>C(cat) = 1</a:t>
            </a:r>
          </a:p>
          <a:p>
            <a:pPr>
              <a:buNone/>
            </a:pPr>
            <a:r>
              <a:rPr lang="en-IN" dirty="0" smtClean="0"/>
              <a:t>C(sat) = 1</a:t>
            </a:r>
          </a:p>
          <a:p>
            <a:pPr>
              <a:buNone/>
            </a:pPr>
            <a:r>
              <a:rPr lang="en-IN" dirty="0" smtClean="0"/>
              <a:t>C(on)  = 1</a:t>
            </a:r>
          </a:p>
          <a:p>
            <a:pPr>
              <a:buNone/>
            </a:pPr>
            <a:r>
              <a:rPr lang="en-IN" dirty="0" smtClean="0"/>
              <a:t>C(mat) = 1</a:t>
            </a:r>
          </a:p>
          <a:p>
            <a:pPr>
              <a:buNone/>
            </a:pPr>
            <a:r>
              <a:rPr lang="en-IN" dirty="0" smtClean="0"/>
              <a:t>Total tokens = 6</a:t>
            </a:r>
            <a:endParaRPr lang="en-IN" dirty="0"/>
          </a:p>
        </p:txBody>
      </p:sp>
      <p:sp>
        <p:nvSpPr>
          <p:cNvPr id="4" name="Rectangle 3"/>
          <p:cNvSpPr/>
          <p:nvPr/>
        </p:nvSpPr>
        <p:spPr>
          <a:xfrm>
            <a:off x="4571999" y="2248525"/>
            <a:ext cx="1443665" cy="523220"/>
          </a:xfrm>
          <a:prstGeom prst="rect">
            <a:avLst/>
          </a:prstGeom>
        </p:spPr>
        <p:txBody>
          <a:bodyPr wrap="none">
            <a:spAutoFit/>
          </a:bodyPr>
          <a:lstStyle/>
          <a:p>
            <a:r>
              <a:rPr lang="en-IN" sz="2800" dirty="0" smtClean="0"/>
              <a:t>Bigrams:</a:t>
            </a:r>
            <a:endParaRPr lang="en-IN" sz="2800" dirty="0"/>
          </a:p>
        </p:txBody>
      </p:sp>
      <p:sp>
        <p:nvSpPr>
          <p:cNvPr id="5" name="Rectangle 4"/>
          <p:cNvSpPr/>
          <p:nvPr/>
        </p:nvSpPr>
        <p:spPr>
          <a:xfrm>
            <a:off x="4114800" y="2771745"/>
            <a:ext cx="4572000" cy="2554545"/>
          </a:xfrm>
          <a:prstGeom prst="rect">
            <a:avLst/>
          </a:prstGeom>
        </p:spPr>
        <p:txBody>
          <a:bodyPr wrap="square">
            <a:spAutoFit/>
          </a:bodyPr>
          <a:lstStyle/>
          <a:p>
            <a:r>
              <a:rPr lang="en-IN" sz="3200" dirty="0" smtClean="0"/>
              <a:t>C(the cat) = 1</a:t>
            </a:r>
          </a:p>
          <a:p>
            <a:r>
              <a:rPr lang="en-IN" sz="3200" dirty="0" smtClean="0"/>
              <a:t>C(cat sat) = 1</a:t>
            </a:r>
          </a:p>
          <a:p>
            <a:r>
              <a:rPr lang="en-IN" sz="3200" dirty="0" smtClean="0"/>
              <a:t>C(sat on)  = 1</a:t>
            </a:r>
          </a:p>
          <a:p>
            <a:r>
              <a:rPr lang="en-IN" sz="3200" dirty="0" smtClean="0"/>
              <a:t>C(on the)  = 1</a:t>
            </a:r>
          </a:p>
          <a:p>
            <a:r>
              <a:rPr lang="en-IN" sz="3200" dirty="0" smtClean="0"/>
              <a:t>C(the mat) = 1</a:t>
            </a:r>
            <a:endParaRPr lang="en-IN" sz="3200" dirty="0"/>
          </a:p>
        </p:txBody>
      </p:sp>
      <p:sp>
        <p:nvSpPr>
          <p:cNvPr id="6" name="Rectangle 5"/>
          <p:cNvSpPr/>
          <p:nvPr/>
        </p:nvSpPr>
        <p:spPr>
          <a:xfrm>
            <a:off x="1136859" y="5941497"/>
            <a:ext cx="3237874" cy="523220"/>
          </a:xfrm>
          <a:prstGeom prst="rect">
            <a:avLst/>
          </a:prstGeom>
        </p:spPr>
        <p:txBody>
          <a:bodyPr wrap="none">
            <a:spAutoFit/>
          </a:bodyPr>
          <a:lstStyle/>
          <a:p>
            <a:r>
              <a:rPr lang="en-IN" sz="2800" dirty="0" smtClean="0"/>
              <a:t>We want to calculate</a:t>
            </a:r>
            <a:endParaRPr lang="en-IN" sz="2800" dirty="0"/>
          </a:p>
        </p:txBody>
      </p:sp>
      <p:sp>
        <p:nvSpPr>
          <p:cNvPr id="7" name="Rectangle 6"/>
          <p:cNvSpPr/>
          <p:nvPr/>
        </p:nvSpPr>
        <p:spPr>
          <a:xfrm>
            <a:off x="4571999" y="5879942"/>
            <a:ext cx="2209131" cy="584775"/>
          </a:xfrm>
          <a:prstGeom prst="rect">
            <a:avLst/>
          </a:prstGeom>
        </p:spPr>
        <p:txBody>
          <a:bodyPr wrap="none">
            <a:spAutoFit/>
          </a:bodyPr>
          <a:lstStyle/>
          <a:p>
            <a:r>
              <a:rPr lang="en-IN" sz="3200" dirty="0" smtClean="0"/>
              <a:t>P</a:t>
            </a:r>
            <a:r>
              <a:rPr lang="en-IN" dirty="0" smtClean="0"/>
              <a:t>Katz</a:t>
            </a:r>
            <a:r>
              <a:rPr lang="en-IN" sz="3200" dirty="0" smtClean="0"/>
              <a:t>​(sat∣the)</a:t>
            </a:r>
            <a:endParaRPr lang="en-IN" sz="3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64696"/>
            <a:ext cx="8229600" cy="5661468"/>
          </a:xfrm>
        </p:spPr>
        <p:txBody>
          <a:bodyPr/>
          <a:lstStyle/>
          <a:p>
            <a:pPr>
              <a:buNone/>
            </a:pPr>
            <a:r>
              <a:rPr lang="en-IN" dirty="0" smtClean="0"/>
              <a:t>Step 2: Identify Seen Bigrams for “</a:t>
            </a:r>
            <a:r>
              <a:rPr lang="en-IN" b="1" dirty="0" smtClean="0"/>
              <a:t>the</a:t>
            </a:r>
            <a:r>
              <a:rPr lang="en-IN" dirty="0" smtClean="0"/>
              <a:t>”</a:t>
            </a:r>
          </a:p>
          <a:p>
            <a:pPr>
              <a:buNone/>
            </a:pPr>
            <a:endParaRPr lang="en-IN" dirty="0" smtClean="0"/>
          </a:p>
          <a:p>
            <a:pPr>
              <a:buNone/>
            </a:pPr>
            <a:r>
              <a:rPr lang="en-IN" dirty="0" smtClean="0"/>
              <a:t>From bigram counts, we know:</a:t>
            </a:r>
          </a:p>
          <a:p>
            <a:pPr>
              <a:buNone/>
            </a:pPr>
            <a:r>
              <a:rPr lang="en-IN" dirty="0" smtClean="0"/>
              <a:t>		Seen: (the cat), (the mat)</a:t>
            </a:r>
          </a:p>
          <a:p>
            <a:pPr>
              <a:buNone/>
            </a:pPr>
            <a:r>
              <a:rPr lang="en-IN" dirty="0" smtClean="0"/>
              <a:t>	Unseen from "the": all others (e.g., the sat, the on)</a:t>
            </a:r>
          </a:p>
          <a:p>
            <a:pPr>
              <a:buNone/>
            </a:pPr>
            <a:endParaRPr lang="en-IN" dirty="0" smtClean="0"/>
          </a:p>
          <a:p>
            <a:pPr algn="just">
              <a:buNone/>
            </a:pPr>
            <a:r>
              <a:rPr lang="en-IN" dirty="0" smtClean="0"/>
              <a:t>Let’s set </a:t>
            </a:r>
            <a:r>
              <a:rPr lang="en-IN" b="1" dirty="0" smtClean="0"/>
              <a:t>Good-Turing discount d = 0.5</a:t>
            </a:r>
            <a:r>
              <a:rPr lang="en-IN" dirty="0" smtClean="0"/>
              <a:t> for simplicity</a:t>
            </a:r>
          </a:p>
          <a:p>
            <a:pPr>
              <a:buNone/>
            </a:pPr>
            <a:endParaRPr lang="en-I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9686"/>
            <a:ext cx="8229600" cy="5646478"/>
          </a:xfrm>
        </p:spPr>
        <p:txBody>
          <a:bodyPr/>
          <a:lstStyle/>
          <a:p>
            <a:r>
              <a:rPr lang="en-IN" dirty="0" smtClean="0"/>
              <a:t>Step 3: Calculate Discounted Probabilities for Seen Bigrams</a:t>
            </a:r>
          </a:p>
          <a:p>
            <a:endParaRPr lang="en-IN" dirty="0"/>
          </a:p>
        </p:txBody>
      </p:sp>
      <p:pic>
        <p:nvPicPr>
          <p:cNvPr id="1027" name="Picture 3"/>
          <p:cNvPicPr>
            <a:picLocks noChangeAspect="1" noChangeArrowheads="1"/>
          </p:cNvPicPr>
          <p:nvPr/>
        </p:nvPicPr>
        <p:blipFill>
          <a:blip r:embed="rId2"/>
          <a:srcRect/>
          <a:stretch>
            <a:fillRect/>
          </a:stretch>
        </p:blipFill>
        <p:spPr bwMode="auto">
          <a:xfrm>
            <a:off x="772540" y="2089255"/>
            <a:ext cx="7407157" cy="1928110"/>
          </a:xfrm>
          <a:prstGeom prst="rect">
            <a:avLst/>
          </a:prstGeom>
          <a:noFill/>
          <a:ln w="9525">
            <a:noFill/>
            <a:miter lim="800000"/>
            <a:headEnd/>
            <a:tailEnd/>
          </a:ln>
          <a:effectLst/>
        </p:spPr>
      </p:pic>
      <p:sp>
        <p:nvSpPr>
          <p:cNvPr id="6" name="Rectangle 5"/>
          <p:cNvSpPr/>
          <p:nvPr/>
        </p:nvSpPr>
        <p:spPr>
          <a:xfrm>
            <a:off x="457200" y="4542020"/>
            <a:ext cx="8229600" cy="954107"/>
          </a:xfrm>
          <a:prstGeom prst="rect">
            <a:avLst/>
          </a:prstGeom>
        </p:spPr>
        <p:txBody>
          <a:bodyPr wrap="square">
            <a:spAutoFit/>
          </a:bodyPr>
          <a:lstStyle/>
          <a:p>
            <a:r>
              <a:rPr lang="en-IN" sz="2800" dirty="0" smtClean="0"/>
              <a:t>So, total assigned probability to seen bigrams = </a:t>
            </a:r>
            <a:r>
              <a:rPr lang="en-IN" sz="2800" b="1" dirty="0" smtClean="0"/>
              <a:t>0.25 + 0.25 = 0.5</a:t>
            </a:r>
            <a:endParaRPr lang="en-IN" sz="2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7140" y="299804"/>
            <a:ext cx="8229600" cy="6265888"/>
          </a:xfrm>
        </p:spPr>
        <p:txBody>
          <a:bodyPr>
            <a:normAutofit fontScale="62500" lnSpcReduction="20000"/>
          </a:bodyPr>
          <a:lstStyle/>
          <a:p>
            <a:pPr>
              <a:buNone/>
            </a:pPr>
            <a:r>
              <a:rPr lang="en-IN" sz="3600" b="1" dirty="0" smtClean="0"/>
              <a:t>Step 4: </a:t>
            </a:r>
            <a:r>
              <a:rPr lang="en-IN" sz="3600" dirty="0" smtClean="0"/>
              <a:t>Compute Remaining Probability Mass</a:t>
            </a:r>
          </a:p>
          <a:p>
            <a:pPr indent="1635125">
              <a:buNone/>
            </a:pPr>
            <a:r>
              <a:rPr lang="en-IN" sz="3600" dirty="0" smtClean="0"/>
              <a:t>	1 − 0.5 = 0.5 	(leftover to distribute to unseen words)</a:t>
            </a:r>
          </a:p>
          <a:p>
            <a:pPr>
              <a:buNone/>
            </a:pPr>
            <a:endParaRPr lang="en-IN" sz="3600" b="1" dirty="0" smtClean="0"/>
          </a:p>
          <a:p>
            <a:pPr algn="just">
              <a:buNone/>
            </a:pPr>
            <a:r>
              <a:rPr lang="en-IN" sz="3600" b="1" dirty="0" smtClean="0"/>
              <a:t>Step 5: </a:t>
            </a:r>
            <a:r>
              <a:rPr lang="en-IN" sz="3600" dirty="0" smtClean="0"/>
              <a:t>Calculate </a:t>
            </a:r>
            <a:r>
              <a:rPr lang="el-GR" sz="3600" b="1" dirty="0" smtClean="0"/>
              <a:t>α(</a:t>
            </a:r>
            <a:r>
              <a:rPr lang="en-IN" sz="3600" b="1" dirty="0" smtClean="0"/>
              <a:t>the)</a:t>
            </a:r>
          </a:p>
          <a:p>
            <a:pPr algn="just">
              <a:buNone/>
            </a:pPr>
            <a:r>
              <a:rPr lang="en-IN" sz="3600" dirty="0" smtClean="0"/>
              <a:t>We now back off to unigram probabilities for unseen bigrams</a:t>
            </a:r>
          </a:p>
          <a:p>
            <a:pPr algn="just">
              <a:buNone/>
            </a:pPr>
            <a:r>
              <a:rPr lang="en-IN" sz="3600" dirty="0" smtClean="0"/>
              <a:t>Let’s assume:</a:t>
            </a:r>
          </a:p>
          <a:p>
            <a:pPr indent="1095375">
              <a:buNone/>
            </a:pPr>
            <a:r>
              <a:rPr lang="en-IN" sz="3600" dirty="0" smtClean="0"/>
              <a:t>P(sat) = 1/6</a:t>
            </a:r>
          </a:p>
          <a:p>
            <a:pPr indent="1095375">
              <a:buNone/>
            </a:pPr>
            <a:r>
              <a:rPr lang="en-IN" sz="3600" dirty="0" smtClean="0"/>
              <a:t>P(on) = 1/6</a:t>
            </a:r>
          </a:p>
          <a:p>
            <a:pPr indent="1095375">
              <a:buNone/>
            </a:pPr>
            <a:r>
              <a:rPr lang="en-IN" sz="3600" dirty="0" smtClean="0"/>
              <a:t>P(others) = ...</a:t>
            </a:r>
          </a:p>
          <a:p>
            <a:pPr>
              <a:buNone/>
            </a:pPr>
            <a:r>
              <a:rPr lang="en-IN" sz="3600" dirty="0" smtClean="0"/>
              <a:t>Among unseen from "</a:t>
            </a:r>
            <a:r>
              <a:rPr lang="en-IN" sz="3600" b="1" dirty="0" smtClean="0"/>
              <a:t>the</a:t>
            </a:r>
            <a:r>
              <a:rPr lang="en-IN" sz="3600" dirty="0" smtClean="0"/>
              <a:t>", let’s say:</a:t>
            </a:r>
          </a:p>
          <a:p>
            <a:pPr indent="1095375">
              <a:buNone/>
            </a:pPr>
            <a:r>
              <a:rPr lang="en-IN" sz="3600" dirty="0" smtClean="0"/>
              <a:t>(the sat)</a:t>
            </a:r>
          </a:p>
          <a:p>
            <a:pPr indent="1095375">
              <a:buNone/>
            </a:pPr>
            <a:r>
              <a:rPr lang="en-IN" sz="3600" dirty="0" smtClean="0"/>
              <a:t>(the on)</a:t>
            </a:r>
          </a:p>
          <a:p>
            <a:pPr>
              <a:buNone/>
            </a:pPr>
            <a:r>
              <a:rPr lang="en-IN" sz="3600" dirty="0" smtClean="0"/>
              <a:t>Unseen bigrams: </a:t>
            </a:r>
            <a:r>
              <a:rPr lang="en-IN" sz="3600" b="1" dirty="0" smtClean="0"/>
              <a:t>{sat, on}</a:t>
            </a:r>
            <a:r>
              <a:rPr lang="en-IN" sz="3600" dirty="0" smtClean="0"/>
              <a:t> → Unigram probabilities sum = 1/6 + 1/6 = </a:t>
            </a:r>
            <a:r>
              <a:rPr lang="en-IN" sz="3600" b="1" dirty="0" smtClean="0"/>
              <a:t>1/3</a:t>
            </a:r>
          </a:p>
          <a:p>
            <a:pPr>
              <a:buNone/>
            </a:pPr>
            <a:endParaRPr lang="en-IN" sz="3600" dirty="0" smtClean="0"/>
          </a:p>
          <a:p>
            <a:pPr>
              <a:buNone/>
            </a:pPr>
            <a:r>
              <a:rPr lang="en-IN" sz="3600" b="1" dirty="0" smtClean="0"/>
              <a:t>Now compute:			α(the) </a:t>
            </a:r>
            <a:r>
              <a:rPr lang="en-IN" sz="3600" dirty="0" smtClean="0"/>
              <a:t>= 0.5/(1/3) = 1.5</a:t>
            </a:r>
            <a:endParaRPr lang="en-IN" sz="2200" dirty="0" smtClean="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29784"/>
            <a:ext cx="8229600" cy="5796379"/>
          </a:xfrm>
        </p:spPr>
        <p:txBody>
          <a:bodyPr/>
          <a:lstStyle/>
          <a:p>
            <a:pPr>
              <a:buNone/>
            </a:pPr>
            <a:r>
              <a:rPr lang="en-IN" dirty="0" smtClean="0"/>
              <a:t>Step 6: Compute Backoff Probability</a:t>
            </a:r>
          </a:p>
          <a:p>
            <a:pPr>
              <a:buNone/>
            </a:pPr>
            <a:r>
              <a:rPr lang="en-IN" dirty="0" smtClean="0"/>
              <a:t>	</a:t>
            </a:r>
            <a:endParaRPr lang="en-IN" dirty="0"/>
          </a:p>
        </p:txBody>
      </p:sp>
      <p:pic>
        <p:nvPicPr>
          <p:cNvPr id="2050" name="Picture 2"/>
          <p:cNvPicPr>
            <a:picLocks noChangeAspect="1" noChangeArrowheads="1"/>
          </p:cNvPicPr>
          <p:nvPr/>
        </p:nvPicPr>
        <p:blipFill>
          <a:blip r:embed="rId2"/>
          <a:srcRect/>
          <a:stretch>
            <a:fillRect/>
          </a:stretch>
        </p:blipFill>
        <p:spPr bwMode="auto">
          <a:xfrm>
            <a:off x="1643063" y="1198588"/>
            <a:ext cx="6345919" cy="780113"/>
          </a:xfrm>
          <a:prstGeom prst="rect">
            <a:avLst/>
          </a:prstGeom>
          <a:noFill/>
          <a:ln w="9525">
            <a:noFill/>
            <a:miter lim="800000"/>
            <a:headEnd/>
            <a:tailEnd/>
          </a:ln>
          <a:effectLst/>
        </p:spPr>
      </p:pic>
      <p:sp>
        <p:nvSpPr>
          <p:cNvPr id="5" name="Rectangle 4"/>
          <p:cNvSpPr/>
          <p:nvPr/>
        </p:nvSpPr>
        <p:spPr>
          <a:xfrm>
            <a:off x="697043" y="2505669"/>
            <a:ext cx="7622498" cy="1384995"/>
          </a:xfrm>
          <a:prstGeom prst="rect">
            <a:avLst/>
          </a:prstGeom>
        </p:spPr>
        <p:txBody>
          <a:bodyPr wrap="square">
            <a:spAutoFit/>
          </a:bodyPr>
          <a:lstStyle/>
          <a:p>
            <a:r>
              <a:rPr lang="en-IN" sz="2800" b="1" dirty="0" smtClean="0"/>
              <a:t>Final Result</a:t>
            </a:r>
          </a:p>
          <a:p>
            <a:endParaRPr lang="en-IN" sz="2800" b="1" dirty="0" smtClean="0"/>
          </a:p>
          <a:p>
            <a:r>
              <a:rPr lang="en-IN" sz="2800" dirty="0" smtClean="0"/>
              <a:t>				P</a:t>
            </a:r>
            <a:r>
              <a:rPr lang="en-IN" dirty="0" smtClean="0"/>
              <a:t>Katz</a:t>
            </a:r>
            <a:r>
              <a:rPr lang="en-IN" sz="2800" dirty="0" smtClean="0"/>
              <a:t>(</a:t>
            </a:r>
            <a:r>
              <a:rPr lang="en-IN" sz="2800" dirty="0" err="1" smtClean="0"/>
              <a:t>sat∣the</a:t>
            </a:r>
            <a:r>
              <a:rPr lang="en-IN" sz="2800" dirty="0" smtClean="0"/>
              <a:t>)=0.25</a:t>
            </a:r>
            <a:endParaRPr lang="en-IN" sz="2800" dirty="0"/>
          </a:p>
        </p:txBody>
      </p:sp>
      <p:sp>
        <p:nvSpPr>
          <p:cNvPr id="6" name="Rectangle 5"/>
          <p:cNvSpPr/>
          <p:nvPr/>
        </p:nvSpPr>
        <p:spPr>
          <a:xfrm>
            <a:off x="457200" y="4497049"/>
            <a:ext cx="8229600" cy="830997"/>
          </a:xfrm>
          <a:prstGeom prst="rect">
            <a:avLst/>
          </a:prstGeom>
        </p:spPr>
        <p:txBody>
          <a:bodyPr wrap="square">
            <a:spAutoFit/>
          </a:bodyPr>
          <a:lstStyle/>
          <a:p>
            <a:pPr algn="just"/>
            <a:r>
              <a:rPr lang="en-IN" sz="2400" dirty="0" smtClean="0"/>
              <a:t>This means Katz assigns </a:t>
            </a:r>
            <a:r>
              <a:rPr lang="en-IN" sz="2400" b="1" dirty="0" smtClean="0"/>
              <a:t>0.25</a:t>
            </a:r>
            <a:r>
              <a:rPr lang="en-IN" sz="2400" dirty="0" smtClean="0"/>
              <a:t> probability to an </a:t>
            </a:r>
            <a:r>
              <a:rPr lang="en-IN" sz="2400" b="1" dirty="0" smtClean="0"/>
              <a:t>unseen bigram</a:t>
            </a:r>
            <a:r>
              <a:rPr lang="en-IN" sz="2400" dirty="0" smtClean="0"/>
              <a:t> using α and backing off to a unigram.</a:t>
            </a:r>
            <a:endParaRPr lang="en-IN"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 2</a:t>
            </a:r>
            <a:endParaRPr lang="en-IN" dirty="0"/>
          </a:p>
        </p:txBody>
      </p:sp>
      <p:sp>
        <p:nvSpPr>
          <p:cNvPr id="3" name="Content Placeholder 2"/>
          <p:cNvSpPr>
            <a:spLocks noGrp="1"/>
          </p:cNvSpPr>
          <p:nvPr>
            <p:ph idx="1"/>
          </p:nvPr>
        </p:nvSpPr>
        <p:spPr>
          <a:xfrm>
            <a:off x="457200" y="1214204"/>
            <a:ext cx="8229600" cy="4911960"/>
          </a:xfrm>
        </p:spPr>
        <p:txBody>
          <a:bodyPr/>
          <a:lstStyle/>
          <a:p>
            <a:pPr>
              <a:buNone/>
            </a:pPr>
            <a:r>
              <a:rPr lang="en-IN" b="1" dirty="0" smtClean="0"/>
              <a:t>Corpus:</a:t>
            </a:r>
            <a:r>
              <a:rPr lang="en-IN" dirty="0" smtClean="0"/>
              <a:t>		"data is power. data is useful”</a:t>
            </a:r>
          </a:p>
          <a:p>
            <a:pPr>
              <a:buNone/>
            </a:pPr>
            <a:r>
              <a:rPr lang="en-IN" b="1" dirty="0" smtClean="0"/>
              <a:t>Find the probability of P(</a:t>
            </a:r>
            <a:r>
              <a:rPr lang="en-IN" b="1" dirty="0" err="1" smtClean="0"/>
              <a:t>data|is</a:t>
            </a:r>
            <a:r>
              <a:rPr lang="en-IN" b="1" dirty="0" smtClean="0"/>
              <a:t>)</a:t>
            </a:r>
          </a:p>
          <a:p>
            <a:pPr>
              <a:buNone/>
            </a:pPr>
            <a:r>
              <a:rPr lang="en-IN" b="1" dirty="0" smtClean="0"/>
              <a:t>Tokenized:</a:t>
            </a:r>
            <a:r>
              <a:rPr lang="en-IN" dirty="0" smtClean="0"/>
              <a:t/>
            </a:r>
            <a:br>
              <a:rPr lang="en-IN" dirty="0" smtClean="0"/>
            </a:br>
            <a:r>
              <a:rPr lang="en-IN" dirty="0" smtClean="0"/>
              <a:t>[data, is, power, data, is, useful]</a:t>
            </a:r>
          </a:p>
          <a:p>
            <a:pPr>
              <a:buNone/>
            </a:pPr>
            <a:endParaRPr lang="en-IN" dirty="0"/>
          </a:p>
        </p:txBody>
      </p:sp>
      <p:graphicFrame>
        <p:nvGraphicFramePr>
          <p:cNvPr id="5" name="Table 4"/>
          <p:cNvGraphicFramePr>
            <a:graphicFrameLocks noGrp="1"/>
          </p:cNvGraphicFramePr>
          <p:nvPr/>
        </p:nvGraphicFramePr>
        <p:xfrm>
          <a:off x="936880" y="4451843"/>
          <a:ext cx="2136098" cy="1854200"/>
        </p:xfrm>
        <a:graphic>
          <a:graphicData uri="http://schemas.openxmlformats.org/drawingml/2006/table">
            <a:tbl>
              <a:tblPr firstRow="1" bandRow="1">
                <a:tableStyleId>{5C22544A-7EE6-4342-B048-85BDC9FD1C3A}</a:tableStyleId>
              </a:tblPr>
              <a:tblGrid>
                <a:gridCol w="1068049"/>
                <a:gridCol w="1068049"/>
              </a:tblGrid>
              <a:tr h="370840">
                <a:tc>
                  <a:txBody>
                    <a:bodyPr/>
                    <a:lstStyle/>
                    <a:p>
                      <a:r>
                        <a:rPr lang="en-IN" dirty="0" smtClean="0"/>
                        <a:t>Word</a:t>
                      </a:r>
                      <a:endParaRPr lang="en-IN" dirty="0"/>
                    </a:p>
                  </a:txBody>
                  <a:tcPr/>
                </a:tc>
                <a:tc>
                  <a:txBody>
                    <a:bodyPr/>
                    <a:lstStyle/>
                    <a:p>
                      <a:r>
                        <a:rPr lang="en-IN" dirty="0" smtClean="0"/>
                        <a:t>Count</a:t>
                      </a:r>
                      <a:endParaRPr lang="en-IN" dirty="0"/>
                    </a:p>
                  </a:txBody>
                  <a:tcPr/>
                </a:tc>
              </a:tr>
              <a:tr h="370840">
                <a:tc>
                  <a:txBody>
                    <a:bodyPr/>
                    <a:lstStyle/>
                    <a:p>
                      <a:r>
                        <a:rPr lang="en-IN" dirty="0" smtClean="0"/>
                        <a:t>Data</a:t>
                      </a:r>
                      <a:endParaRPr lang="en-IN" dirty="0"/>
                    </a:p>
                  </a:txBody>
                  <a:tcPr/>
                </a:tc>
                <a:tc>
                  <a:txBody>
                    <a:bodyPr/>
                    <a:lstStyle/>
                    <a:p>
                      <a:r>
                        <a:rPr lang="en-IN" dirty="0" smtClean="0"/>
                        <a:t>2</a:t>
                      </a:r>
                      <a:endParaRPr lang="en-IN" dirty="0"/>
                    </a:p>
                  </a:txBody>
                  <a:tcPr/>
                </a:tc>
              </a:tr>
              <a:tr h="370840">
                <a:tc>
                  <a:txBody>
                    <a:bodyPr/>
                    <a:lstStyle/>
                    <a:p>
                      <a:r>
                        <a:rPr lang="en-IN" smtClean="0"/>
                        <a:t>Is</a:t>
                      </a:r>
                      <a:endParaRPr lang="en-IN" dirty="0"/>
                    </a:p>
                  </a:txBody>
                  <a:tcPr/>
                </a:tc>
                <a:tc>
                  <a:txBody>
                    <a:bodyPr/>
                    <a:lstStyle/>
                    <a:p>
                      <a:r>
                        <a:rPr lang="en-IN" dirty="0" smtClean="0"/>
                        <a:t>2</a:t>
                      </a:r>
                      <a:endParaRPr lang="en-IN" dirty="0"/>
                    </a:p>
                  </a:txBody>
                  <a:tcPr/>
                </a:tc>
              </a:tr>
              <a:tr h="370840">
                <a:tc>
                  <a:txBody>
                    <a:bodyPr/>
                    <a:lstStyle/>
                    <a:p>
                      <a:r>
                        <a:rPr lang="en-IN" smtClean="0"/>
                        <a:t>Power</a:t>
                      </a:r>
                      <a:endParaRPr lang="en-IN" dirty="0"/>
                    </a:p>
                  </a:txBody>
                  <a:tcPr/>
                </a:tc>
                <a:tc>
                  <a:txBody>
                    <a:bodyPr/>
                    <a:lstStyle/>
                    <a:p>
                      <a:r>
                        <a:rPr lang="en-IN" dirty="0" smtClean="0"/>
                        <a:t>1</a:t>
                      </a:r>
                      <a:endParaRPr lang="en-IN" dirty="0"/>
                    </a:p>
                  </a:txBody>
                  <a:tcPr/>
                </a:tc>
              </a:tr>
              <a:tr h="370840">
                <a:tc>
                  <a:txBody>
                    <a:bodyPr/>
                    <a:lstStyle/>
                    <a:p>
                      <a:r>
                        <a:rPr lang="en-IN" dirty="0" smtClean="0"/>
                        <a:t>Useful</a:t>
                      </a:r>
                      <a:endParaRPr lang="en-IN" dirty="0"/>
                    </a:p>
                  </a:txBody>
                  <a:tcPr/>
                </a:tc>
                <a:tc>
                  <a:txBody>
                    <a:bodyPr/>
                    <a:lstStyle/>
                    <a:p>
                      <a:r>
                        <a:rPr lang="en-IN" dirty="0" smtClean="0"/>
                        <a:t>1</a:t>
                      </a:r>
                      <a:endParaRPr lang="en-IN" dirty="0"/>
                    </a:p>
                  </a:txBody>
                  <a:tcPr/>
                </a:tc>
              </a:tr>
            </a:tbl>
          </a:graphicData>
        </a:graphic>
      </p:graphicFrame>
      <p:sp>
        <p:nvSpPr>
          <p:cNvPr id="6" name="Rectangle 5"/>
          <p:cNvSpPr/>
          <p:nvPr/>
        </p:nvSpPr>
        <p:spPr>
          <a:xfrm>
            <a:off x="846940" y="3891860"/>
            <a:ext cx="1960793" cy="400110"/>
          </a:xfrm>
          <a:prstGeom prst="rect">
            <a:avLst/>
          </a:prstGeom>
        </p:spPr>
        <p:txBody>
          <a:bodyPr wrap="none">
            <a:spAutoFit/>
          </a:bodyPr>
          <a:lstStyle/>
          <a:p>
            <a:r>
              <a:rPr lang="en-IN" sz="2000" b="1" dirty="0" smtClean="0"/>
              <a:t>Unigram Counts:</a:t>
            </a:r>
            <a:endParaRPr lang="en-IN" sz="2000" b="1" dirty="0"/>
          </a:p>
        </p:txBody>
      </p:sp>
      <p:sp>
        <p:nvSpPr>
          <p:cNvPr id="7" name="Rectangle 6"/>
          <p:cNvSpPr/>
          <p:nvPr/>
        </p:nvSpPr>
        <p:spPr>
          <a:xfrm>
            <a:off x="4517444" y="3936830"/>
            <a:ext cx="1800493" cy="400110"/>
          </a:xfrm>
          <a:prstGeom prst="rect">
            <a:avLst/>
          </a:prstGeom>
        </p:spPr>
        <p:txBody>
          <a:bodyPr wrap="none">
            <a:spAutoFit/>
          </a:bodyPr>
          <a:lstStyle/>
          <a:p>
            <a:r>
              <a:rPr lang="en-IN" sz="2000" b="1" dirty="0" smtClean="0"/>
              <a:t>Bigram Counts:</a:t>
            </a:r>
            <a:endParaRPr lang="en-IN" sz="2000" b="1" dirty="0"/>
          </a:p>
        </p:txBody>
      </p:sp>
      <p:graphicFrame>
        <p:nvGraphicFramePr>
          <p:cNvPr id="8" name="Table 7"/>
          <p:cNvGraphicFramePr>
            <a:graphicFrameLocks noGrp="1"/>
          </p:cNvGraphicFramePr>
          <p:nvPr/>
        </p:nvGraphicFramePr>
        <p:xfrm>
          <a:off x="5068314" y="4664203"/>
          <a:ext cx="2321828" cy="1483360"/>
        </p:xfrm>
        <a:graphic>
          <a:graphicData uri="http://schemas.openxmlformats.org/drawingml/2006/table">
            <a:tbl>
              <a:tblPr firstRow="1" bandRow="1">
                <a:tableStyleId>{5C22544A-7EE6-4342-B048-85BDC9FD1C3A}</a:tableStyleId>
              </a:tblPr>
              <a:tblGrid>
                <a:gridCol w="1464626"/>
                <a:gridCol w="857202"/>
              </a:tblGrid>
              <a:tr h="370840">
                <a:tc>
                  <a:txBody>
                    <a:bodyPr/>
                    <a:lstStyle/>
                    <a:p>
                      <a:r>
                        <a:rPr lang="en-IN" dirty="0" smtClean="0"/>
                        <a:t>Word</a:t>
                      </a:r>
                      <a:endParaRPr lang="en-IN" dirty="0"/>
                    </a:p>
                  </a:txBody>
                  <a:tcPr/>
                </a:tc>
                <a:tc>
                  <a:txBody>
                    <a:bodyPr/>
                    <a:lstStyle/>
                    <a:p>
                      <a:r>
                        <a:rPr lang="en-IN" dirty="0" smtClean="0"/>
                        <a:t>Count</a:t>
                      </a:r>
                      <a:endParaRPr lang="en-IN" dirty="0"/>
                    </a:p>
                  </a:txBody>
                  <a:tcPr/>
                </a:tc>
              </a:tr>
              <a:tr h="370840">
                <a:tc>
                  <a:txBody>
                    <a:bodyPr/>
                    <a:lstStyle/>
                    <a:p>
                      <a:r>
                        <a:rPr lang="en-IN" dirty="0" smtClean="0"/>
                        <a:t>Data is</a:t>
                      </a:r>
                      <a:endParaRPr lang="en-IN" dirty="0"/>
                    </a:p>
                  </a:txBody>
                  <a:tcPr/>
                </a:tc>
                <a:tc>
                  <a:txBody>
                    <a:bodyPr/>
                    <a:lstStyle/>
                    <a:p>
                      <a:r>
                        <a:rPr lang="en-IN" dirty="0" smtClean="0"/>
                        <a:t>2</a:t>
                      </a:r>
                      <a:endParaRPr lang="en-IN" dirty="0"/>
                    </a:p>
                  </a:txBody>
                  <a:tcPr/>
                </a:tc>
              </a:tr>
              <a:tr h="370840">
                <a:tc>
                  <a:txBody>
                    <a:bodyPr/>
                    <a:lstStyle/>
                    <a:p>
                      <a:r>
                        <a:rPr lang="en-IN" dirty="0" smtClean="0"/>
                        <a:t>Is powerful</a:t>
                      </a:r>
                      <a:endParaRPr lang="en-IN" dirty="0"/>
                    </a:p>
                  </a:txBody>
                  <a:tcPr/>
                </a:tc>
                <a:tc>
                  <a:txBody>
                    <a:bodyPr/>
                    <a:lstStyle/>
                    <a:p>
                      <a:r>
                        <a:rPr lang="en-IN" dirty="0" smtClean="0"/>
                        <a:t>1</a:t>
                      </a:r>
                      <a:endParaRPr lang="en-IN" dirty="0"/>
                    </a:p>
                  </a:txBody>
                  <a:tcPr/>
                </a:tc>
              </a:tr>
              <a:tr h="370840">
                <a:tc>
                  <a:txBody>
                    <a:bodyPr/>
                    <a:lstStyle/>
                    <a:p>
                      <a:r>
                        <a:rPr lang="en-IN" dirty="0" smtClean="0"/>
                        <a:t>Is useful</a:t>
                      </a:r>
                      <a:endParaRPr lang="en-IN" dirty="0"/>
                    </a:p>
                  </a:txBody>
                  <a:tcPr/>
                </a:tc>
                <a:tc>
                  <a:txBody>
                    <a:bodyPr/>
                    <a:lstStyle/>
                    <a:p>
                      <a:r>
                        <a:rPr lang="en-IN" dirty="0" smtClean="0"/>
                        <a:t>1</a:t>
                      </a:r>
                      <a:endParaRPr lang="en-IN" dirty="0"/>
                    </a:p>
                  </a:txBody>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24262" y="668417"/>
            <a:ext cx="5879017" cy="584775"/>
          </a:xfrm>
          <a:prstGeom prst="rect">
            <a:avLst/>
          </a:prstGeom>
        </p:spPr>
        <p:txBody>
          <a:bodyPr wrap="square">
            <a:spAutoFit/>
          </a:bodyPr>
          <a:lstStyle/>
          <a:p>
            <a:r>
              <a:rPr lang="en-IN" sz="3200" dirty="0" smtClean="0"/>
              <a:t>Since </a:t>
            </a:r>
            <a:r>
              <a:rPr lang="en-IN" sz="3200" b="1" dirty="0" smtClean="0"/>
              <a:t>count(is, data) = 0</a:t>
            </a:r>
            <a:r>
              <a:rPr lang="en-IN" sz="3200" dirty="0" smtClean="0"/>
              <a:t>, use:</a:t>
            </a:r>
            <a:endParaRPr lang="en-IN" sz="3200" dirty="0"/>
          </a:p>
        </p:txBody>
      </p:sp>
      <p:pic>
        <p:nvPicPr>
          <p:cNvPr id="1027" name="Picture 3"/>
          <p:cNvPicPr>
            <a:picLocks noChangeAspect="1" noChangeArrowheads="1"/>
          </p:cNvPicPr>
          <p:nvPr/>
        </p:nvPicPr>
        <p:blipFill>
          <a:blip r:embed="rId2"/>
          <a:srcRect/>
          <a:stretch>
            <a:fillRect/>
          </a:stretch>
        </p:blipFill>
        <p:spPr bwMode="auto">
          <a:xfrm>
            <a:off x="1689751" y="1865427"/>
            <a:ext cx="5520518" cy="766193"/>
          </a:xfrm>
          <a:prstGeom prst="rect">
            <a:avLst/>
          </a:prstGeom>
          <a:noFill/>
          <a:ln w="9525">
            <a:noFill/>
            <a:miter lim="800000"/>
            <a:headEnd/>
            <a:tailEnd/>
          </a:ln>
          <a:effectLst/>
        </p:spPr>
      </p:pic>
      <p:sp>
        <p:nvSpPr>
          <p:cNvPr id="7" name="Rectangle 6"/>
          <p:cNvSpPr/>
          <p:nvPr/>
        </p:nvSpPr>
        <p:spPr>
          <a:xfrm>
            <a:off x="836574" y="3336667"/>
            <a:ext cx="8307426" cy="523220"/>
          </a:xfrm>
          <a:prstGeom prst="rect">
            <a:avLst/>
          </a:prstGeom>
        </p:spPr>
        <p:txBody>
          <a:bodyPr wrap="square">
            <a:spAutoFit/>
          </a:bodyPr>
          <a:lstStyle/>
          <a:p>
            <a:r>
              <a:rPr lang="en-IN" sz="2800" dirty="0" smtClean="0"/>
              <a:t>Unigram probability (Maximum Likelihood Estimate):</a:t>
            </a:r>
            <a:endParaRPr lang="en-IN" sz="2800" dirty="0"/>
          </a:p>
        </p:txBody>
      </p:sp>
      <p:sp>
        <p:nvSpPr>
          <p:cNvPr id="9" name="Rectangle 8"/>
          <p:cNvSpPr/>
          <p:nvPr/>
        </p:nvSpPr>
        <p:spPr>
          <a:xfrm>
            <a:off x="836574" y="4272196"/>
            <a:ext cx="7752790" cy="127416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3200" dirty="0" smtClean="0">
                <a:solidFill>
                  <a:schemeClr val="tx1"/>
                </a:solidFill>
              </a:rPr>
              <a:t>P</a:t>
            </a:r>
            <a:r>
              <a:rPr lang="en-IN" sz="1600" dirty="0" smtClean="0">
                <a:solidFill>
                  <a:schemeClr val="tx1"/>
                </a:solidFill>
              </a:rPr>
              <a:t>BO</a:t>
            </a:r>
            <a:r>
              <a:rPr lang="en-IN" sz="3200" dirty="0" smtClean="0">
                <a:solidFill>
                  <a:schemeClr val="tx1"/>
                </a:solidFill>
              </a:rPr>
              <a:t>(data) = C(data)/total no. of words = 2/6 													=1/3 = 0.33</a:t>
            </a:r>
            <a:endParaRPr lang="en-IN" sz="3200" dirty="0">
              <a:solidFill>
                <a:schemeClr val="tx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734"/>
            <a:ext cx="8229600" cy="5721429"/>
          </a:xfrm>
        </p:spPr>
        <p:txBody>
          <a:bodyPr/>
          <a:lstStyle/>
          <a:p>
            <a:pPr>
              <a:buNone/>
            </a:pPr>
            <a:r>
              <a:rPr lang="en-IN" dirty="0" smtClean="0"/>
              <a:t>Compute </a:t>
            </a:r>
            <a:r>
              <a:rPr lang="el-GR" dirty="0" smtClean="0"/>
              <a:t>α(</a:t>
            </a:r>
            <a:r>
              <a:rPr lang="en-IN" dirty="0" smtClean="0"/>
              <a:t>is)</a:t>
            </a:r>
            <a:endParaRPr lang="en-IN" dirty="0"/>
          </a:p>
        </p:txBody>
      </p:sp>
      <p:pic>
        <p:nvPicPr>
          <p:cNvPr id="2050" name="Picture 2"/>
          <p:cNvPicPr>
            <a:picLocks noChangeAspect="1" noChangeArrowheads="1"/>
          </p:cNvPicPr>
          <p:nvPr/>
        </p:nvPicPr>
        <p:blipFill>
          <a:blip r:embed="rId2"/>
          <a:srcRect/>
          <a:stretch>
            <a:fillRect/>
          </a:stretch>
        </p:blipFill>
        <p:spPr bwMode="auto">
          <a:xfrm>
            <a:off x="1126527" y="963429"/>
            <a:ext cx="6600076" cy="1494957"/>
          </a:xfrm>
          <a:prstGeom prst="rect">
            <a:avLst/>
          </a:prstGeom>
          <a:noFill/>
          <a:ln w="9525">
            <a:noFill/>
            <a:miter lim="800000"/>
            <a:headEnd/>
            <a:tailEnd/>
          </a:ln>
          <a:effectLst/>
        </p:spPr>
      </p:pic>
      <p:sp>
        <p:nvSpPr>
          <p:cNvPr id="7" name="Rectangle 6"/>
          <p:cNvSpPr/>
          <p:nvPr/>
        </p:nvSpPr>
        <p:spPr>
          <a:xfrm>
            <a:off x="457200" y="2828835"/>
            <a:ext cx="7560273" cy="3046988"/>
          </a:xfrm>
          <a:prstGeom prst="rect">
            <a:avLst/>
          </a:prstGeom>
        </p:spPr>
        <p:txBody>
          <a:bodyPr wrap="square">
            <a:spAutoFit/>
          </a:bodyPr>
          <a:lstStyle/>
          <a:p>
            <a:pPr algn="just"/>
            <a:r>
              <a:rPr lang="en-IN" sz="3200" dirty="0" smtClean="0"/>
              <a:t>Here for “is” word the seen bigrams are:</a:t>
            </a:r>
          </a:p>
          <a:p>
            <a:pPr algn="ctr"/>
            <a:r>
              <a:rPr lang="en-IN" sz="3200" dirty="0" smtClean="0"/>
              <a:t>(is, power)</a:t>
            </a:r>
          </a:p>
          <a:p>
            <a:pPr algn="ctr"/>
            <a:r>
              <a:rPr lang="en-IN" sz="3200" dirty="0" smtClean="0"/>
              <a:t>(is, useful)</a:t>
            </a:r>
          </a:p>
          <a:p>
            <a:pPr algn="just"/>
            <a:endParaRPr lang="en-IN" sz="3200" dirty="0" smtClean="0"/>
          </a:p>
          <a:p>
            <a:pPr algn="just"/>
            <a:r>
              <a:rPr lang="en-IN" sz="3200" b="1" dirty="0" smtClean="0"/>
              <a:t>Assume discounted probabilities:</a:t>
            </a:r>
          </a:p>
          <a:p>
            <a:pPr algn="just"/>
            <a:r>
              <a:rPr lang="en-IN" sz="3200" dirty="0" smtClean="0"/>
              <a:t>Let’s assume a fixed discount </a:t>
            </a:r>
            <a:r>
              <a:rPr lang="en-IN" sz="3200" b="1" dirty="0" smtClean="0"/>
              <a:t>d = 0.5</a:t>
            </a:r>
            <a:endParaRPr lang="en-IN" sz="3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4577" y="464696"/>
            <a:ext cx="7944787" cy="5661468"/>
          </a:xfrm>
        </p:spPr>
        <p:txBody>
          <a:bodyPr>
            <a:normAutofit fontScale="92500"/>
          </a:bodyPr>
          <a:lstStyle/>
          <a:p>
            <a:pPr>
              <a:buNone/>
            </a:pPr>
            <a:r>
              <a:rPr lang="en-IN" dirty="0" smtClean="0"/>
              <a:t>Then</a:t>
            </a:r>
          </a:p>
          <a:p>
            <a:pPr>
              <a:buNone/>
            </a:pPr>
            <a:r>
              <a:rPr lang="en-IN" dirty="0" smtClean="0"/>
              <a:t>		P*(power | is) = d x count( is power) / count(is)</a:t>
            </a:r>
          </a:p>
          <a:p>
            <a:pPr>
              <a:buNone/>
            </a:pPr>
            <a:r>
              <a:rPr lang="en-IN" dirty="0" smtClean="0"/>
              <a:t>							= 0.5 x ½	= 0.25</a:t>
            </a:r>
          </a:p>
          <a:p>
            <a:pPr>
              <a:buNone/>
            </a:pPr>
            <a:r>
              <a:rPr lang="en-IN" dirty="0" smtClean="0"/>
              <a:t>		P*(useful | is) = d x count( is useful) / count(is)</a:t>
            </a:r>
          </a:p>
          <a:p>
            <a:pPr>
              <a:buNone/>
            </a:pPr>
            <a:r>
              <a:rPr lang="en-IN" dirty="0" smtClean="0"/>
              <a:t>							= 0.5 x ½	= 0.25</a:t>
            </a:r>
          </a:p>
          <a:p>
            <a:pPr>
              <a:buNone/>
            </a:pPr>
            <a:endParaRPr lang="en-IN" dirty="0" smtClean="0"/>
          </a:p>
          <a:p>
            <a:pPr>
              <a:buNone/>
            </a:pPr>
            <a:r>
              <a:rPr lang="en-IN" dirty="0" smtClean="0"/>
              <a:t>Total discounted prob mass used for seen words = 0.25 + 0.25 = </a:t>
            </a:r>
            <a:r>
              <a:rPr lang="en-IN" b="1" dirty="0" smtClean="0"/>
              <a:t>0.5</a:t>
            </a:r>
          </a:p>
          <a:p>
            <a:pPr>
              <a:buNone/>
            </a:pPr>
            <a:endParaRPr lang="en-IN" b="1" dirty="0" smtClean="0"/>
          </a:p>
          <a:p>
            <a:pPr>
              <a:buNone/>
            </a:pPr>
            <a:r>
              <a:rPr lang="en-IN" dirty="0" smtClean="0"/>
              <a:t>Words not seen after "is" are: </a:t>
            </a:r>
            <a:r>
              <a:rPr lang="en-IN" b="1" dirty="0" smtClean="0"/>
              <a:t>data</a:t>
            </a:r>
            <a:endParaRPr lang="en-I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84616"/>
            <a:ext cx="8229600" cy="5541547"/>
          </a:xfrm>
        </p:spPr>
        <p:txBody>
          <a:bodyPr/>
          <a:lstStyle/>
          <a:p>
            <a:pPr>
              <a:buNone/>
            </a:pPr>
            <a:r>
              <a:rPr lang="en-IN" dirty="0" smtClean="0"/>
              <a:t>So,</a:t>
            </a:r>
          </a:p>
          <a:p>
            <a:pPr>
              <a:buNone/>
            </a:pPr>
            <a:r>
              <a:rPr lang="en-IN" dirty="0" smtClean="0"/>
              <a:t>			</a:t>
            </a:r>
            <a:endParaRPr lang="en-IN" dirty="0"/>
          </a:p>
        </p:txBody>
      </p:sp>
      <p:sp>
        <p:nvSpPr>
          <p:cNvPr id="6" name="Rectangle 5"/>
          <p:cNvSpPr/>
          <p:nvPr/>
        </p:nvSpPr>
        <p:spPr>
          <a:xfrm>
            <a:off x="568550" y="2875002"/>
            <a:ext cx="1560053" cy="523220"/>
          </a:xfrm>
          <a:prstGeom prst="rect">
            <a:avLst/>
          </a:prstGeom>
        </p:spPr>
        <p:txBody>
          <a:bodyPr wrap="square">
            <a:spAutoFit/>
          </a:bodyPr>
          <a:lstStyle/>
          <a:p>
            <a:r>
              <a:rPr lang="en-IN" sz="2800" dirty="0" smtClean="0"/>
              <a:t>Hence,</a:t>
            </a:r>
            <a:endParaRPr lang="en-IN" sz="2800" dirty="0"/>
          </a:p>
        </p:txBody>
      </p:sp>
      <p:pic>
        <p:nvPicPr>
          <p:cNvPr id="3076" name="Picture 4"/>
          <p:cNvPicPr>
            <a:picLocks noChangeAspect="1" noChangeArrowheads="1"/>
          </p:cNvPicPr>
          <p:nvPr/>
        </p:nvPicPr>
        <p:blipFill>
          <a:blip r:embed="rId2"/>
          <a:srcRect/>
          <a:stretch>
            <a:fillRect/>
          </a:stretch>
        </p:blipFill>
        <p:spPr bwMode="auto">
          <a:xfrm>
            <a:off x="1041816" y="1550172"/>
            <a:ext cx="4187681" cy="1324830"/>
          </a:xfrm>
          <a:prstGeom prst="rect">
            <a:avLst/>
          </a:prstGeom>
          <a:noFill/>
          <a:ln w="9525">
            <a:noFill/>
            <a:miter lim="800000"/>
            <a:headEnd/>
            <a:tailEnd/>
          </a:ln>
          <a:effectLst/>
        </p:spPr>
      </p:pic>
      <p:sp>
        <p:nvSpPr>
          <p:cNvPr id="8" name="Rectangle 7"/>
          <p:cNvSpPr/>
          <p:nvPr/>
        </p:nvSpPr>
        <p:spPr>
          <a:xfrm>
            <a:off x="5229497" y="1875206"/>
            <a:ext cx="1560053" cy="523220"/>
          </a:xfrm>
          <a:prstGeom prst="rect">
            <a:avLst/>
          </a:prstGeom>
        </p:spPr>
        <p:txBody>
          <a:bodyPr wrap="square">
            <a:spAutoFit/>
          </a:bodyPr>
          <a:lstStyle/>
          <a:p>
            <a:r>
              <a:rPr lang="en-IN" sz="2800" dirty="0" smtClean="0"/>
              <a:t>=  0.33</a:t>
            </a:r>
            <a:endParaRPr lang="en-IN" sz="2800" dirty="0"/>
          </a:p>
        </p:txBody>
      </p:sp>
      <p:sp>
        <p:nvSpPr>
          <p:cNvPr id="9" name="Rectangle 8"/>
          <p:cNvSpPr/>
          <p:nvPr/>
        </p:nvSpPr>
        <p:spPr>
          <a:xfrm>
            <a:off x="2413298" y="3398222"/>
            <a:ext cx="4692039" cy="707886"/>
          </a:xfrm>
          <a:prstGeom prst="rect">
            <a:avLst/>
          </a:prstGeom>
        </p:spPr>
        <p:txBody>
          <a:bodyPr wrap="square">
            <a:spAutoFit/>
          </a:bodyPr>
          <a:lstStyle/>
          <a:p>
            <a:r>
              <a:rPr lang="el-GR" sz="4000" dirty="0" smtClean="0"/>
              <a:t>α(</a:t>
            </a:r>
            <a:r>
              <a:rPr lang="en-IN" sz="3600" dirty="0" smtClean="0"/>
              <a:t>is) = 0.5 / 0.33 = 1.51 </a:t>
            </a:r>
            <a:endParaRPr lang="en-IN" sz="3600" dirty="0"/>
          </a:p>
        </p:txBody>
      </p:sp>
      <p:sp>
        <p:nvSpPr>
          <p:cNvPr id="10" name="Rectangle 9"/>
          <p:cNvSpPr/>
          <p:nvPr/>
        </p:nvSpPr>
        <p:spPr>
          <a:xfrm>
            <a:off x="457201" y="4371837"/>
            <a:ext cx="8686800" cy="1754326"/>
          </a:xfrm>
          <a:prstGeom prst="rect">
            <a:avLst/>
          </a:prstGeom>
        </p:spPr>
        <p:txBody>
          <a:bodyPr wrap="square">
            <a:spAutoFit/>
          </a:bodyPr>
          <a:lstStyle/>
          <a:p>
            <a:r>
              <a:rPr lang="en-IN" sz="3600" dirty="0" smtClean="0"/>
              <a:t>Therefore, P</a:t>
            </a:r>
            <a:r>
              <a:rPr lang="en-IN" dirty="0" smtClean="0"/>
              <a:t>BO</a:t>
            </a:r>
            <a:r>
              <a:rPr lang="en-IN" sz="3600" dirty="0" smtClean="0"/>
              <a:t>​(data ∣ is) = </a:t>
            </a:r>
            <a:r>
              <a:rPr lang="el-GR" sz="3600" dirty="0" smtClean="0"/>
              <a:t>α(</a:t>
            </a:r>
            <a:r>
              <a:rPr lang="en-IN" sz="3600" dirty="0" smtClean="0"/>
              <a:t>is) x P</a:t>
            </a:r>
            <a:r>
              <a:rPr lang="en-IN" dirty="0" smtClean="0"/>
              <a:t>BO</a:t>
            </a:r>
            <a:r>
              <a:rPr lang="en-IN" sz="3600" dirty="0" smtClean="0"/>
              <a:t>​(data)   											= 1.51 x 0.33 </a:t>
            </a:r>
          </a:p>
          <a:p>
            <a:r>
              <a:rPr lang="en-IN" sz="3600" dirty="0" smtClean="0"/>
              <a:t>										= 0.498</a:t>
            </a:r>
            <a:endParaRPr lang="en-IN" sz="3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Practical Use Cases</a:t>
            </a:r>
            <a:endParaRPr lang="en-IN" dirty="0"/>
          </a:p>
        </p:txBody>
      </p:sp>
      <p:sp>
        <p:nvSpPr>
          <p:cNvPr id="3" name="Content Placeholder 2"/>
          <p:cNvSpPr>
            <a:spLocks noGrp="1"/>
          </p:cNvSpPr>
          <p:nvPr>
            <p:ph idx="1"/>
          </p:nvPr>
        </p:nvSpPr>
        <p:spPr/>
        <p:txBody>
          <a:bodyPr/>
          <a:lstStyle/>
          <a:p>
            <a:pPr algn="just"/>
            <a:r>
              <a:rPr lang="en-IN" b="1" dirty="0" smtClean="0"/>
              <a:t>Speech recognition:</a:t>
            </a:r>
            <a:r>
              <a:rPr lang="en-IN" dirty="0" smtClean="0"/>
              <a:t> often uses backoff because it’s simpler.</a:t>
            </a:r>
          </a:p>
          <a:p>
            <a:pPr algn="just"/>
            <a:r>
              <a:rPr lang="en-IN" b="1" dirty="0" smtClean="0"/>
              <a:t>Text prediction:</a:t>
            </a:r>
            <a:r>
              <a:rPr lang="en-IN" dirty="0" smtClean="0"/>
              <a:t> interpolation is preferred for better accuracy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04851"/>
          </a:xfrm>
        </p:spPr>
        <p:txBody>
          <a:bodyPr>
            <a:normAutofit fontScale="90000"/>
          </a:bodyPr>
          <a:lstStyle/>
          <a:p>
            <a:r>
              <a:rPr lang="en-IN" dirty="0" smtClean="0"/>
              <a:t>Word Classes</a:t>
            </a:r>
            <a:endParaRPr lang="en-IN" dirty="0"/>
          </a:p>
        </p:txBody>
      </p:sp>
      <p:sp>
        <p:nvSpPr>
          <p:cNvPr id="3" name="Content Placeholder 2"/>
          <p:cNvSpPr>
            <a:spLocks noGrp="1"/>
          </p:cNvSpPr>
          <p:nvPr>
            <p:ph idx="1"/>
          </p:nvPr>
        </p:nvSpPr>
        <p:spPr>
          <a:xfrm>
            <a:off x="457200" y="1019331"/>
            <a:ext cx="8229600" cy="5546361"/>
          </a:xfrm>
        </p:spPr>
        <p:txBody>
          <a:bodyPr>
            <a:normAutofit fontScale="92500" lnSpcReduction="10000"/>
          </a:bodyPr>
          <a:lstStyle/>
          <a:p>
            <a:pPr algn="just">
              <a:buNone/>
            </a:pPr>
            <a:r>
              <a:rPr lang="en-IN" sz="3600" dirty="0" smtClean="0"/>
              <a:t>What are word classes? </a:t>
            </a:r>
          </a:p>
          <a:p>
            <a:pPr algn="just"/>
            <a:r>
              <a:rPr lang="en-IN" b="1" dirty="0" smtClean="0"/>
              <a:t>Word Classes</a:t>
            </a:r>
            <a:r>
              <a:rPr lang="en-IN" dirty="0" smtClean="0"/>
              <a:t>, also known as </a:t>
            </a:r>
            <a:r>
              <a:rPr lang="en-IN" b="1" dirty="0" smtClean="0"/>
              <a:t>Parts of Speech (POS)</a:t>
            </a:r>
            <a:r>
              <a:rPr lang="en-IN" dirty="0" smtClean="0"/>
              <a:t> or </a:t>
            </a:r>
            <a:r>
              <a:rPr lang="en-IN" b="1" dirty="0" smtClean="0"/>
              <a:t>syntactic categories</a:t>
            </a:r>
            <a:r>
              <a:rPr lang="en-IN" dirty="0" smtClean="0"/>
              <a:t>, are fundamental in NLP because they describe the </a:t>
            </a:r>
            <a:r>
              <a:rPr lang="en-IN" b="1" dirty="0" smtClean="0"/>
              <a:t>grammatical role</a:t>
            </a:r>
            <a:r>
              <a:rPr lang="en-IN" dirty="0" smtClean="0"/>
              <a:t> each word plays in a sentence. </a:t>
            </a:r>
          </a:p>
          <a:p>
            <a:pPr algn="just"/>
            <a:r>
              <a:rPr lang="en-IN" dirty="0" smtClean="0"/>
              <a:t>Understanding word classes is essential for syntactic parsing, machine translation, information extraction, and many more NLP tasks</a:t>
            </a:r>
          </a:p>
          <a:p>
            <a:pPr algn="just"/>
            <a:r>
              <a:rPr lang="en-IN" dirty="0" smtClean="0"/>
              <a:t>Common classes: Noun, Verb, Adjective, Adverb, Pronoun, Conjunction, Determiner, Preposition.</a:t>
            </a:r>
          </a:p>
          <a:p>
            <a:pPr algn="just"/>
            <a:r>
              <a:rPr lang="en-IN" dirty="0" smtClean="0"/>
              <a:t>Example: </a:t>
            </a:r>
            <a:r>
              <a:rPr lang="en-IN" i="1" dirty="0" smtClean="0"/>
              <a:t>“The quick fox jumps”</a:t>
            </a:r>
            <a:r>
              <a:rPr lang="en-IN" dirty="0" smtClean="0"/>
              <a:t> →</a:t>
            </a:r>
          </a:p>
          <a:p>
            <a:pPr lvl="1" algn="just"/>
            <a:r>
              <a:rPr lang="en-IN" dirty="0" smtClean="0"/>
              <a:t>The/</a:t>
            </a:r>
            <a:r>
              <a:rPr lang="en-IN" dirty="0" err="1" smtClean="0"/>
              <a:t>Det</a:t>
            </a:r>
            <a:r>
              <a:rPr lang="en-IN" dirty="0" smtClean="0"/>
              <a:t> , quick/</a:t>
            </a:r>
            <a:r>
              <a:rPr lang="en-IN" dirty="0" err="1" smtClean="0"/>
              <a:t>Adj</a:t>
            </a:r>
            <a:r>
              <a:rPr lang="en-IN" dirty="0" smtClean="0"/>
              <a:t> , fox/N,  jumps/V.</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Major Word Classes</a:t>
            </a:r>
            <a:endParaRPr lang="en-IN" dirty="0"/>
          </a:p>
        </p:txBody>
      </p:sp>
      <p:graphicFrame>
        <p:nvGraphicFramePr>
          <p:cNvPr id="4" name="Content Placeholder 3"/>
          <p:cNvGraphicFramePr>
            <a:graphicFrameLocks noGrp="1"/>
          </p:cNvGraphicFramePr>
          <p:nvPr>
            <p:ph idx="1"/>
          </p:nvPr>
        </p:nvGraphicFramePr>
        <p:xfrm>
          <a:off x="457200" y="1417640"/>
          <a:ext cx="8229600" cy="5059360"/>
        </p:xfrm>
        <a:graphic>
          <a:graphicData uri="http://schemas.openxmlformats.org/drawingml/2006/table">
            <a:tbl>
              <a:tblPr firstRow="1" bandRow="1">
                <a:tableStyleId>{5C22544A-7EE6-4342-B048-85BDC9FD1C3A}</a:tableStyleId>
              </a:tblPr>
              <a:tblGrid>
                <a:gridCol w="2743200"/>
                <a:gridCol w="2743200"/>
                <a:gridCol w="2743200"/>
              </a:tblGrid>
              <a:tr h="411073">
                <a:tc>
                  <a:txBody>
                    <a:bodyPr/>
                    <a:lstStyle/>
                    <a:p>
                      <a:r>
                        <a:rPr lang="en-IN" sz="2000" dirty="0"/>
                        <a:t>Word Class</a:t>
                      </a:r>
                    </a:p>
                  </a:txBody>
                  <a:tcPr anchor="ctr"/>
                </a:tc>
                <a:tc>
                  <a:txBody>
                    <a:bodyPr/>
                    <a:lstStyle/>
                    <a:p>
                      <a:r>
                        <a:rPr lang="en-IN" sz="2000" dirty="0" smtClean="0"/>
                        <a:t>Description</a:t>
                      </a:r>
                      <a:endParaRPr lang="en-IN" sz="2000" dirty="0"/>
                    </a:p>
                  </a:txBody>
                  <a:tcPr/>
                </a:tc>
                <a:tc>
                  <a:txBody>
                    <a:bodyPr/>
                    <a:lstStyle/>
                    <a:p>
                      <a:r>
                        <a:rPr lang="en-IN" sz="2000" dirty="0" smtClean="0"/>
                        <a:t>Examples</a:t>
                      </a:r>
                      <a:endParaRPr lang="en-IN" sz="2000" dirty="0"/>
                    </a:p>
                  </a:txBody>
                  <a:tcPr/>
                </a:tc>
              </a:tr>
              <a:tr h="727283">
                <a:tc>
                  <a:txBody>
                    <a:bodyPr/>
                    <a:lstStyle/>
                    <a:p>
                      <a:r>
                        <a:rPr lang="en-IN" sz="2000" dirty="0" smtClean="0"/>
                        <a:t>Noun</a:t>
                      </a:r>
                      <a:endParaRPr lang="en-IN" sz="2000" dirty="0"/>
                    </a:p>
                  </a:txBody>
                  <a:tcPr/>
                </a:tc>
                <a:tc>
                  <a:txBody>
                    <a:bodyPr/>
                    <a:lstStyle/>
                    <a:p>
                      <a:r>
                        <a:rPr lang="en-IN" sz="2000" dirty="0" smtClean="0"/>
                        <a:t>Names of people, places, thing</a:t>
                      </a:r>
                      <a:endParaRPr lang="en-IN" sz="2000" dirty="0"/>
                    </a:p>
                  </a:txBody>
                  <a:tcPr/>
                </a:tc>
                <a:tc>
                  <a:txBody>
                    <a:bodyPr/>
                    <a:lstStyle/>
                    <a:p>
                      <a:r>
                        <a:rPr lang="en-IN" sz="2000" dirty="0" smtClean="0"/>
                        <a:t>dog, city, freedom</a:t>
                      </a:r>
                      <a:endParaRPr lang="en-IN" sz="2000" dirty="0"/>
                    </a:p>
                  </a:txBody>
                  <a:tcPr/>
                </a:tc>
              </a:tr>
              <a:tr h="411073">
                <a:tc>
                  <a:txBody>
                    <a:bodyPr/>
                    <a:lstStyle/>
                    <a:p>
                      <a:r>
                        <a:rPr lang="en-IN" sz="2000" dirty="0" smtClean="0"/>
                        <a:t>Pronoun</a:t>
                      </a:r>
                      <a:endParaRPr lang="en-IN" sz="2000" dirty="0"/>
                    </a:p>
                  </a:txBody>
                  <a:tcPr/>
                </a:tc>
                <a:tc>
                  <a:txBody>
                    <a:bodyPr/>
                    <a:lstStyle/>
                    <a:p>
                      <a:r>
                        <a:rPr lang="en-IN" sz="2000" dirty="0" smtClean="0"/>
                        <a:t>Replaces nouns</a:t>
                      </a:r>
                      <a:endParaRPr lang="en-IN" sz="2000" dirty="0"/>
                    </a:p>
                  </a:txBody>
                  <a:tcPr/>
                </a:tc>
                <a:tc>
                  <a:txBody>
                    <a:bodyPr/>
                    <a:lstStyle/>
                    <a:p>
                      <a:r>
                        <a:rPr lang="en-IN" sz="2000" dirty="0" smtClean="0"/>
                        <a:t>he, she, it, they</a:t>
                      </a:r>
                      <a:endParaRPr lang="en-IN" sz="2000" dirty="0"/>
                    </a:p>
                  </a:txBody>
                  <a:tcPr/>
                </a:tc>
              </a:tr>
              <a:tr h="727283">
                <a:tc>
                  <a:txBody>
                    <a:bodyPr/>
                    <a:lstStyle/>
                    <a:p>
                      <a:r>
                        <a:rPr lang="en-IN" sz="2000" dirty="0" smtClean="0"/>
                        <a:t>Verb</a:t>
                      </a:r>
                      <a:endParaRPr lang="en-IN" sz="2000" dirty="0"/>
                    </a:p>
                  </a:txBody>
                  <a:tcPr/>
                </a:tc>
                <a:tc>
                  <a:txBody>
                    <a:bodyPr/>
                    <a:lstStyle/>
                    <a:p>
                      <a:r>
                        <a:rPr lang="en-IN" sz="2000" dirty="0" smtClean="0"/>
                        <a:t>Expresses actions or states</a:t>
                      </a:r>
                      <a:endParaRPr lang="en-IN" sz="2000" dirty="0"/>
                    </a:p>
                  </a:txBody>
                  <a:tcPr/>
                </a:tc>
                <a:tc>
                  <a:txBody>
                    <a:bodyPr/>
                    <a:lstStyle/>
                    <a:p>
                      <a:r>
                        <a:rPr lang="en-IN" sz="2000" dirty="0" smtClean="0"/>
                        <a:t>Running, feeling</a:t>
                      </a:r>
                      <a:endParaRPr lang="en-IN" sz="2000" dirty="0"/>
                    </a:p>
                  </a:txBody>
                  <a:tcPr/>
                </a:tc>
              </a:tr>
              <a:tr h="411073">
                <a:tc>
                  <a:txBody>
                    <a:bodyPr/>
                    <a:lstStyle/>
                    <a:p>
                      <a:r>
                        <a:rPr lang="en-IN" sz="2000" dirty="0" smtClean="0"/>
                        <a:t>Adjective</a:t>
                      </a:r>
                      <a:endParaRPr lang="en-IN" sz="2000" dirty="0"/>
                    </a:p>
                  </a:txBody>
                  <a:tcPr/>
                </a:tc>
                <a:tc>
                  <a:txBody>
                    <a:bodyPr/>
                    <a:lstStyle/>
                    <a:p>
                      <a:r>
                        <a:rPr lang="en-IN" sz="2000" dirty="0" smtClean="0"/>
                        <a:t>describes noun</a:t>
                      </a:r>
                      <a:endParaRPr lang="en-IN" sz="2000" dirty="0"/>
                    </a:p>
                  </a:txBody>
                  <a:tcPr/>
                </a:tc>
                <a:tc>
                  <a:txBody>
                    <a:bodyPr/>
                    <a:lstStyle/>
                    <a:p>
                      <a:r>
                        <a:rPr lang="en-IN" sz="2000" dirty="0" smtClean="0"/>
                        <a:t>red, quick, large</a:t>
                      </a:r>
                      <a:endParaRPr lang="en-IN" sz="2000" dirty="0"/>
                    </a:p>
                  </a:txBody>
                  <a:tcPr/>
                </a:tc>
              </a:tr>
              <a:tr h="727283">
                <a:tc>
                  <a:txBody>
                    <a:bodyPr/>
                    <a:lstStyle/>
                    <a:p>
                      <a:r>
                        <a:rPr lang="en-IN" sz="2000" dirty="0" smtClean="0"/>
                        <a:t>Adverb</a:t>
                      </a:r>
                      <a:endParaRPr lang="en-IN" sz="2000" dirty="0"/>
                    </a:p>
                  </a:txBody>
                  <a:tcPr/>
                </a:tc>
                <a:tc>
                  <a:txBody>
                    <a:bodyPr/>
                    <a:lstStyle/>
                    <a:p>
                      <a:r>
                        <a:rPr lang="en-IN" sz="2000" dirty="0" smtClean="0"/>
                        <a:t>Describes verbs/adjectives</a:t>
                      </a:r>
                      <a:endParaRPr lang="en-IN" sz="2000" dirty="0"/>
                    </a:p>
                  </a:txBody>
                  <a:tcPr/>
                </a:tc>
                <a:tc>
                  <a:txBody>
                    <a:bodyPr/>
                    <a:lstStyle/>
                    <a:p>
                      <a:r>
                        <a:rPr lang="en-IN" sz="2000" dirty="0" smtClean="0"/>
                        <a:t>quickly, very, silently</a:t>
                      </a:r>
                      <a:endParaRPr lang="en-IN" sz="2000" dirty="0"/>
                    </a:p>
                  </a:txBody>
                  <a:tcPr/>
                </a:tc>
              </a:tr>
              <a:tr h="411073">
                <a:tc>
                  <a:txBody>
                    <a:bodyPr/>
                    <a:lstStyle/>
                    <a:p>
                      <a:r>
                        <a:rPr lang="en-IN" sz="2000" dirty="0" smtClean="0"/>
                        <a:t>Preposition</a:t>
                      </a:r>
                      <a:endParaRPr lang="en-IN" sz="2000" dirty="0"/>
                    </a:p>
                  </a:txBody>
                  <a:tcPr/>
                </a:tc>
                <a:tc>
                  <a:txBody>
                    <a:bodyPr/>
                    <a:lstStyle/>
                    <a:p>
                      <a:r>
                        <a:rPr lang="en-IN" sz="2000" dirty="0" smtClean="0"/>
                        <a:t>Shows relationships</a:t>
                      </a:r>
                      <a:endParaRPr lang="en-IN" sz="2000" dirty="0"/>
                    </a:p>
                  </a:txBody>
                  <a:tcPr/>
                </a:tc>
                <a:tc>
                  <a:txBody>
                    <a:bodyPr/>
                    <a:lstStyle/>
                    <a:p>
                      <a:r>
                        <a:rPr lang="en-IN" sz="2000" dirty="0" smtClean="0"/>
                        <a:t>in, on, under</a:t>
                      </a:r>
                      <a:endParaRPr lang="en-IN" sz="2000" dirty="0"/>
                    </a:p>
                  </a:txBody>
                  <a:tcPr/>
                </a:tc>
              </a:tr>
              <a:tr h="411073">
                <a:tc>
                  <a:txBody>
                    <a:bodyPr/>
                    <a:lstStyle/>
                    <a:p>
                      <a:r>
                        <a:rPr lang="en-IN" sz="2000" dirty="0" smtClean="0"/>
                        <a:t>Conjunction</a:t>
                      </a:r>
                      <a:endParaRPr lang="en-IN" sz="2000" dirty="0"/>
                    </a:p>
                  </a:txBody>
                  <a:tcPr/>
                </a:tc>
                <a:tc>
                  <a:txBody>
                    <a:bodyPr/>
                    <a:lstStyle/>
                    <a:p>
                      <a:r>
                        <a:rPr lang="en-IN" sz="2000" dirty="0" smtClean="0"/>
                        <a:t>Connects words/phrases</a:t>
                      </a:r>
                      <a:endParaRPr lang="en-IN" sz="2000" dirty="0"/>
                    </a:p>
                  </a:txBody>
                  <a:tcPr/>
                </a:tc>
                <a:tc>
                  <a:txBody>
                    <a:bodyPr/>
                    <a:lstStyle/>
                    <a:p>
                      <a:r>
                        <a:rPr lang="en-IN" sz="2000" dirty="0" smtClean="0"/>
                        <a:t>and, but, or</a:t>
                      </a:r>
                      <a:endParaRPr lang="en-IN" sz="2000" dirty="0"/>
                    </a:p>
                  </a:txBody>
                  <a:tcPr/>
                </a:tc>
              </a:tr>
              <a:tr h="411073">
                <a:tc>
                  <a:txBody>
                    <a:bodyPr/>
                    <a:lstStyle/>
                    <a:p>
                      <a:r>
                        <a:rPr lang="en-IN" sz="2000" dirty="0" smtClean="0"/>
                        <a:t>Determiner</a:t>
                      </a:r>
                      <a:endParaRPr lang="en-IN" sz="2000" dirty="0"/>
                    </a:p>
                  </a:txBody>
                  <a:tcPr/>
                </a:tc>
                <a:tc>
                  <a:txBody>
                    <a:bodyPr/>
                    <a:lstStyle/>
                    <a:p>
                      <a:r>
                        <a:rPr lang="en-IN" sz="2000" dirty="0" smtClean="0"/>
                        <a:t>Introduces nouns</a:t>
                      </a:r>
                      <a:endParaRPr lang="en-IN" sz="2000" dirty="0"/>
                    </a:p>
                  </a:txBody>
                  <a:tcPr/>
                </a:tc>
                <a:tc>
                  <a:txBody>
                    <a:bodyPr/>
                    <a:lstStyle/>
                    <a:p>
                      <a:r>
                        <a:rPr lang="en-IN" sz="2000" dirty="0" smtClean="0"/>
                        <a:t>a, the, this, some</a:t>
                      </a:r>
                      <a:endParaRPr lang="en-IN" sz="2000" dirty="0"/>
                    </a:p>
                  </a:txBody>
                  <a:tcPr/>
                </a:tc>
              </a:tr>
              <a:tr h="411073">
                <a:tc>
                  <a:txBody>
                    <a:bodyPr/>
                    <a:lstStyle/>
                    <a:p>
                      <a:r>
                        <a:rPr lang="en-IN" sz="2000" dirty="0" smtClean="0"/>
                        <a:t>Interjection</a:t>
                      </a:r>
                      <a:endParaRPr lang="en-IN" sz="2000" dirty="0"/>
                    </a:p>
                  </a:txBody>
                  <a:tcPr/>
                </a:tc>
                <a:tc>
                  <a:txBody>
                    <a:bodyPr/>
                    <a:lstStyle/>
                    <a:p>
                      <a:r>
                        <a:rPr lang="en-IN" sz="2000" dirty="0" smtClean="0"/>
                        <a:t>Expresses emotion</a:t>
                      </a:r>
                      <a:endParaRPr lang="en-IN" sz="2000" dirty="0"/>
                    </a:p>
                  </a:txBody>
                  <a:tcPr/>
                </a:tc>
                <a:tc>
                  <a:txBody>
                    <a:bodyPr/>
                    <a:lstStyle/>
                    <a:p>
                      <a:r>
                        <a:rPr lang="en-IN" sz="2000" dirty="0" smtClean="0"/>
                        <a:t>wow!, ouch!, hey!</a:t>
                      </a:r>
                      <a:endParaRPr lang="en-IN" sz="2000" dirty="0"/>
                    </a:p>
                  </a:txBody>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Why Word Classes Matter in NLP</a:t>
            </a:r>
            <a:endParaRPr lang="en-IN" dirty="0"/>
          </a:p>
        </p:txBody>
      </p:sp>
      <p:graphicFrame>
        <p:nvGraphicFramePr>
          <p:cNvPr id="4" name="Content Placeholder 3"/>
          <p:cNvGraphicFramePr>
            <a:graphicFrameLocks noGrp="1"/>
          </p:cNvGraphicFramePr>
          <p:nvPr>
            <p:ph idx="1"/>
          </p:nvPr>
        </p:nvGraphicFramePr>
        <p:xfrm>
          <a:off x="457200" y="1600200"/>
          <a:ext cx="8229600" cy="3741281"/>
        </p:xfrm>
        <a:graphic>
          <a:graphicData uri="http://schemas.openxmlformats.org/drawingml/2006/table">
            <a:tbl>
              <a:tblPr firstRow="1" bandRow="1">
                <a:tableStyleId>{5C22544A-7EE6-4342-B048-85BDC9FD1C3A}</a:tableStyleId>
              </a:tblPr>
              <a:tblGrid>
                <a:gridCol w="3260361"/>
                <a:gridCol w="4969239"/>
              </a:tblGrid>
              <a:tr h="471205">
                <a:tc>
                  <a:txBody>
                    <a:bodyPr/>
                    <a:lstStyle/>
                    <a:p>
                      <a:pPr algn="ctr"/>
                      <a:r>
                        <a:rPr lang="en-IN" dirty="0" smtClean="0"/>
                        <a:t>Task</a:t>
                      </a:r>
                      <a:endParaRPr lang="en-IN" dirty="0"/>
                    </a:p>
                  </a:txBody>
                  <a:tcPr/>
                </a:tc>
                <a:tc>
                  <a:txBody>
                    <a:bodyPr/>
                    <a:lstStyle/>
                    <a:p>
                      <a:pPr algn="ctr"/>
                      <a:r>
                        <a:rPr lang="en-IN" dirty="0" smtClean="0"/>
                        <a:t>How Word Classes Help</a:t>
                      </a:r>
                      <a:endParaRPr lang="en-IN" dirty="0"/>
                    </a:p>
                  </a:txBody>
                  <a:tcPr/>
                </a:tc>
              </a:tr>
              <a:tr h="471205">
                <a:tc>
                  <a:txBody>
                    <a:bodyPr/>
                    <a:lstStyle/>
                    <a:p>
                      <a:pPr algn="just"/>
                      <a:r>
                        <a:rPr lang="en-IN" sz="2000" dirty="0" smtClean="0"/>
                        <a:t>POS Tagging</a:t>
                      </a:r>
                      <a:endParaRPr lang="en-IN" sz="2000" dirty="0"/>
                    </a:p>
                  </a:txBody>
                  <a:tcPr/>
                </a:tc>
                <a:tc>
                  <a:txBody>
                    <a:bodyPr/>
                    <a:lstStyle/>
                    <a:p>
                      <a:pPr algn="just"/>
                      <a:r>
                        <a:rPr lang="en-IN" sz="2000" dirty="0" smtClean="0"/>
                        <a:t>Assigns correct tags to each word</a:t>
                      </a:r>
                      <a:endParaRPr lang="en-IN" sz="2000" dirty="0"/>
                    </a:p>
                  </a:txBody>
                  <a:tcPr/>
                </a:tc>
              </a:tr>
              <a:tr h="471205">
                <a:tc>
                  <a:txBody>
                    <a:bodyPr/>
                    <a:lstStyle/>
                    <a:p>
                      <a:pPr algn="just"/>
                      <a:r>
                        <a:rPr lang="en-IN" sz="2000" dirty="0" smtClean="0"/>
                        <a:t>Parsing</a:t>
                      </a:r>
                      <a:endParaRPr lang="en-IN" sz="2000" dirty="0"/>
                    </a:p>
                  </a:txBody>
                  <a:tcPr/>
                </a:tc>
                <a:tc>
                  <a:txBody>
                    <a:bodyPr/>
                    <a:lstStyle/>
                    <a:p>
                      <a:pPr algn="just"/>
                      <a:r>
                        <a:rPr lang="en-IN" sz="2000" dirty="0" smtClean="0"/>
                        <a:t>Builds syntactic structure trees</a:t>
                      </a:r>
                      <a:endParaRPr lang="en-IN" sz="2000" dirty="0"/>
                    </a:p>
                  </a:txBody>
                  <a:tcPr/>
                </a:tc>
              </a:tr>
              <a:tr h="471205">
                <a:tc>
                  <a:txBody>
                    <a:bodyPr/>
                    <a:lstStyle/>
                    <a:p>
                      <a:pPr algn="just"/>
                      <a:r>
                        <a:rPr lang="en-IN" sz="2000" dirty="0" smtClean="0"/>
                        <a:t>Named Entity Recognition (NER)</a:t>
                      </a:r>
                      <a:endParaRPr lang="en-IN" sz="2000" dirty="0"/>
                    </a:p>
                  </a:txBody>
                  <a:tcPr/>
                </a:tc>
                <a:tc>
                  <a:txBody>
                    <a:bodyPr/>
                    <a:lstStyle/>
                    <a:p>
                      <a:pPr algn="just"/>
                      <a:r>
                        <a:rPr lang="en-IN" sz="2000" dirty="0" smtClean="0"/>
                        <a:t>Helps in identifying proper nouns</a:t>
                      </a:r>
                      <a:endParaRPr lang="en-IN" sz="2000" dirty="0"/>
                    </a:p>
                  </a:txBody>
                  <a:tcPr/>
                </a:tc>
              </a:tr>
              <a:tr h="813313">
                <a:tc>
                  <a:txBody>
                    <a:bodyPr/>
                    <a:lstStyle/>
                    <a:p>
                      <a:pPr algn="just"/>
                      <a:r>
                        <a:rPr lang="en-IN" sz="2000" dirty="0" smtClean="0"/>
                        <a:t>Machine Translation</a:t>
                      </a:r>
                      <a:endParaRPr lang="en-IN" sz="2000" dirty="0"/>
                    </a:p>
                  </a:txBody>
                  <a:tcPr/>
                </a:tc>
                <a:tc>
                  <a:txBody>
                    <a:bodyPr/>
                    <a:lstStyle/>
                    <a:p>
                      <a:pPr algn="just"/>
                      <a:r>
                        <a:rPr lang="en-IN" sz="2000" dirty="0" smtClean="0"/>
                        <a:t>Ensures correct word order and agreement</a:t>
                      </a:r>
                      <a:endParaRPr lang="en-IN" sz="2000" dirty="0"/>
                    </a:p>
                  </a:txBody>
                  <a:tcPr/>
                </a:tc>
              </a:tr>
              <a:tr h="813313">
                <a:tc>
                  <a:txBody>
                    <a:bodyPr/>
                    <a:lstStyle/>
                    <a:p>
                      <a:pPr algn="just"/>
                      <a:r>
                        <a:rPr lang="en-IN" sz="2000" dirty="0" smtClean="0"/>
                        <a:t>Information Extraction</a:t>
                      </a:r>
                      <a:endParaRPr lang="en-IN" sz="2000" dirty="0"/>
                    </a:p>
                  </a:txBody>
                  <a:tcPr/>
                </a:tc>
                <a:tc>
                  <a:txBody>
                    <a:bodyPr/>
                    <a:lstStyle/>
                    <a:p>
                      <a:pPr algn="just"/>
                      <a:r>
                        <a:rPr lang="en-IN" sz="2000" dirty="0" smtClean="0"/>
                        <a:t>Distinguishes between objects, actions, etc.</a:t>
                      </a:r>
                      <a:endParaRPr lang="en-IN" sz="2000" dirty="0"/>
                    </a:p>
                  </a:txBody>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t>Part- of-Speech Tagging</a:t>
            </a:r>
            <a:endParaRPr lang="en-IN" dirty="0"/>
          </a:p>
        </p:txBody>
      </p:sp>
      <p:sp>
        <p:nvSpPr>
          <p:cNvPr id="5" name="Content Placeholder 4"/>
          <p:cNvSpPr>
            <a:spLocks noGrp="1"/>
          </p:cNvSpPr>
          <p:nvPr>
            <p:ph idx="1"/>
          </p:nvPr>
        </p:nvSpPr>
        <p:spPr>
          <a:xfrm>
            <a:off x="457200" y="1417638"/>
            <a:ext cx="8229600" cy="3708998"/>
          </a:xfrm>
        </p:spPr>
        <p:txBody>
          <a:bodyPr>
            <a:normAutofit fontScale="85000" lnSpcReduction="10000"/>
          </a:bodyPr>
          <a:lstStyle/>
          <a:p>
            <a:pPr algn="just"/>
            <a:r>
              <a:rPr lang="en-IN" b="1" dirty="0" smtClean="0"/>
              <a:t>POS tagging</a:t>
            </a:r>
            <a:r>
              <a:rPr lang="en-IN" dirty="0" smtClean="0"/>
              <a:t> is the process of assigning a </a:t>
            </a:r>
            <a:r>
              <a:rPr lang="en-IN" b="1" dirty="0" smtClean="0"/>
              <a:t>part of speech</a:t>
            </a:r>
            <a:r>
              <a:rPr lang="en-IN" dirty="0" smtClean="0"/>
              <a:t> (like noun, verb, adjective, etc.) to each word in a sentence based on its </a:t>
            </a:r>
            <a:r>
              <a:rPr lang="en-IN" b="1" dirty="0" smtClean="0"/>
              <a:t>definition and context</a:t>
            </a:r>
          </a:p>
          <a:p>
            <a:pPr algn="just"/>
            <a:r>
              <a:rPr lang="en-IN" dirty="0" smtClean="0"/>
              <a:t>It converts a sentence into a list of </a:t>
            </a:r>
            <a:r>
              <a:rPr lang="en-IN" dirty="0" err="1" smtClean="0"/>
              <a:t>tuples</a:t>
            </a:r>
            <a:r>
              <a:rPr lang="en-IN" dirty="0" smtClean="0"/>
              <a:t>, where each </a:t>
            </a:r>
            <a:r>
              <a:rPr lang="en-IN" dirty="0" err="1" smtClean="0"/>
              <a:t>tuple</a:t>
            </a:r>
            <a:r>
              <a:rPr lang="en-IN" dirty="0" smtClean="0"/>
              <a:t> is in the form of (word, tag).</a:t>
            </a:r>
            <a:endParaRPr lang="en-IN" b="1" dirty="0" smtClean="0"/>
          </a:p>
          <a:p>
            <a:pPr>
              <a:buNone/>
            </a:pPr>
            <a:r>
              <a:rPr lang="en-IN" b="1" dirty="0" smtClean="0"/>
              <a:t>	Example:</a:t>
            </a:r>
          </a:p>
          <a:p>
            <a:pPr>
              <a:buNone/>
            </a:pPr>
            <a:r>
              <a:rPr lang="en-IN" dirty="0" smtClean="0"/>
              <a:t>	Sentence: </a:t>
            </a:r>
            <a:r>
              <a:rPr lang="en-IN" i="1" dirty="0" smtClean="0"/>
              <a:t>“She runs fast.”</a:t>
            </a:r>
          </a:p>
          <a:p>
            <a:pPr>
              <a:buNone/>
            </a:pPr>
            <a:r>
              <a:rPr lang="en-IN" i="1" dirty="0" smtClean="0"/>
              <a:t>	</a:t>
            </a:r>
            <a:endParaRPr lang="en-IN" dirty="0" smtClean="0"/>
          </a:p>
          <a:p>
            <a:pPr algn="just"/>
            <a:endParaRPr lang="en-IN" dirty="0"/>
          </a:p>
        </p:txBody>
      </p:sp>
      <p:graphicFrame>
        <p:nvGraphicFramePr>
          <p:cNvPr id="6" name="Table 5"/>
          <p:cNvGraphicFramePr>
            <a:graphicFrameLocks noGrp="1"/>
          </p:cNvGraphicFramePr>
          <p:nvPr/>
        </p:nvGraphicFramePr>
        <p:xfrm>
          <a:off x="1524000" y="4676931"/>
          <a:ext cx="6096000" cy="1889427"/>
        </p:xfrm>
        <a:graphic>
          <a:graphicData uri="http://schemas.openxmlformats.org/drawingml/2006/table">
            <a:tbl>
              <a:tblPr firstRow="1" bandRow="1">
                <a:tableStyleId>{5C22544A-7EE6-4342-B048-85BDC9FD1C3A}</a:tableStyleId>
              </a:tblPr>
              <a:tblGrid>
                <a:gridCol w="3048000"/>
                <a:gridCol w="3048000"/>
              </a:tblGrid>
              <a:tr h="517827">
                <a:tc>
                  <a:txBody>
                    <a:bodyPr/>
                    <a:lstStyle/>
                    <a:p>
                      <a:r>
                        <a:rPr lang="en-IN" sz="2400" dirty="0" smtClean="0"/>
                        <a:t>Word</a:t>
                      </a:r>
                      <a:endParaRPr lang="en-IN" sz="2400" dirty="0"/>
                    </a:p>
                  </a:txBody>
                  <a:tcPr/>
                </a:tc>
                <a:tc>
                  <a:txBody>
                    <a:bodyPr/>
                    <a:lstStyle/>
                    <a:p>
                      <a:r>
                        <a:rPr lang="en-IN" sz="2400" dirty="0" smtClean="0"/>
                        <a:t>POS</a:t>
                      </a:r>
                      <a:endParaRPr lang="en-IN" sz="2400" dirty="0"/>
                    </a:p>
                  </a:txBody>
                  <a:tcPr/>
                </a:tc>
              </a:tr>
              <a:tr h="370840">
                <a:tc>
                  <a:txBody>
                    <a:bodyPr/>
                    <a:lstStyle/>
                    <a:p>
                      <a:r>
                        <a:rPr lang="en-IN" sz="2400" dirty="0" smtClean="0"/>
                        <a:t>She</a:t>
                      </a:r>
                      <a:endParaRPr lang="en-IN" sz="2400" dirty="0"/>
                    </a:p>
                  </a:txBody>
                  <a:tcPr/>
                </a:tc>
                <a:tc>
                  <a:txBody>
                    <a:bodyPr/>
                    <a:lstStyle/>
                    <a:p>
                      <a:r>
                        <a:rPr lang="en-IN" sz="2400" dirty="0" smtClean="0"/>
                        <a:t>Pronoun</a:t>
                      </a:r>
                      <a:endParaRPr lang="en-IN" sz="2400" dirty="0"/>
                    </a:p>
                  </a:txBody>
                  <a:tcPr/>
                </a:tc>
              </a:tr>
              <a:tr h="370840">
                <a:tc>
                  <a:txBody>
                    <a:bodyPr/>
                    <a:lstStyle/>
                    <a:p>
                      <a:r>
                        <a:rPr lang="en-IN" sz="2400" dirty="0" smtClean="0"/>
                        <a:t>Runs</a:t>
                      </a:r>
                      <a:endParaRPr lang="en-IN" sz="2400" dirty="0"/>
                    </a:p>
                  </a:txBody>
                  <a:tcPr/>
                </a:tc>
                <a:tc>
                  <a:txBody>
                    <a:bodyPr/>
                    <a:lstStyle/>
                    <a:p>
                      <a:r>
                        <a:rPr lang="en-IN" sz="2400" dirty="0" smtClean="0"/>
                        <a:t>Verb</a:t>
                      </a:r>
                      <a:endParaRPr lang="en-IN" sz="2400" dirty="0"/>
                    </a:p>
                  </a:txBody>
                  <a:tcPr/>
                </a:tc>
              </a:tr>
              <a:tr h="370840">
                <a:tc>
                  <a:txBody>
                    <a:bodyPr/>
                    <a:lstStyle/>
                    <a:p>
                      <a:r>
                        <a:rPr lang="en-IN" sz="2400" dirty="0" smtClean="0"/>
                        <a:t>Fast</a:t>
                      </a:r>
                      <a:endParaRPr lang="en-IN" sz="2400" dirty="0"/>
                    </a:p>
                  </a:txBody>
                  <a:tcPr/>
                </a:tc>
                <a:tc>
                  <a:txBody>
                    <a:bodyPr/>
                    <a:lstStyle/>
                    <a:p>
                      <a:r>
                        <a:rPr lang="en-IN" sz="2400" dirty="0" smtClean="0"/>
                        <a:t>Adverb</a:t>
                      </a:r>
                      <a:endParaRPr lang="en-IN" sz="2400" dirty="0"/>
                    </a:p>
                  </a:txBody>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Why PoS Tagging?</a:t>
            </a:r>
            <a:endParaRPr lang="en-IN" dirty="0"/>
          </a:p>
        </p:txBody>
      </p:sp>
      <p:sp>
        <p:nvSpPr>
          <p:cNvPr id="3" name="Content Placeholder 2"/>
          <p:cNvSpPr>
            <a:spLocks noGrp="1"/>
          </p:cNvSpPr>
          <p:nvPr>
            <p:ph idx="1"/>
          </p:nvPr>
        </p:nvSpPr>
        <p:spPr/>
        <p:txBody>
          <a:bodyPr>
            <a:normAutofit fontScale="92500" lnSpcReduction="20000"/>
          </a:bodyPr>
          <a:lstStyle/>
          <a:p>
            <a:pPr algn="just">
              <a:buNone/>
            </a:pPr>
            <a:r>
              <a:rPr lang="en-IN" b="1" dirty="0" smtClean="0"/>
              <a:t>What is a "Tag"?</a:t>
            </a:r>
          </a:p>
          <a:p>
            <a:pPr algn="just">
              <a:buNone/>
            </a:pPr>
            <a:r>
              <a:rPr lang="en-IN" dirty="0" smtClean="0"/>
              <a:t>A </a:t>
            </a:r>
            <a:r>
              <a:rPr lang="en-IN" b="1" dirty="0" smtClean="0"/>
              <a:t>tag</a:t>
            </a:r>
            <a:r>
              <a:rPr lang="en-IN" dirty="0" smtClean="0"/>
              <a:t> is a POS tag that signifies whether the word is a </a:t>
            </a:r>
            <a:r>
              <a:rPr lang="en-IN" b="1" dirty="0" smtClean="0"/>
              <a:t>noun, adjective, verb</a:t>
            </a:r>
            <a:r>
              <a:rPr lang="en-IN" dirty="0" smtClean="0"/>
              <a:t>, and so on...</a:t>
            </a:r>
          </a:p>
          <a:p>
            <a:pPr algn="just">
              <a:buNone/>
            </a:pPr>
            <a:endParaRPr lang="en-IN" dirty="0" smtClean="0"/>
          </a:p>
          <a:p>
            <a:pPr algn="just"/>
            <a:r>
              <a:rPr lang="en-IN" dirty="0" smtClean="0"/>
              <a:t>Essential for syntactic parsing and semantic analysis.</a:t>
            </a:r>
          </a:p>
          <a:p>
            <a:pPr algn="just"/>
            <a:r>
              <a:rPr lang="en-IN" dirty="0" smtClean="0"/>
              <a:t>Helps in applications like:</a:t>
            </a:r>
          </a:p>
          <a:p>
            <a:pPr lvl="1" algn="just"/>
            <a:r>
              <a:rPr lang="en-IN" dirty="0" smtClean="0"/>
              <a:t>Machine translation</a:t>
            </a:r>
          </a:p>
          <a:p>
            <a:pPr lvl="1" algn="just"/>
            <a:r>
              <a:rPr lang="en-IN" dirty="0" smtClean="0"/>
              <a:t>Speech recognition</a:t>
            </a:r>
          </a:p>
          <a:p>
            <a:pPr lvl="1" algn="just"/>
            <a:r>
              <a:rPr lang="en-IN" dirty="0" smtClean="0"/>
              <a:t>Question answering</a:t>
            </a:r>
          </a:p>
          <a:p>
            <a:pPr>
              <a:buNone/>
            </a:pPr>
            <a:endParaRPr lang="en-I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PoS Tagging Example</a:t>
            </a:r>
            <a:endParaRPr lang="en-IN" dirty="0"/>
          </a:p>
        </p:txBody>
      </p:sp>
      <p:sp>
        <p:nvSpPr>
          <p:cNvPr id="3" name="Content Placeholder 2"/>
          <p:cNvSpPr>
            <a:spLocks noGrp="1"/>
          </p:cNvSpPr>
          <p:nvPr>
            <p:ph idx="1"/>
          </p:nvPr>
        </p:nvSpPr>
        <p:spPr/>
        <p:txBody>
          <a:bodyPr/>
          <a:lstStyle/>
          <a:p>
            <a:pPr>
              <a:buNone/>
            </a:pPr>
            <a:r>
              <a:rPr lang="en-IN" dirty="0" smtClean="0"/>
              <a:t>Sentence: </a:t>
            </a:r>
            <a:r>
              <a:rPr lang="en-IN" i="1" dirty="0" smtClean="0"/>
              <a:t>“I like NLP models”</a:t>
            </a:r>
            <a:endParaRPr lang="en-IN" dirty="0" smtClean="0"/>
          </a:p>
          <a:p>
            <a:pPr>
              <a:buNone/>
            </a:pPr>
            <a:r>
              <a:rPr lang="en-IN" dirty="0" smtClean="0"/>
              <a:t>	I → Pronoun</a:t>
            </a:r>
          </a:p>
          <a:p>
            <a:pPr>
              <a:buNone/>
            </a:pPr>
            <a:r>
              <a:rPr lang="en-IN" dirty="0" smtClean="0"/>
              <a:t>	like → Verb</a:t>
            </a:r>
          </a:p>
          <a:p>
            <a:pPr>
              <a:buNone/>
            </a:pPr>
            <a:r>
              <a:rPr lang="en-IN" dirty="0" smtClean="0"/>
              <a:t>	NLP → Noun</a:t>
            </a:r>
          </a:p>
          <a:p>
            <a:pPr>
              <a:buNone/>
            </a:pPr>
            <a:r>
              <a:rPr lang="en-IN" dirty="0" smtClean="0"/>
              <a:t>	models → Noun</a:t>
            </a:r>
          </a:p>
          <a:p>
            <a:endParaRPr lang="en-I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34716"/>
            <a:ext cx="8229600" cy="6205928"/>
          </a:xfrm>
        </p:spPr>
        <p:txBody>
          <a:bodyPr/>
          <a:lstStyle/>
          <a:p>
            <a:pPr algn="just">
              <a:buNone/>
            </a:pPr>
            <a:r>
              <a:rPr lang="en-IN" b="1" dirty="0" smtClean="0"/>
              <a:t>Example (Ambiguity):</a:t>
            </a:r>
          </a:p>
          <a:p>
            <a:pPr algn="just">
              <a:buNone/>
            </a:pPr>
            <a:r>
              <a:rPr lang="en-IN" dirty="0" smtClean="0"/>
              <a:t>"They refuse to permit us to obtain refuse permit“</a:t>
            </a:r>
          </a:p>
          <a:p>
            <a:pPr algn="just">
              <a:buNone/>
            </a:pPr>
            <a:endParaRPr lang="en-IN" dirty="0" smtClean="0"/>
          </a:p>
          <a:p>
            <a:pPr algn="just">
              <a:buNone/>
            </a:pPr>
            <a:r>
              <a:rPr lang="en-IN" dirty="0" smtClean="0"/>
              <a:t>Notice "refuse" as a Verb and "refuse" as a Noun, and "permit" as a Verb and "permit" as a Noun in different contexts.</a:t>
            </a:r>
          </a:p>
          <a:p>
            <a:pPr algn="just">
              <a:buNone/>
            </a:pPr>
            <a:endParaRPr lang="en-IN" dirty="0" smtClean="0"/>
          </a:p>
          <a:p>
            <a:pPr algn="just">
              <a:buNone/>
            </a:pPr>
            <a:r>
              <a:rPr lang="en-IN" dirty="0" smtClean="0"/>
              <a:t>This highlights the need for disambiguation.</a:t>
            </a:r>
          </a:p>
          <a:p>
            <a:endParaRPr lang="en-I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Approaches to POS Tagging</a:t>
            </a:r>
            <a:endParaRPr lang="en-IN" dirty="0"/>
          </a:p>
        </p:txBody>
      </p:sp>
      <p:sp>
        <p:nvSpPr>
          <p:cNvPr id="3" name="Content Placeholder 2"/>
          <p:cNvSpPr>
            <a:spLocks noGrp="1"/>
          </p:cNvSpPr>
          <p:nvPr>
            <p:ph idx="1"/>
          </p:nvPr>
        </p:nvSpPr>
        <p:spPr/>
        <p:txBody>
          <a:bodyPr/>
          <a:lstStyle/>
          <a:p>
            <a:pPr marL="514350" indent="-514350">
              <a:lnSpc>
                <a:spcPct val="200000"/>
              </a:lnSpc>
              <a:buFont typeface="+mj-lt"/>
              <a:buAutoNum type="arabicPeriod"/>
            </a:pPr>
            <a:r>
              <a:rPr lang="en-IN" dirty="0" smtClean="0"/>
              <a:t>Rule-Based POS Tagging</a:t>
            </a:r>
          </a:p>
          <a:p>
            <a:pPr marL="514350" indent="-514350">
              <a:lnSpc>
                <a:spcPct val="200000"/>
              </a:lnSpc>
              <a:buFont typeface="+mj-lt"/>
              <a:buAutoNum type="arabicPeriod"/>
            </a:pPr>
            <a:r>
              <a:rPr lang="en-IN" dirty="0" smtClean="0"/>
              <a:t>Stochastic (Statistical) POS Tagging</a:t>
            </a:r>
          </a:p>
          <a:p>
            <a:pPr marL="514350" indent="-514350">
              <a:lnSpc>
                <a:spcPct val="200000"/>
              </a:lnSpc>
              <a:buFont typeface="+mj-lt"/>
              <a:buAutoNum type="arabicPeriod"/>
            </a:pPr>
            <a:r>
              <a:rPr lang="en-IN" dirty="0" smtClean="0"/>
              <a:t>Transformation-Based Tagging (TBL)</a:t>
            </a:r>
            <a:endParaRPr lang="en-IN"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4614"/>
          </a:xfrm>
        </p:spPr>
        <p:txBody>
          <a:bodyPr/>
          <a:lstStyle/>
          <a:p>
            <a:r>
              <a:rPr lang="en-IN" b="1" dirty="0" smtClean="0"/>
              <a:t>Rule-based PoS Tagging</a:t>
            </a:r>
            <a:endParaRPr lang="en-IN" b="1" dirty="0"/>
          </a:p>
        </p:txBody>
      </p:sp>
      <p:sp>
        <p:nvSpPr>
          <p:cNvPr id="3" name="Content Placeholder 2"/>
          <p:cNvSpPr>
            <a:spLocks noGrp="1"/>
          </p:cNvSpPr>
          <p:nvPr>
            <p:ph idx="1"/>
          </p:nvPr>
        </p:nvSpPr>
        <p:spPr>
          <a:xfrm>
            <a:off x="457200" y="1139252"/>
            <a:ext cx="8229600" cy="5718748"/>
          </a:xfrm>
        </p:spPr>
        <p:txBody>
          <a:bodyPr>
            <a:normAutofit fontScale="92500" lnSpcReduction="10000"/>
          </a:bodyPr>
          <a:lstStyle/>
          <a:p>
            <a:pPr>
              <a:buNone/>
            </a:pPr>
            <a:r>
              <a:rPr lang="en-IN" dirty="0" smtClean="0"/>
              <a:t> </a:t>
            </a:r>
            <a:r>
              <a:rPr lang="en-IN" b="1" dirty="0" smtClean="0"/>
              <a:t>Concept:</a:t>
            </a:r>
            <a:endParaRPr lang="en-IN" dirty="0" smtClean="0"/>
          </a:p>
          <a:p>
            <a:r>
              <a:rPr lang="en-IN" dirty="0" smtClean="0"/>
              <a:t>Uses </a:t>
            </a:r>
            <a:r>
              <a:rPr lang="en-IN" b="1" dirty="0" smtClean="0"/>
              <a:t>dictionaries</a:t>
            </a:r>
            <a:r>
              <a:rPr lang="en-IN" dirty="0" smtClean="0"/>
              <a:t> or </a:t>
            </a:r>
            <a:r>
              <a:rPr lang="en-IN" b="1" dirty="0" smtClean="0"/>
              <a:t>lexicons</a:t>
            </a:r>
            <a:r>
              <a:rPr lang="en-IN" dirty="0" smtClean="0"/>
              <a:t> for adding possible tags to each word</a:t>
            </a:r>
          </a:p>
          <a:p>
            <a:pPr algn="just"/>
            <a:r>
              <a:rPr lang="en-IN" dirty="0" smtClean="0"/>
              <a:t>If a word has more than one possible tag, </a:t>
            </a:r>
            <a:r>
              <a:rPr lang="en-IN" b="1" dirty="0" smtClean="0"/>
              <a:t>handwritten rules</a:t>
            </a:r>
            <a:r>
              <a:rPr lang="en-IN" dirty="0" smtClean="0"/>
              <a:t> are used to identify the correct tag</a:t>
            </a:r>
          </a:p>
          <a:p>
            <a:pPr algn="just">
              <a:buNone/>
            </a:pPr>
            <a:r>
              <a:rPr lang="en-IN" b="1" dirty="0" smtClean="0"/>
              <a:t>Rule-based Part-of-Speech (POS) tagging</a:t>
            </a:r>
            <a:r>
              <a:rPr lang="en-IN" dirty="0" smtClean="0"/>
              <a:t> assigns the correct grammatical tag to each word in a sentence using:</a:t>
            </a:r>
          </a:p>
          <a:p>
            <a:pPr lvl="1" algn="just"/>
            <a:r>
              <a:rPr lang="en-IN" dirty="0" smtClean="0"/>
              <a:t>A </a:t>
            </a:r>
            <a:r>
              <a:rPr lang="en-IN" b="1" dirty="0" smtClean="0"/>
              <a:t>dictionary or lexicon</a:t>
            </a:r>
            <a:r>
              <a:rPr lang="en-IN" dirty="0" smtClean="0"/>
              <a:t> (provides possible POS tags)</a:t>
            </a:r>
          </a:p>
          <a:p>
            <a:pPr lvl="1" algn="just"/>
            <a:r>
              <a:rPr lang="en-IN" dirty="0" smtClean="0"/>
              <a:t>A set of </a:t>
            </a:r>
            <a:r>
              <a:rPr lang="en-IN" b="1" dirty="0" smtClean="0"/>
              <a:t>hand-crafted linguistic rules</a:t>
            </a:r>
            <a:r>
              <a:rPr lang="en-IN" dirty="0" smtClean="0"/>
              <a:t> (resolves ambiguities based on context)</a:t>
            </a:r>
          </a:p>
          <a:p>
            <a:pPr>
              <a:buNone/>
            </a:pPr>
            <a:endParaRPr lang="en-IN"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4577"/>
            <a:ext cx="8229600" cy="5921115"/>
          </a:xfrm>
        </p:spPr>
        <p:txBody>
          <a:bodyPr>
            <a:normAutofit/>
          </a:bodyPr>
          <a:lstStyle/>
          <a:p>
            <a:pPr algn="just">
              <a:buNone/>
            </a:pPr>
            <a:r>
              <a:rPr lang="en-IN" b="1" dirty="0" smtClean="0"/>
              <a:t>Two-Stage Architecture:</a:t>
            </a:r>
            <a:endParaRPr lang="en-IN" dirty="0" smtClean="0"/>
          </a:p>
          <a:p>
            <a:pPr marL="539750" indent="0" algn="just">
              <a:buNone/>
            </a:pPr>
            <a:r>
              <a:rPr lang="en-IN" dirty="0" smtClean="0"/>
              <a:t>◦ </a:t>
            </a:r>
            <a:r>
              <a:rPr lang="en-IN" b="1" dirty="0" smtClean="0"/>
              <a:t>First Stage:</a:t>
            </a:r>
            <a:r>
              <a:rPr lang="en-IN" dirty="0" smtClean="0"/>
              <a:t> Uses a </a:t>
            </a:r>
            <a:r>
              <a:rPr lang="en-IN" b="1" dirty="0" smtClean="0"/>
              <a:t>dictionary</a:t>
            </a:r>
            <a:r>
              <a:rPr lang="en-IN" dirty="0" smtClean="0"/>
              <a:t> to assign each word a list of </a:t>
            </a:r>
            <a:r>
              <a:rPr lang="en-IN" b="1" dirty="0" smtClean="0"/>
              <a:t>potential parts of speech</a:t>
            </a:r>
            <a:r>
              <a:rPr lang="en-IN" dirty="0" smtClean="0"/>
              <a:t>.</a:t>
            </a:r>
          </a:p>
          <a:p>
            <a:pPr marL="539750" indent="0" algn="just">
              <a:buNone/>
            </a:pPr>
            <a:r>
              <a:rPr lang="en-IN" dirty="0" smtClean="0"/>
              <a:t>◦ </a:t>
            </a:r>
            <a:r>
              <a:rPr lang="en-IN" b="1" dirty="0" smtClean="0"/>
              <a:t>Second Stage:</a:t>
            </a:r>
            <a:r>
              <a:rPr lang="en-IN" dirty="0" smtClean="0"/>
              <a:t> Uses a large list of </a:t>
            </a:r>
            <a:r>
              <a:rPr lang="en-IN" b="1" dirty="0" smtClean="0"/>
              <a:t>handwritten disambiguation rules</a:t>
            </a:r>
            <a:r>
              <a:rPr lang="en-IN" dirty="0" smtClean="0"/>
              <a:t> to sort down the list to a single part of speech for each word.</a:t>
            </a:r>
          </a:p>
          <a:p>
            <a:endParaRPr lang="en-I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Rule-based Example</a:t>
            </a:r>
            <a:endParaRPr lang="en-IN" dirty="0"/>
          </a:p>
        </p:txBody>
      </p:sp>
      <p:sp>
        <p:nvSpPr>
          <p:cNvPr id="3" name="Content Placeholder 2"/>
          <p:cNvSpPr>
            <a:spLocks noGrp="1"/>
          </p:cNvSpPr>
          <p:nvPr>
            <p:ph idx="1"/>
          </p:nvPr>
        </p:nvSpPr>
        <p:spPr>
          <a:xfrm>
            <a:off x="457200" y="1600200"/>
            <a:ext cx="8229600" cy="4965492"/>
          </a:xfrm>
        </p:spPr>
        <p:txBody>
          <a:bodyPr>
            <a:normAutofit lnSpcReduction="10000"/>
          </a:bodyPr>
          <a:lstStyle/>
          <a:p>
            <a:pPr algn="just">
              <a:buNone/>
            </a:pPr>
            <a:r>
              <a:rPr lang="en-IN" dirty="0" smtClean="0"/>
              <a:t>Sentence: </a:t>
            </a:r>
            <a:r>
              <a:rPr lang="en-IN" b="1" dirty="0" smtClean="0"/>
              <a:t>"The dogs bark loudly”</a:t>
            </a:r>
          </a:p>
          <a:p>
            <a:pPr>
              <a:buNone/>
            </a:pPr>
            <a:r>
              <a:rPr lang="en-IN" sz="2800" b="1" dirty="0" smtClean="0"/>
              <a:t>Lexicon</a:t>
            </a:r>
            <a:r>
              <a:rPr lang="en-IN" b="1" dirty="0" smtClean="0"/>
              <a:t>:</a:t>
            </a:r>
          </a:p>
          <a:p>
            <a:pPr lvl="2" algn="just">
              <a:buNone/>
            </a:pPr>
            <a:r>
              <a:rPr lang="en-IN" dirty="0" smtClean="0"/>
              <a:t>"The" → determiner (DT)</a:t>
            </a:r>
          </a:p>
          <a:p>
            <a:pPr lvl="2" algn="just">
              <a:buNone/>
            </a:pPr>
            <a:r>
              <a:rPr lang="en-IN" dirty="0" smtClean="0"/>
              <a:t>"dogs" → noun (NN or NNS)</a:t>
            </a:r>
          </a:p>
          <a:p>
            <a:pPr lvl="2" algn="just">
              <a:buNone/>
            </a:pPr>
            <a:r>
              <a:rPr lang="en-IN" dirty="0" smtClean="0"/>
              <a:t>"bark" → noun (NN) or verb (VB)</a:t>
            </a:r>
          </a:p>
          <a:p>
            <a:pPr lvl="2" algn="just">
              <a:buNone/>
            </a:pPr>
            <a:r>
              <a:rPr lang="en-IN" dirty="0" smtClean="0"/>
              <a:t>"loudly" → adverb (RB)</a:t>
            </a:r>
          </a:p>
          <a:p>
            <a:pPr lvl="2" indent="-1143000">
              <a:buNone/>
            </a:pPr>
            <a:r>
              <a:rPr lang="en-IN" sz="2600" b="1" dirty="0" smtClean="0"/>
              <a:t>Rules:</a:t>
            </a:r>
          </a:p>
          <a:p>
            <a:pPr lvl="1" algn="just"/>
            <a:r>
              <a:rPr lang="en-IN" dirty="0" smtClean="0"/>
              <a:t>	If a word follows a determiner and is plural, tag as </a:t>
            </a:r>
            <a:r>
              <a:rPr lang="en-IN" b="1" dirty="0" smtClean="0"/>
              <a:t>noun plural (NNS)</a:t>
            </a:r>
            <a:endParaRPr lang="en-IN" dirty="0" smtClean="0"/>
          </a:p>
          <a:p>
            <a:pPr lvl="1" algn="just"/>
            <a:r>
              <a:rPr lang="en-IN" dirty="0" smtClean="0"/>
              <a:t>If a word follows a plural noun, and can be a verb, tag as </a:t>
            </a:r>
            <a:r>
              <a:rPr lang="en-IN" b="1" dirty="0" smtClean="0"/>
              <a:t>verb</a:t>
            </a:r>
            <a:endParaRPr lang="en-IN" dirty="0" smtClean="0"/>
          </a:p>
          <a:p>
            <a:pPr lvl="2" indent="-1143000">
              <a:buNone/>
            </a:pPr>
            <a:endParaRPr lang="en-IN" dirty="0" smtClean="0"/>
          </a:p>
          <a:p>
            <a:pPr>
              <a:buNone/>
            </a:pPr>
            <a:endParaRPr lang="en-IN" b="1" dirty="0" smtClean="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9666"/>
            <a:ext cx="8229600" cy="5616497"/>
          </a:xfrm>
        </p:spPr>
        <p:txBody>
          <a:bodyPr/>
          <a:lstStyle/>
          <a:p>
            <a:pPr>
              <a:buNone/>
            </a:pPr>
            <a:r>
              <a:rPr lang="en-IN" b="1" dirty="0" smtClean="0"/>
              <a:t>Final tags:</a:t>
            </a:r>
          </a:p>
          <a:p>
            <a:pPr lvl="3">
              <a:buNone/>
            </a:pPr>
            <a:r>
              <a:rPr lang="en-IN" sz="3200" dirty="0" smtClean="0"/>
              <a:t>The/DT</a:t>
            </a:r>
          </a:p>
          <a:p>
            <a:pPr lvl="3">
              <a:buNone/>
            </a:pPr>
            <a:r>
              <a:rPr lang="en-IN" sz="3200" dirty="0" smtClean="0"/>
              <a:t>dogs/NNS</a:t>
            </a:r>
          </a:p>
          <a:p>
            <a:pPr lvl="3">
              <a:buNone/>
            </a:pPr>
            <a:r>
              <a:rPr lang="en-IN" sz="3200" dirty="0" smtClean="0"/>
              <a:t>bark/VB</a:t>
            </a:r>
          </a:p>
          <a:p>
            <a:pPr lvl="3">
              <a:buNone/>
            </a:pPr>
            <a:r>
              <a:rPr lang="en-IN" sz="3200" dirty="0" smtClean="0"/>
              <a:t>loudly/RB</a:t>
            </a:r>
          </a:p>
          <a:p>
            <a:endParaRPr lang="en-I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Rule-based POS Tagging Examples</a:t>
            </a:r>
            <a:endParaRPr lang="en-IN" dirty="0"/>
          </a:p>
        </p:txBody>
      </p:sp>
      <p:sp>
        <p:nvSpPr>
          <p:cNvPr id="3" name="Content Placeholder 2"/>
          <p:cNvSpPr>
            <a:spLocks noGrp="1"/>
          </p:cNvSpPr>
          <p:nvPr>
            <p:ph idx="1"/>
          </p:nvPr>
        </p:nvSpPr>
        <p:spPr/>
        <p:txBody>
          <a:bodyPr/>
          <a:lstStyle/>
          <a:p>
            <a:pPr algn="just">
              <a:buNone/>
            </a:pPr>
            <a:r>
              <a:rPr lang="en-IN" b="1" dirty="0" smtClean="0"/>
              <a:t>Example 1: "I play cricket Everyday"</a:t>
            </a:r>
            <a:endParaRPr lang="en-IN" dirty="0" smtClean="0"/>
          </a:p>
          <a:p>
            <a:pPr algn="just">
              <a:buNone/>
            </a:pPr>
            <a:r>
              <a:rPr lang="en-IN" dirty="0" smtClean="0"/>
              <a:t>    ◦ "play" is tagged as a Verb</a:t>
            </a:r>
          </a:p>
          <a:p>
            <a:pPr algn="just">
              <a:buNone/>
            </a:pPr>
            <a:r>
              <a:rPr lang="en-IN" b="1" dirty="0" smtClean="0"/>
              <a:t>Example 2: "I want to perform a play"</a:t>
            </a:r>
            <a:endParaRPr lang="en-IN" dirty="0" smtClean="0"/>
          </a:p>
          <a:p>
            <a:pPr algn="just">
              <a:buNone/>
            </a:pPr>
            <a:r>
              <a:rPr lang="en-IN" dirty="0" smtClean="0"/>
              <a:t>    ◦ Here, "play" is a </a:t>
            </a:r>
            <a:r>
              <a:rPr lang="en-IN" b="1" dirty="0" smtClean="0"/>
              <a:t>noun</a:t>
            </a:r>
            <a:r>
              <a:rPr lang="en-IN" dirty="0" smtClean="0"/>
              <a:t> rather than a verb, because it follows a </a:t>
            </a:r>
            <a:r>
              <a:rPr lang="en-IN" b="1" dirty="0" smtClean="0"/>
              <a:t>determiner</a:t>
            </a:r>
            <a:r>
              <a:rPr lang="en-IN" dirty="0" smtClean="0"/>
              <a:t> ("a“)</a:t>
            </a:r>
          </a:p>
          <a:p>
            <a:pPr algn="just">
              <a:buNone/>
            </a:pPr>
            <a:r>
              <a:rPr lang="en-IN" b="1" dirty="0" smtClean="0"/>
              <a:t>Example 3: "I want to Read a book"</a:t>
            </a:r>
            <a:endParaRPr lang="en-IN" dirty="0" smtClean="0"/>
          </a:p>
          <a:p>
            <a:pPr algn="just">
              <a:buNone/>
            </a:pPr>
            <a:r>
              <a:rPr lang="en-IN" dirty="0" smtClean="0"/>
              <a:t>    ◦ Rule: </a:t>
            </a:r>
            <a:r>
              <a:rPr lang="en-IN" dirty="0" err="1" smtClean="0"/>
              <a:t>Det</a:t>
            </a:r>
            <a:r>
              <a:rPr lang="en-IN" dirty="0" smtClean="0"/>
              <a:t> -&gt; book (The word "book" is a Noun (NN) when preceded by a Determiner)</a:t>
            </a:r>
          </a:p>
          <a:p>
            <a:pPr>
              <a:buNone/>
            </a:pPr>
            <a:endParaRPr lang="en-IN" dirty="0" smtClean="0"/>
          </a:p>
          <a:p>
            <a:pPr>
              <a:buNone/>
            </a:pPr>
            <a:endParaRPr lang="en-IN"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Rule-based Pros &amp; Cons</a:t>
            </a:r>
            <a:endParaRPr lang="en-IN" dirty="0"/>
          </a:p>
        </p:txBody>
      </p:sp>
      <p:sp>
        <p:nvSpPr>
          <p:cNvPr id="3" name="Content Placeholder 2"/>
          <p:cNvSpPr>
            <a:spLocks noGrp="1"/>
          </p:cNvSpPr>
          <p:nvPr>
            <p:ph idx="1"/>
          </p:nvPr>
        </p:nvSpPr>
        <p:spPr/>
        <p:txBody>
          <a:bodyPr/>
          <a:lstStyle/>
          <a:p>
            <a:pPr>
              <a:buNone/>
            </a:pPr>
            <a:r>
              <a:rPr lang="en-IN" b="1" dirty="0" smtClean="0"/>
              <a:t>Pros:</a:t>
            </a:r>
            <a:endParaRPr lang="en-IN" dirty="0" smtClean="0"/>
          </a:p>
          <a:p>
            <a:r>
              <a:rPr lang="en-IN" dirty="0" smtClean="0"/>
              <a:t>Transparent, interpretable.</a:t>
            </a:r>
          </a:p>
          <a:p>
            <a:r>
              <a:rPr lang="en-IN" dirty="0" smtClean="0"/>
              <a:t>Works without large datasets</a:t>
            </a:r>
          </a:p>
          <a:p>
            <a:pPr>
              <a:buNone/>
            </a:pPr>
            <a:r>
              <a:rPr lang="en-IN" b="1" dirty="0" smtClean="0"/>
              <a:t>Cons:</a:t>
            </a:r>
            <a:endParaRPr lang="en-IN" dirty="0" smtClean="0"/>
          </a:p>
          <a:p>
            <a:r>
              <a:rPr lang="en-IN" dirty="0" smtClean="0"/>
              <a:t>Hard to write rules for all cases.</a:t>
            </a:r>
          </a:p>
          <a:p>
            <a:r>
              <a:rPr lang="en-IN" dirty="0" smtClean="0"/>
              <a:t>Struggles with ambiguous words: </a:t>
            </a:r>
            <a:r>
              <a:rPr lang="en-IN" i="1" dirty="0" smtClean="0"/>
              <a:t>“book” → noun or verb?</a:t>
            </a:r>
            <a:endParaRPr lang="en-IN" dirty="0" smtClean="0"/>
          </a:p>
          <a:p>
            <a:endParaRPr lang="en-IN"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Stochastic-based POS Tagging</a:t>
            </a:r>
            <a:endParaRPr lang="en-IN" dirty="0"/>
          </a:p>
        </p:txBody>
      </p:sp>
      <p:sp>
        <p:nvSpPr>
          <p:cNvPr id="3" name="Content Placeholder 2"/>
          <p:cNvSpPr>
            <a:spLocks noGrp="1"/>
          </p:cNvSpPr>
          <p:nvPr>
            <p:ph idx="1"/>
          </p:nvPr>
        </p:nvSpPr>
        <p:spPr>
          <a:xfrm>
            <a:off x="457200" y="1600200"/>
            <a:ext cx="8229600" cy="4995472"/>
          </a:xfrm>
        </p:spPr>
        <p:txBody>
          <a:bodyPr>
            <a:normAutofit lnSpcReduction="10000"/>
          </a:bodyPr>
          <a:lstStyle/>
          <a:p>
            <a:pPr algn="just"/>
            <a:r>
              <a:rPr lang="en-IN" dirty="0" smtClean="0"/>
              <a:t>Models that include </a:t>
            </a:r>
            <a:r>
              <a:rPr lang="en-IN" b="1" dirty="0" smtClean="0"/>
              <a:t>frequency or probability</a:t>
            </a:r>
            <a:r>
              <a:rPr lang="en-IN" dirty="0" smtClean="0"/>
              <a:t> can be called stochastic</a:t>
            </a:r>
          </a:p>
          <a:p>
            <a:pPr algn="just"/>
            <a:r>
              <a:rPr lang="en-IN" dirty="0" smtClean="0"/>
              <a:t>Any number of different approaches to the problem of part-of-speech tagging can be referred to as a </a:t>
            </a:r>
            <a:r>
              <a:rPr lang="en-IN" b="1" dirty="0" smtClean="0"/>
              <a:t>stochastic tagger.</a:t>
            </a:r>
            <a:endParaRPr lang="en-IN" dirty="0" smtClean="0"/>
          </a:p>
          <a:p>
            <a:pPr algn="just"/>
            <a:r>
              <a:rPr lang="en-IN" dirty="0" smtClean="0"/>
              <a:t>Uses </a:t>
            </a:r>
            <a:r>
              <a:rPr lang="en-IN" b="1" dirty="0" smtClean="0"/>
              <a:t>probabilities</a:t>
            </a:r>
            <a:r>
              <a:rPr lang="en-IN" dirty="0" smtClean="0"/>
              <a:t> instead of fixed rules.</a:t>
            </a:r>
          </a:p>
          <a:p>
            <a:pPr algn="just"/>
            <a:r>
              <a:rPr lang="en-IN" dirty="0" smtClean="0"/>
              <a:t>Often implemented via </a:t>
            </a:r>
            <a:r>
              <a:rPr lang="en-IN" b="1" dirty="0" smtClean="0"/>
              <a:t>Hidden Markov Models (HMMs)</a:t>
            </a:r>
            <a:r>
              <a:rPr lang="en-IN" dirty="0" smtClean="0"/>
              <a:t>.</a:t>
            </a:r>
          </a:p>
          <a:p>
            <a:pPr algn="just"/>
            <a:r>
              <a:rPr lang="en-IN" dirty="0" smtClean="0"/>
              <a:t>Finds the most probable tag sequence for a sentence.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9763"/>
            <a:ext cx="8229600" cy="6115987"/>
          </a:xfrm>
        </p:spPr>
        <p:txBody>
          <a:bodyPr>
            <a:normAutofit fontScale="92500" lnSpcReduction="10000"/>
          </a:bodyPr>
          <a:lstStyle/>
          <a:p>
            <a:pPr>
              <a:buNone/>
            </a:pPr>
            <a:r>
              <a:rPr lang="en-IN" sz="3500" b="1" dirty="0" smtClean="0"/>
              <a:t>Approaches:</a:t>
            </a:r>
          </a:p>
          <a:p>
            <a:pPr>
              <a:buNone/>
            </a:pPr>
            <a:r>
              <a:rPr lang="en-IN" dirty="0" smtClean="0"/>
              <a:t> 1. </a:t>
            </a:r>
            <a:r>
              <a:rPr lang="en-IN" b="1" dirty="0" smtClean="0"/>
              <a:t>Word Frequency Approach:</a:t>
            </a:r>
          </a:p>
          <a:p>
            <a:pPr>
              <a:buNone/>
            </a:pPr>
            <a:r>
              <a:rPr lang="en-IN" dirty="0" smtClean="0"/>
              <a:t> ▪ Stochastic taggers disambiguate words based on the </a:t>
            </a:r>
            <a:r>
              <a:rPr lang="en-IN" b="1" dirty="0" smtClean="0"/>
              <a:t>probability that a word occurs with a particular tag</a:t>
            </a:r>
          </a:p>
          <a:p>
            <a:pPr>
              <a:buNone/>
            </a:pPr>
            <a:r>
              <a:rPr lang="en-IN" dirty="0" smtClean="0"/>
              <a:t>2. </a:t>
            </a:r>
            <a:r>
              <a:rPr lang="en-IN" b="1" dirty="0" smtClean="0"/>
              <a:t>Tag Sequence Probability:</a:t>
            </a:r>
          </a:p>
          <a:p>
            <a:pPr indent="196850" algn="just">
              <a:buNone/>
              <a:tabLst>
                <a:tab pos="539750" algn="l"/>
              </a:tabLst>
            </a:pPr>
            <a:r>
              <a:rPr lang="en-IN" dirty="0" smtClean="0"/>
              <a:t>▪ The tagger calculates the </a:t>
            </a:r>
            <a:r>
              <a:rPr lang="en-IN" b="1" dirty="0" smtClean="0"/>
              <a:t>probability of a given sequence of tags occurring</a:t>
            </a:r>
          </a:p>
          <a:p>
            <a:pPr indent="196850" algn="just">
              <a:buNone/>
              <a:tabLst>
                <a:tab pos="539750" algn="l"/>
              </a:tabLst>
            </a:pPr>
            <a:r>
              <a:rPr lang="en-IN" dirty="0" smtClean="0"/>
              <a:t>▪ Also called an </a:t>
            </a:r>
            <a:r>
              <a:rPr lang="en-IN" b="1" dirty="0" smtClean="0"/>
              <a:t>N-gram approach</a:t>
            </a:r>
          </a:p>
          <a:p>
            <a:pPr marL="539750" indent="0" algn="just">
              <a:buNone/>
              <a:tabLst>
                <a:tab pos="539750" algn="l"/>
              </a:tabLst>
            </a:pPr>
            <a:r>
              <a:rPr lang="en-IN" dirty="0" smtClean="0"/>
              <a:t>▪ The best tag for a given word is determined by the </a:t>
            </a:r>
            <a:r>
              <a:rPr lang="en-IN" b="1" dirty="0" smtClean="0"/>
              <a:t>probability that it occurs with the N previous tags</a:t>
            </a:r>
          </a:p>
          <a:p>
            <a:pPr indent="196850" algn="just">
              <a:buNone/>
              <a:tabLst>
                <a:tab pos="539750" algn="l"/>
              </a:tabLst>
            </a:pPr>
            <a:r>
              <a:rPr lang="en-IN" dirty="0" smtClean="0"/>
              <a:t> ▪ Requires a </a:t>
            </a:r>
            <a:r>
              <a:rPr lang="en-IN" b="1" dirty="0" smtClean="0"/>
              <a:t>training corpus</a:t>
            </a:r>
            <a:endParaRPr lang="en-IN"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Stochastic-based POS Tagging Example</a:t>
            </a:r>
            <a:endParaRPr lang="en-IN" dirty="0"/>
          </a:p>
        </p:txBody>
      </p:sp>
      <p:sp>
        <p:nvSpPr>
          <p:cNvPr id="3" name="Content Placeholder 2"/>
          <p:cNvSpPr>
            <a:spLocks noGrp="1"/>
          </p:cNvSpPr>
          <p:nvPr>
            <p:ph idx="1"/>
          </p:nvPr>
        </p:nvSpPr>
        <p:spPr>
          <a:xfrm>
            <a:off x="457200" y="1600200"/>
            <a:ext cx="8476938" cy="5257800"/>
          </a:xfrm>
        </p:spPr>
        <p:txBody>
          <a:bodyPr>
            <a:normAutofit fontScale="92500" lnSpcReduction="10000"/>
          </a:bodyPr>
          <a:lstStyle/>
          <a:p>
            <a:pPr>
              <a:buNone/>
            </a:pPr>
            <a:r>
              <a:rPr lang="en-IN" b="1" dirty="0" smtClean="0"/>
              <a:t>Sentence:</a:t>
            </a:r>
            <a:r>
              <a:rPr lang="en-IN" dirty="0" smtClean="0"/>
              <a:t> "Secretariat is expected to race tomorrow“</a:t>
            </a:r>
          </a:p>
          <a:p>
            <a:pPr>
              <a:buNone/>
            </a:pPr>
            <a:r>
              <a:rPr lang="en-IN" b="1" dirty="0" smtClean="0"/>
              <a:t>Ambiguity:</a:t>
            </a:r>
            <a:r>
              <a:rPr lang="en-IN" dirty="0" smtClean="0"/>
              <a:t> "race" can be a Verb or a Noun</a:t>
            </a:r>
          </a:p>
          <a:p>
            <a:pPr>
              <a:buNone/>
            </a:pPr>
            <a:r>
              <a:rPr lang="en-IN" b="1" dirty="0" smtClean="0"/>
              <a:t>From Corpus Data:</a:t>
            </a:r>
          </a:p>
          <a:p>
            <a:pPr lvl="1"/>
            <a:r>
              <a:rPr lang="en-IN" dirty="0" smtClean="0"/>
              <a:t>	Verbs similar to "race" (e.g., that can be preceded by "to") appear about 500 times.</a:t>
            </a:r>
          </a:p>
          <a:p>
            <a:pPr lvl="1"/>
            <a:r>
              <a:rPr lang="en-IN" dirty="0" smtClean="0"/>
              <a:t>    Nouns similar to "race" (e.g., that can be preceded by "to") occur less frequently.</a:t>
            </a:r>
          </a:p>
          <a:p>
            <a:pPr>
              <a:buNone/>
            </a:pPr>
            <a:r>
              <a:rPr lang="en-IN" b="1" dirty="0" smtClean="0"/>
              <a:t>Probability:</a:t>
            </a:r>
            <a:endParaRPr lang="en-IN" dirty="0" smtClean="0"/>
          </a:p>
          <a:p>
            <a:pPr lvl="1"/>
            <a:r>
              <a:rPr lang="en-IN" dirty="0" smtClean="0"/>
              <a:t>    The </a:t>
            </a:r>
            <a:r>
              <a:rPr lang="en-IN" b="1" dirty="0" smtClean="0"/>
              <a:t>probability of the sequence "to verb tag" is higher</a:t>
            </a:r>
            <a:r>
              <a:rPr lang="en-IN" dirty="0" smtClean="0"/>
              <a:t> than "to noun tag".</a:t>
            </a:r>
          </a:p>
          <a:p>
            <a:pPr lvl="1"/>
            <a:r>
              <a:rPr lang="en-IN" dirty="0" smtClean="0"/>
              <a:t>    Therefore, "race" is correctly tagged as a </a:t>
            </a:r>
            <a:r>
              <a:rPr lang="en-IN" b="1" dirty="0" smtClean="0"/>
              <a:t>Verb</a:t>
            </a:r>
            <a:r>
              <a:rPr lang="en-IN" dirty="0" smtClean="0"/>
              <a:t> in this context.</a:t>
            </a:r>
          </a:p>
          <a:p>
            <a:pPr>
              <a:buNone/>
            </a:pPr>
            <a:endParaRPr lang="en-IN" dirty="0" smtClean="0"/>
          </a:p>
          <a:p>
            <a:pPr>
              <a:buNone/>
            </a:pPr>
            <a:endParaRPr lang="en-IN" dirty="0" smtClean="0"/>
          </a:p>
          <a:p>
            <a:pPr>
              <a:buNone/>
            </a:pPr>
            <a:endParaRPr lang="en-IN"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Stochastic - HMM-Based PoS Tagging</a:t>
            </a:r>
            <a:endParaRPr lang="en-IN" b="1" dirty="0"/>
          </a:p>
        </p:txBody>
      </p:sp>
      <p:sp>
        <p:nvSpPr>
          <p:cNvPr id="3" name="Content Placeholder 2"/>
          <p:cNvSpPr>
            <a:spLocks noGrp="1"/>
          </p:cNvSpPr>
          <p:nvPr>
            <p:ph idx="1"/>
          </p:nvPr>
        </p:nvSpPr>
        <p:spPr/>
        <p:txBody>
          <a:bodyPr/>
          <a:lstStyle/>
          <a:p>
            <a:r>
              <a:rPr lang="en-IN" dirty="0" smtClean="0"/>
              <a:t>Transition probability: P(tag</a:t>
            </a:r>
            <a:r>
              <a:rPr lang="en-IN" sz="2000" dirty="0" smtClean="0"/>
              <a:t>i</a:t>
            </a:r>
            <a:r>
              <a:rPr lang="en-IN" dirty="0" smtClean="0"/>
              <a:t>∣tag</a:t>
            </a:r>
            <a:r>
              <a:rPr lang="en-IN" sz="2000" dirty="0" smtClean="0"/>
              <a:t>i−1</a:t>
            </a:r>
            <a:r>
              <a:rPr lang="en-IN" dirty="0" smtClean="0"/>
              <a:t>)</a:t>
            </a:r>
          </a:p>
          <a:p>
            <a:r>
              <a:rPr lang="en-IN" dirty="0" smtClean="0"/>
              <a:t>Emission probability: P(</a:t>
            </a:r>
            <a:r>
              <a:rPr lang="en-IN" dirty="0" err="1" smtClean="0"/>
              <a:t>word</a:t>
            </a:r>
            <a:r>
              <a:rPr lang="en-IN" sz="2400" dirty="0" err="1" smtClean="0"/>
              <a:t>i</a:t>
            </a:r>
            <a:r>
              <a:rPr lang="en-IN" dirty="0" err="1" smtClean="0"/>
              <a:t>∣tag</a:t>
            </a:r>
            <a:r>
              <a:rPr lang="en-IN" sz="2400" dirty="0" err="1" smtClean="0"/>
              <a:t>i</a:t>
            </a:r>
            <a:r>
              <a:rPr lang="en-IN" dirty="0" smtClean="0"/>
              <a:t>)</a:t>
            </a:r>
          </a:p>
          <a:p>
            <a:r>
              <a:rPr lang="en-IN" dirty="0" smtClean="0"/>
              <a:t>Viterbi algorithm finds the most probable tag path.</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HMM Formula Example</a:t>
            </a:r>
            <a:endParaRPr lang="en-IN" dirty="0"/>
          </a:p>
        </p:txBody>
      </p:sp>
      <p:sp>
        <p:nvSpPr>
          <p:cNvPr id="3" name="Content Placeholder 2"/>
          <p:cNvSpPr>
            <a:spLocks noGrp="1"/>
          </p:cNvSpPr>
          <p:nvPr>
            <p:ph idx="1"/>
          </p:nvPr>
        </p:nvSpPr>
        <p:spPr/>
        <p:txBody>
          <a:bodyPr/>
          <a:lstStyle/>
          <a:p>
            <a:pPr algn="just"/>
            <a:r>
              <a:rPr lang="en-IN" dirty="0" smtClean="0"/>
              <a:t>For sentence </a:t>
            </a:r>
            <a:r>
              <a:rPr lang="en-IN" i="1" dirty="0" smtClean="0"/>
              <a:t>“I love NLP”</a:t>
            </a:r>
            <a:r>
              <a:rPr lang="en-IN" dirty="0" smtClean="0"/>
              <a:t>:</a:t>
            </a:r>
          </a:p>
          <a:p>
            <a:pPr algn="just">
              <a:buNone/>
            </a:pPr>
            <a:r>
              <a:rPr lang="en-IN" dirty="0" smtClean="0"/>
              <a:t>	P(</a:t>
            </a:r>
            <a:r>
              <a:rPr lang="en-IN" dirty="0" err="1" smtClean="0"/>
              <a:t>tags∣words</a:t>
            </a:r>
            <a:r>
              <a:rPr lang="en-IN" dirty="0" smtClean="0"/>
              <a:t>)=P(PRON)×P(</a:t>
            </a:r>
            <a:r>
              <a:rPr lang="en-IN" dirty="0" err="1" smtClean="0"/>
              <a:t>love∣VERB</a:t>
            </a:r>
            <a:r>
              <a:rPr lang="en-IN" dirty="0" smtClean="0"/>
              <a:t>)×P(VERB∣PRON)×…</a:t>
            </a:r>
          </a:p>
          <a:p>
            <a:pPr algn="just">
              <a:buNone/>
            </a:pPr>
            <a:r>
              <a:rPr lang="en-IN" dirty="0" smtClean="0"/>
              <a:t>Then choose the sequence maximizing this probability.</a:t>
            </a:r>
            <a:endParaRPr lang="en-I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Transformation-based Tagging</a:t>
            </a:r>
            <a:endParaRPr lang="en-IN" dirty="0"/>
          </a:p>
        </p:txBody>
      </p:sp>
      <p:sp>
        <p:nvSpPr>
          <p:cNvPr id="3" name="Content Placeholder 2"/>
          <p:cNvSpPr>
            <a:spLocks noGrp="1"/>
          </p:cNvSpPr>
          <p:nvPr>
            <p:ph idx="1"/>
          </p:nvPr>
        </p:nvSpPr>
        <p:spPr>
          <a:xfrm>
            <a:off x="457200" y="1417638"/>
            <a:ext cx="8229600" cy="5440362"/>
          </a:xfrm>
        </p:spPr>
        <p:txBody>
          <a:bodyPr>
            <a:normAutofit fontScale="92500" lnSpcReduction="20000"/>
          </a:bodyPr>
          <a:lstStyle/>
          <a:p>
            <a:pPr algn="just">
              <a:buNone/>
            </a:pPr>
            <a:r>
              <a:rPr lang="en-IN" dirty="0" smtClean="0"/>
              <a:t>It is also Known as</a:t>
            </a:r>
            <a:r>
              <a:rPr lang="en-IN" b="1" dirty="0" smtClean="0"/>
              <a:t>: Brill Tagging</a:t>
            </a:r>
            <a:r>
              <a:rPr lang="en-IN" dirty="0" smtClean="0"/>
              <a:t>.</a:t>
            </a:r>
          </a:p>
          <a:p>
            <a:pPr algn="just">
              <a:buNone/>
            </a:pPr>
            <a:r>
              <a:rPr lang="en-IN" b="1" dirty="0" smtClean="0"/>
              <a:t>Nature:</a:t>
            </a:r>
            <a:r>
              <a:rPr lang="en-IN" dirty="0" smtClean="0"/>
              <a:t> An instance of transformation-based learning.</a:t>
            </a:r>
          </a:p>
          <a:p>
            <a:pPr algn="just">
              <a:buNone/>
            </a:pPr>
            <a:r>
              <a:rPr lang="en-IN" b="1" dirty="0" smtClean="0"/>
              <a:t>Rule-based Algorithm</a:t>
            </a:r>
            <a:r>
              <a:rPr lang="en-IN" dirty="0" smtClean="0"/>
              <a:t>: It is a rule-based algorithm for automatic tagging of POS to given text.</a:t>
            </a:r>
          </a:p>
          <a:p>
            <a:pPr algn="just">
              <a:buNone/>
            </a:pPr>
            <a:r>
              <a:rPr lang="en-IN" b="1" dirty="0" smtClean="0"/>
              <a:t>Learning:</a:t>
            </a:r>
            <a:r>
              <a:rPr lang="en-IN" dirty="0" smtClean="0"/>
              <a:t> It is a machine learning technique where rules are automatically induced from data.</a:t>
            </a:r>
          </a:p>
          <a:p>
            <a:pPr algn="just">
              <a:buNone/>
            </a:pPr>
            <a:r>
              <a:rPr lang="en-IN" b="1" dirty="0" smtClean="0"/>
              <a:t>Inspiration:</a:t>
            </a:r>
            <a:r>
              <a:rPr lang="en-IN" dirty="0" smtClean="0"/>
              <a:t> Draws inspiration from both rule-based and stochastic taggers.</a:t>
            </a:r>
          </a:p>
          <a:p>
            <a:pPr algn="just">
              <a:buNone/>
            </a:pPr>
            <a:r>
              <a:rPr lang="en-IN" b="1" dirty="0" smtClean="0"/>
              <a:t>General Idea:</a:t>
            </a:r>
          </a:p>
          <a:p>
            <a:pPr algn="just">
              <a:buNone/>
            </a:pPr>
            <a:r>
              <a:rPr lang="en-IN" dirty="0" smtClean="0"/>
              <a:t>    ◦ Guess the tag of each word.</a:t>
            </a:r>
          </a:p>
          <a:p>
            <a:pPr>
              <a:buNone/>
            </a:pPr>
            <a:r>
              <a:rPr lang="en-IN" dirty="0" smtClean="0"/>
              <a:t>    ◦ Then, go back and fix the mistakes</a:t>
            </a:r>
          </a:p>
          <a:p>
            <a:endParaRPr lang="en-IN"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How Transformation-based Learning (TBL) Works</a:t>
            </a:r>
            <a:endParaRPr lang="en-IN" dirty="0"/>
          </a:p>
        </p:txBody>
      </p:sp>
      <p:sp>
        <p:nvSpPr>
          <p:cNvPr id="3" name="Content Placeholder 2"/>
          <p:cNvSpPr>
            <a:spLocks noGrp="1"/>
          </p:cNvSpPr>
          <p:nvPr>
            <p:ph idx="1"/>
          </p:nvPr>
        </p:nvSpPr>
        <p:spPr/>
        <p:txBody>
          <a:bodyPr>
            <a:normAutofit fontScale="85000" lnSpcReduction="20000"/>
          </a:bodyPr>
          <a:lstStyle/>
          <a:p>
            <a:r>
              <a:rPr lang="en-IN" b="1" dirty="0" smtClean="0"/>
              <a:t>Starting Point:</a:t>
            </a:r>
            <a:endParaRPr lang="en-IN" dirty="0" smtClean="0"/>
          </a:p>
          <a:p>
            <a:pPr lvl="1" algn="just"/>
            <a:r>
              <a:rPr lang="en-IN" dirty="0" smtClean="0"/>
              <a:t>Starts with some </a:t>
            </a:r>
            <a:r>
              <a:rPr lang="en-IN" b="1" dirty="0" smtClean="0"/>
              <a:t>solution to the problem</a:t>
            </a:r>
            <a:r>
              <a:rPr lang="en-IN" dirty="0" smtClean="0"/>
              <a:t>.</a:t>
            </a:r>
          </a:p>
          <a:p>
            <a:pPr lvl="1" algn="just"/>
            <a:r>
              <a:rPr lang="en-IN" dirty="0" smtClean="0"/>
              <a:t>Works in </a:t>
            </a:r>
            <a:r>
              <a:rPr lang="en-IN" b="1" dirty="0" smtClean="0"/>
              <a:t>cycles</a:t>
            </a:r>
          </a:p>
          <a:p>
            <a:r>
              <a:rPr lang="en-IN" b="1" dirty="0" smtClean="0"/>
              <a:t>Cycle Process:</a:t>
            </a:r>
          </a:p>
          <a:p>
            <a:pPr lvl="1" algn="just"/>
            <a:r>
              <a:rPr lang="en-IN" dirty="0" smtClean="0"/>
              <a:t>In each cycle, TBL chooses the </a:t>
            </a:r>
            <a:r>
              <a:rPr lang="en-IN" b="1" dirty="0" smtClean="0"/>
              <a:t>most beneficial transformation</a:t>
            </a:r>
            <a:r>
              <a:rPr lang="en-IN" dirty="0" smtClean="0"/>
              <a:t>.</a:t>
            </a:r>
          </a:p>
          <a:p>
            <a:pPr lvl="1" algn="just"/>
            <a:r>
              <a:rPr lang="en-IN" dirty="0" smtClean="0"/>
              <a:t>    ◦ This chosen transformation is then </a:t>
            </a:r>
            <a:r>
              <a:rPr lang="en-IN" b="1" dirty="0" smtClean="0"/>
              <a:t>applied to the problem</a:t>
            </a:r>
            <a:endParaRPr lang="en-IN" dirty="0" smtClean="0"/>
          </a:p>
          <a:p>
            <a:pPr algn="just"/>
            <a:r>
              <a:rPr lang="en-IN" b="1" dirty="0" smtClean="0"/>
              <a:t>Stopping Condition:</a:t>
            </a:r>
          </a:p>
          <a:p>
            <a:pPr lvl="1" algn="just"/>
            <a:r>
              <a:rPr lang="en-IN" dirty="0" smtClean="0"/>
              <a:t>The algorithm stops when the </a:t>
            </a:r>
            <a:r>
              <a:rPr lang="en-IN" b="1" dirty="0" smtClean="0"/>
              <a:t>selected transformation will not add either more value</a:t>
            </a:r>
            <a:r>
              <a:rPr lang="en-IN" dirty="0" smtClean="0"/>
              <a:t> or </a:t>
            </a:r>
            <a:r>
              <a:rPr lang="en-IN" b="1" dirty="0" smtClean="0"/>
              <a:t>there are no more transformations to be selected</a:t>
            </a:r>
            <a:endParaRPr lang="en-I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Transformation-based Tagging Example</a:t>
            </a:r>
            <a:endParaRPr lang="en-IN" dirty="0"/>
          </a:p>
        </p:txBody>
      </p:sp>
      <p:sp>
        <p:nvSpPr>
          <p:cNvPr id="3" name="Content Placeholder 2"/>
          <p:cNvSpPr>
            <a:spLocks noGrp="1"/>
          </p:cNvSpPr>
          <p:nvPr>
            <p:ph idx="1"/>
          </p:nvPr>
        </p:nvSpPr>
        <p:spPr>
          <a:xfrm>
            <a:off x="457200" y="1600200"/>
            <a:ext cx="8229600" cy="5010462"/>
          </a:xfrm>
        </p:spPr>
        <p:txBody>
          <a:bodyPr>
            <a:normAutofit/>
          </a:bodyPr>
          <a:lstStyle/>
          <a:p>
            <a:pPr algn="just"/>
            <a:r>
              <a:rPr lang="en-IN" b="1" dirty="0" smtClean="0"/>
              <a:t>Sentence:</a:t>
            </a:r>
            <a:r>
              <a:rPr lang="en-IN" dirty="0" smtClean="0"/>
              <a:t> "The race was exciting“</a:t>
            </a:r>
          </a:p>
          <a:p>
            <a:pPr>
              <a:buNone/>
            </a:pPr>
            <a:r>
              <a:rPr lang="en-IN" b="1" dirty="0" smtClean="0"/>
              <a:t>1. Initial Tagging:</a:t>
            </a:r>
            <a:endParaRPr lang="en-IN" dirty="0" smtClean="0"/>
          </a:p>
          <a:p>
            <a:pPr lvl="1" algn="just"/>
            <a:r>
              <a:rPr lang="en-IN" dirty="0" smtClean="0"/>
              <a:t>Each word is tagged based on its </a:t>
            </a:r>
            <a:r>
              <a:rPr lang="en-IN" b="1" dirty="0" smtClean="0"/>
              <a:t>most frequent tag</a:t>
            </a:r>
            <a:r>
              <a:rPr lang="en-IN" dirty="0" smtClean="0"/>
              <a:t>.</a:t>
            </a:r>
          </a:p>
          <a:p>
            <a:pPr lvl="1" algn="just"/>
            <a:r>
              <a:rPr lang="en-IN" dirty="0" smtClean="0"/>
              <a:t>Example: "race" might initially be tagged as a Verb because "race" is frequently a Verb</a:t>
            </a:r>
          </a:p>
          <a:p>
            <a:pPr lvl="2">
              <a:buNone/>
            </a:pPr>
            <a:r>
              <a:rPr lang="en-IN" dirty="0" smtClean="0"/>
              <a:t>	◦ "The" - </a:t>
            </a:r>
            <a:r>
              <a:rPr lang="en-IN" dirty="0" err="1" smtClean="0"/>
              <a:t>Det</a:t>
            </a:r>
            <a:endParaRPr lang="en-IN" dirty="0" smtClean="0"/>
          </a:p>
          <a:p>
            <a:pPr lvl="2">
              <a:buNone/>
            </a:pPr>
            <a:r>
              <a:rPr lang="en-IN" dirty="0" smtClean="0"/>
              <a:t>    ◦ "race" - Verb</a:t>
            </a:r>
          </a:p>
          <a:p>
            <a:pPr lvl="2">
              <a:buNone/>
            </a:pPr>
            <a:r>
              <a:rPr lang="en-IN" dirty="0" smtClean="0"/>
              <a:t>    ◦ "was" - Verb</a:t>
            </a:r>
          </a:p>
          <a:p>
            <a:pPr lvl="2">
              <a:buNone/>
            </a:pPr>
            <a:r>
              <a:rPr lang="en-IN" dirty="0" smtClean="0"/>
              <a:t>    ◦ "exciting" - </a:t>
            </a:r>
            <a:r>
              <a:rPr lang="en-IN" dirty="0" err="1" smtClean="0"/>
              <a:t>Adj</a:t>
            </a:r>
            <a:endParaRPr lang="en-IN" dirty="0" smtClean="0"/>
          </a:p>
          <a:p>
            <a:pPr algn="just"/>
            <a:endParaRPr lang="en-IN"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269823"/>
            <a:ext cx="8446957" cy="6220917"/>
          </a:xfrm>
        </p:spPr>
        <p:txBody>
          <a:bodyPr>
            <a:normAutofit fontScale="92500" lnSpcReduction="10000"/>
          </a:bodyPr>
          <a:lstStyle/>
          <a:p>
            <a:pPr>
              <a:buNone/>
            </a:pPr>
            <a:r>
              <a:rPr lang="en-IN" b="1" dirty="0" smtClean="0"/>
              <a:t>2. Transformation Rule Application:</a:t>
            </a:r>
            <a:endParaRPr lang="en-IN" dirty="0" smtClean="0"/>
          </a:p>
          <a:p>
            <a:pPr algn="just">
              <a:buNone/>
            </a:pPr>
            <a:r>
              <a:rPr lang="en-IN" dirty="0" smtClean="0"/>
              <a:t>	◦ Based on training data, the model learns rules.</a:t>
            </a:r>
          </a:p>
          <a:p>
            <a:pPr algn="just">
              <a:buNone/>
            </a:pPr>
            <a:r>
              <a:rPr lang="en-IN" dirty="0" smtClean="0"/>
              <a:t> ◦ </a:t>
            </a:r>
            <a:r>
              <a:rPr lang="en-IN" b="1" dirty="0" smtClean="0"/>
              <a:t>Rule Example:</a:t>
            </a:r>
            <a:r>
              <a:rPr lang="en-IN" dirty="0" smtClean="0"/>
              <a:t> "Change verb to noun if preceded by det."</a:t>
            </a:r>
          </a:p>
          <a:p>
            <a:pPr algn="just">
              <a:buNone/>
            </a:pPr>
            <a:r>
              <a:rPr lang="en-IN" dirty="0" smtClean="0"/>
              <a:t>    ◦ </a:t>
            </a:r>
            <a:r>
              <a:rPr lang="en-IN" b="1" dirty="0" smtClean="0"/>
              <a:t>Applying this rule:</a:t>
            </a:r>
            <a:r>
              <a:rPr lang="en-IN" dirty="0" smtClean="0"/>
              <a:t> Changes "race" from Verb to Noun, resulting in correct tagging.</a:t>
            </a:r>
          </a:p>
          <a:p>
            <a:pPr algn="just">
              <a:buNone/>
            </a:pPr>
            <a:endParaRPr lang="en-IN" dirty="0" smtClean="0"/>
          </a:p>
          <a:p>
            <a:pPr algn="just">
              <a:buNone/>
            </a:pPr>
            <a:r>
              <a:rPr lang="en-IN" dirty="0" smtClean="0"/>
              <a:t>"The" </a:t>
            </a:r>
            <a:r>
              <a:rPr lang="en-IN" dirty="0" err="1" smtClean="0"/>
              <a:t>Det</a:t>
            </a:r>
            <a:r>
              <a:rPr lang="en-IN" dirty="0" smtClean="0"/>
              <a:t> | "race" Noun (was originally Verb) | "was" Verb | "exciting" ADJ</a:t>
            </a:r>
          </a:p>
          <a:p>
            <a:pPr algn="just">
              <a:buNone/>
            </a:pPr>
            <a:endParaRPr lang="en-IN" dirty="0" smtClean="0"/>
          </a:p>
          <a:p>
            <a:pPr algn="just">
              <a:buNone/>
            </a:pPr>
            <a:r>
              <a:rPr lang="en-IN" b="1" dirty="0" smtClean="0"/>
              <a:t>3. Iterate until Convergence:</a:t>
            </a:r>
          </a:p>
          <a:p>
            <a:pPr algn="just">
              <a:buNone/>
            </a:pPr>
            <a:r>
              <a:rPr lang="en-IN" dirty="0" smtClean="0"/>
              <a:t>The model continues to apply rules </a:t>
            </a:r>
            <a:r>
              <a:rPr lang="en-IN" b="1" dirty="0" smtClean="0"/>
              <a:t>iteratively</a:t>
            </a:r>
            <a:r>
              <a:rPr lang="en-IN" dirty="0" smtClean="0"/>
              <a:t>, improving tagging accuracy with each application</a:t>
            </a:r>
          </a:p>
          <a:p>
            <a:endParaRPr lang="en-IN"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Transformation Pros &amp; Cons</a:t>
            </a:r>
            <a:endParaRPr lang="en-IN" dirty="0"/>
          </a:p>
        </p:txBody>
      </p:sp>
      <p:sp>
        <p:nvSpPr>
          <p:cNvPr id="3" name="Content Placeholder 2"/>
          <p:cNvSpPr>
            <a:spLocks noGrp="1"/>
          </p:cNvSpPr>
          <p:nvPr>
            <p:ph idx="1"/>
          </p:nvPr>
        </p:nvSpPr>
        <p:spPr/>
        <p:txBody>
          <a:bodyPr/>
          <a:lstStyle/>
          <a:p>
            <a:pPr>
              <a:buNone/>
            </a:pPr>
            <a:r>
              <a:rPr lang="en-IN" b="1" dirty="0" smtClean="0"/>
              <a:t>Pros:</a:t>
            </a:r>
            <a:endParaRPr lang="en-IN" dirty="0" smtClean="0"/>
          </a:p>
          <a:p>
            <a:r>
              <a:rPr lang="en-IN" dirty="0" smtClean="0"/>
              <a:t>Combines rules and data-driven learning.</a:t>
            </a:r>
          </a:p>
          <a:p>
            <a:r>
              <a:rPr lang="en-IN" dirty="0" smtClean="0"/>
              <a:t>Better accuracy than pure rule-based</a:t>
            </a:r>
          </a:p>
          <a:p>
            <a:pPr>
              <a:buNone/>
            </a:pPr>
            <a:r>
              <a:rPr lang="en-IN" b="1" dirty="0" smtClean="0"/>
              <a:t>Cons:</a:t>
            </a:r>
            <a:endParaRPr lang="en-IN" dirty="0" smtClean="0"/>
          </a:p>
          <a:p>
            <a:r>
              <a:rPr lang="en-IN" dirty="0" smtClean="0"/>
              <a:t>Requires annotated corpora for training.</a:t>
            </a:r>
          </a:p>
          <a:p>
            <a:endParaRPr lang="en-IN"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Issues in PoS Tagging</a:t>
            </a:r>
            <a:endParaRPr lang="en-IN" dirty="0"/>
          </a:p>
        </p:txBody>
      </p:sp>
      <p:sp>
        <p:nvSpPr>
          <p:cNvPr id="3" name="Content Placeholder 2"/>
          <p:cNvSpPr>
            <a:spLocks noGrp="1"/>
          </p:cNvSpPr>
          <p:nvPr>
            <p:ph idx="1"/>
          </p:nvPr>
        </p:nvSpPr>
        <p:spPr/>
        <p:txBody>
          <a:bodyPr/>
          <a:lstStyle/>
          <a:p>
            <a:r>
              <a:rPr lang="en-IN" b="1" dirty="0" smtClean="0"/>
              <a:t>Ambiguity:</a:t>
            </a:r>
            <a:r>
              <a:rPr lang="en-IN" dirty="0" smtClean="0"/>
              <a:t> Words have multiple tags (“light”: noun/verb/adjective).</a:t>
            </a:r>
          </a:p>
          <a:p>
            <a:r>
              <a:rPr lang="en-IN" b="1" dirty="0" smtClean="0"/>
              <a:t>Unknown words:</a:t>
            </a:r>
            <a:r>
              <a:rPr lang="en-IN" dirty="0" smtClean="0"/>
              <a:t> Not present in training corpus.</a:t>
            </a:r>
          </a:p>
          <a:p>
            <a:r>
              <a:rPr lang="en-IN" b="1" dirty="0" smtClean="0"/>
              <a:t>Domain sensitivity:</a:t>
            </a:r>
            <a:r>
              <a:rPr lang="en-IN" dirty="0" smtClean="0"/>
              <a:t> A tagger trained on news may fail on social media text.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Handling Unknown Words</a:t>
            </a:r>
            <a:endParaRPr lang="en-IN" dirty="0"/>
          </a:p>
        </p:txBody>
      </p:sp>
      <p:sp>
        <p:nvSpPr>
          <p:cNvPr id="3" name="Content Placeholder 2"/>
          <p:cNvSpPr>
            <a:spLocks noGrp="1"/>
          </p:cNvSpPr>
          <p:nvPr>
            <p:ph idx="1"/>
          </p:nvPr>
        </p:nvSpPr>
        <p:spPr/>
        <p:txBody>
          <a:bodyPr/>
          <a:lstStyle/>
          <a:p>
            <a:pPr algn="just"/>
            <a:r>
              <a:rPr lang="en-IN" dirty="0" smtClean="0"/>
              <a:t>Use </a:t>
            </a:r>
            <a:r>
              <a:rPr lang="en-IN" b="1" dirty="0" smtClean="0"/>
              <a:t>suffix rules</a:t>
            </a:r>
            <a:r>
              <a:rPr lang="en-IN" dirty="0" smtClean="0"/>
              <a:t>: words ending in “-</a:t>
            </a:r>
            <a:r>
              <a:rPr lang="en-IN" dirty="0" err="1" smtClean="0"/>
              <a:t>ly</a:t>
            </a:r>
            <a:r>
              <a:rPr lang="en-IN" dirty="0" smtClean="0"/>
              <a:t>” → adverbs.</a:t>
            </a:r>
          </a:p>
          <a:p>
            <a:pPr algn="just"/>
            <a:r>
              <a:rPr lang="en-IN" dirty="0" smtClean="0"/>
              <a:t>Use </a:t>
            </a:r>
            <a:r>
              <a:rPr lang="en-IN" b="1" dirty="0" smtClean="0"/>
              <a:t>capitalization</a:t>
            </a:r>
            <a:r>
              <a:rPr lang="en-IN" dirty="0" smtClean="0"/>
              <a:t>: capitalized words often proper nouns.</a:t>
            </a:r>
          </a:p>
          <a:p>
            <a:pPr algn="just"/>
            <a:r>
              <a:rPr lang="en-IN" dirty="0" smtClean="0"/>
              <a:t>Use </a:t>
            </a:r>
            <a:r>
              <a:rPr lang="en-IN" b="1" dirty="0" smtClean="0"/>
              <a:t>morphological analysis</a:t>
            </a:r>
            <a:r>
              <a:rPr lang="en-IN" dirty="0" smtClean="0"/>
              <a:t>.</a:t>
            </a:r>
          </a:p>
          <a:p>
            <a:pPr algn="just"/>
            <a:endParaRPr lang="en-IN"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Evaluation of PoS Taggers</a:t>
            </a:r>
            <a:endParaRPr lang="en-IN" dirty="0"/>
          </a:p>
        </p:txBody>
      </p:sp>
      <p:sp>
        <p:nvSpPr>
          <p:cNvPr id="3" name="Content Placeholder 2"/>
          <p:cNvSpPr>
            <a:spLocks noGrp="1"/>
          </p:cNvSpPr>
          <p:nvPr>
            <p:ph idx="1"/>
          </p:nvPr>
        </p:nvSpPr>
        <p:spPr/>
        <p:txBody>
          <a:bodyPr/>
          <a:lstStyle/>
          <a:p>
            <a:r>
              <a:rPr lang="en-IN" b="1" dirty="0" smtClean="0"/>
              <a:t>Accuracy metric:</a:t>
            </a:r>
            <a:r>
              <a:rPr lang="en-IN" dirty="0" smtClean="0"/>
              <a:t> Percentage of correctly tagged words.</a:t>
            </a:r>
          </a:p>
          <a:p>
            <a:r>
              <a:rPr lang="en-IN" dirty="0" smtClean="0"/>
              <a:t>Typical accuracy:</a:t>
            </a:r>
          </a:p>
          <a:p>
            <a:pPr lvl="1"/>
            <a:r>
              <a:rPr lang="en-IN" dirty="0" smtClean="0"/>
              <a:t>Rule-based: ~90%</a:t>
            </a:r>
          </a:p>
          <a:p>
            <a:pPr lvl="1"/>
            <a:r>
              <a:rPr lang="en-IN" dirty="0" smtClean="0"/>
              <a:t>HMM/Stochastic: 95–97%</a:t>
            </a:r>
          </a:p>
          <a:p>
            <a:endParaRPr lang="en-IN"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PoS Tagging Example (Full Sentence)</a:t>
            </a:r>
            <a:endParaRPr lang="en-IN" dirty="0"/>
          </a:p>
        </p:txBody>
      </p:sp>
      <p:sp>
        <p:nvSpPr>
          <p:cNvPr id="3" name="Content Placeholder 2"/>
          <p:cNvSpPr>
            <a:spLocks noGrp="1"/>
          </p:cNvSpPr>
          <p:nvPr>
            <p:ph idx="1"/>
          </p:nvPr>
        </p:nvSpPr>
        <p:spPr/>
        <p:txBody>
          <a:bodyPr/>
          <a:lstStyle/>
          <a:p>
            <a:pPr>
              <a:buNone/>
            </a:pPr>
            <a:r>
              <a:rPr lang="en-IN" i="1" dirty="0" smtClean="0"/>
              <a:t>“The cat sat on the mat.”</a:t>
            </a:r>
            <a:endParaRPr lang="en-IN" dirty="0" smtClean="0"/>
          </a:p>
          <a:p>
            <a:pPr>
              <a:buNone/>
            </a:pPr>
            <a:r>
              <a:rPr lang="en-IN" dirty="0" smtClean="0"/>
              <a:t>		The/DT cat/NN sat/VBD on/IN the/DT mat/N</a:t>
            </a:r>
          </a:p>
          <a:p>
            <a:endParaRPr lang="en-IN"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Hidden Markov Model (HMM)?</a:t>
            </a:r>
            <a:endParaRPr lang="en-IN" dirty="0"/>
          </a:p>
        </p:txBody>
      </p:sp>
      <p:sp>
        <p:nvSpPr>
          <p:cNvPr id="3" name="Content Placeholder 2"/>
          <p:cNvSpPr>
            <a:spLocks noGrp="1"/>
          </p:cNvSpPr>
          <p:nvPr>
            <p:ph idx="1"/>
          </p:nvPr>
        </p:nvSpPr>
        <p:spPr/>
        <p:txBody>
          <a:bodyPr/>
          <a:lstStyle/>
          <a:p>
            <a:pPr algn="just">
              <a:buNone/>
            </a:pPr>
            <a:r>
              <a:rPr lang="en-IN" b="1" dirty="0" smtClean="0"/>
              <a:t>What is a Hidden Markov Model (HMM)?</a:t>
            </a:r>
          </a:p>
          <a:p>
            <a:pPr algn="just"/>
            <a:r>
              <a:rPr lang="en-IN" dirty="0" smtClean="0"/>
              <a:t>An HMM is a statistical model that represents sequences where:</a:t>
            </a:r>
          </a:p>
          <a:p>
            <a:pPr lvl="1" algn="just"/>
            <a:r>
              <a:rPr lang="en-IN" b="1" dirty="0" smtClean="0"/>
              <a:t>States are hidden</a:t>
            </a:r>
            <a:r>
              <a:rPr lang="en-IN" dirty="0" smtClean="0"/>
              <a:t> (e.g., PoS tags).</a:t>
            </a:r>
          </a:p>
          <a:p>
            <a:pPr lvl="1" algn="just"/>
            <a:r>
              <a:rPr lang="en-IN" b="1" dirty="0" smtClean="0"/>
              <a:t>Observations are visible</a:t>
            </a:r>
            <a:r>
              <a:rPr lang="en-IN" dirty="0" smtClean="0"/>
              <a:t> (e.g., words).</a:t>
            </a:r>
          </a:p>
          <a:p>
            <a:pPr algn="just"/>
            <a:r>
              <a:rPr lang="en-IN" dirty="0" smtClean="0"/>
              <a:t>Used widely for </a:t>
            </a:r>
            <a:r>
              <a:rPr lang="en-IN" b="1" dirty="0" smtClean="0"/>
              <a:t>PoS tagging, speech recognition, and sequence </a:t>
            </a:r>
            <a:r>
              <a:rPr lang="en-IN" b="1" dirty="0" err="1" smtClean="0"/>
              <a:t>labeling</a:t>
            </a:r>
            <a:r>
              <a:rPr lang="en-IN" dirty="0" smtClean="0"/>
              <a: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Components of HMM</a:t>
            </a:r>
            <a:endParaRPr lang="en-IN" dirty="0"/>
          </a:p>
        </p:txBody>
      </p:sp>
      <p:sp>
        <p:nvSpPr>
          <p:cNvPr id="3" name="Content Placeholder 2"/>
          <p:cNvSpPr>
            <a:spLocks noGrp="1"/>
          </p:cNvSpPr>
          <p:nvPr>
            <p:ph idx="1"/>
          </p:nvPr>
        </p:nvSpPr>
        <p:spPr/>
        <p:txBody>
          <a:bodyPr>
            <a:normAutofit fontScale="92500"/>
          </a:bodyPr>
          <a:lstStyle/>
          <a:p>
            <a:pPr algn="just"/>
            <a:r>
              <a:rPr lang="en-IN" b="1" dirty="0" smtClean="0"/>
              <a:t>States (S):</a:t>
            </a:r>
            <a:r>
              <a:rPr lang="en-IN" dirty="0" smtClean="0"/>
              <a:t> possible tags, e.g., Noun, Verb, Det.</a:t>
            </a:r>
          </a:p>
          <a:p>
            <a:pPr algn="just"/>
            <a:r>
              <a:rPr lang="en-IN" b="1" dirty="0" smtClean="0"/>
              <a:t>Observations (O):</a:t>
            </a:r>
            <a:r>
              <a:rPr lang="en-IN" dirty="0" smtClean="0"/>
              <a:t> actual words in the sentence.</a:t>
            </a:r>
          </a:p>
          <a:p>
            <a:pPr algn="just"/>
            <a:r>
              <a:rPr lang="en-IN" b="1" dirty="0" smtClean="0"/>
              <a:t>Transition probabilities (A):</a:t>
            </a:r>
            <a:r>
              <a:rPr lang="en-IN" dirty="0" smtClean="0"/>
              <a:t> P(</a:t>
            </a:r>
            <a:r>
              <a:rPr lang="en-IN" dirty="0" err="1" smtClean="0"/>
              <a:t>s</a:t>
            </a:r>
            <a:r>
              <a:rPr lang="en-IN" sz="2200" dirty="0" err="1" smtClean="0"/>
              <a:t>j</a:t>
            </a:r>
            <a:r>
              <a:rPr lang="en-IN" dirty="0" err="1" smtClean="0"/>
              <a:t>∣s</a:t>
            </a:r>
            <a:r>
              <a:rPr lang="en-IN" sz="2200" dirty="0" err="1" smtClean="0"/>
              <a:t>i</a:t>
            </a:r>
            <a:r>
              <a:rPr lang="en-IN" dirty="0" smtClean="0"/>
              <a:t>) – probability of moving from one state to another.</a:t>
            </a:r>
          </a:p>
          <a:p>
            <a:pPr algn="just"/>
            <a:r>
              <a:rPr lang="en-IN" b="1" dirty="0" smtClean="0"/>
              <a:t>Emission probabilities (B):</a:t>
            </a:r>
            <a:r>
              <a:rPr lang="en-IN" dirty="0" smtClean="0"/>
              <a:t> P(</a:t>
            </a:r>
            <a:r>
              <a:rPr lang="en-IN" dirty="0" err="1" smtClean="0"/>
              <a:t>o</a:t>
            </a:r>
            <a:r>
              <a:rPr lang="en-IN" sz="2200" dirty="0" err="1" smtClean="0"/>
              <a:t>k</a:t>
            </a:r>
            <a:r>
              <a:rPr lang="en-IN" dirty="0" err="1" smtClean="0"/>
              <a:t>∣s</a:t>
            </a:r>
            <a:r>
              <a:rPr lang="en-IN" sz="2600" dirty="0" err="1" smtClean="0"/>
              <a:t>j</a:t>
            </a:r>
            <a:r>
              <a:rPr lang="en-IN" dirty="0" smtClean="0"/>
              <a:t>) – probability of emitting a word given a tag.</a:t>
            </a:r>
          </a:p>
          <a:p>
            <a:pPr algn="just"/>
            <a:r>
              <a:rPr lang="en-IN" b="1" dirty="0" smtClean="0"/>
              <a:t>Initial probabilities (</a:t>
            </a:r>
            <a:r>
              <a:rPr lang="el-GR" b="1" dirty="0" smtClean="0"/>
              <a:t>π):</a:t>
            </a:r>
            <a:r>
              <a:rPr lang="el-GR" dirty="0" smtClean="0"/>
              <a:t> </a:t>
            </a:r>
            <a:r>
              <a:rPr lang="en-IN" dirty="0" smtClean="0"/>
              <a:t>P(s</a:t>
            </a:r>
            <a:r>
              <a:rPr lang="en-IN" sz="2200" dirty="0" smtClean="0"/>
              <a:t>1</a:t>
            </a:r>
            <a:r>
              <a:rPr lang="en-IN" dirty="0" smtClean="0"/>
              <a:t>) – starting tag probability.</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Why Use HMM?</a:t>
            </a:r>
            <a:endParaRPr lang="en-IN" dirty="0"/>
          </a:p>
        </p:txBody>
      </p:sp>
      <p:sp>
        <p:nvSpPr>
          <p:cNvPr id="3" name="Content Placeholder 2"/>
          <p:cNvSpPr>
            <a:spLocks noGrp="1"/>
          </p:cNvSpPr>
          <p:nvPr>
            <p:ph idx="1"/>
          </p:nvPr>
        </p:nvSpPr>
        <p:spPr/>
        <p:txBody>
          <a:bodyPr/>
          <a:lstStyle/>
          <a:p>
            <a:r>
              <a:rPr lang="en-IN" dirty="0" smtClean="0"/>
              <a:t>Words are observed; tags are hidden.</a:t>
            </a:r>
          </a:p>
          <a:p>
            <a:r>
              <a:rPr lang="en-IN" dirty="0" smtClean="0"/>
              <a:t>HMM models the probability of tag sequences and word emissions.</a:t>
            </a:r>
          </a:p>
          <a:p>
            <a:endParaRPr lang="en-IN"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IN" dirty="0" smtClean="0"/>
              <a:t>Bayesian Formulation</a:t>
            </a:r>
            <a:endParaRPr lang="en-IN" dirty="0"/>
          </a:p>
        </p:txBody>
      </p:sp>
      <p:sp>
        <p:nvSpPr>
          <p:cNvPr id="3" name="Content Placeholder 2"/>
          <p:cNvSpPr>
            <a:spLocks noGrp="1"/>
          </p:cNvSpPr>
          <p:nvPr>
            <p:ph idx="1"/>
          </p:nvPr>
        </p:nvSpPr>
        <p:spPr>
          <a:xfrm>
            <a:off x="457200" y="1143000"/>
            <a:ext cx="8229600" cy="4983163"/>
          </a:xfrm>
        </p:spPr>
        <p:txBody>
          <a:bodyPr>
            <a:normAutofit fontScale="85000" lnSpcReduction="20000"/>
          </a:bodyPr>
          <a:lstStyle/>
          <a:p>
            <a:r>
              <a:rPr lang="en-IN" dirty="0" smtClean="0"/>
              <a:t>Find the most probable tag sequence t^ given a word sequence w:</a:t>
            </a:r>
          </a:p>
          <a:p>
            <a:endParaRPr lang="en-IN" dirty="0" smtClean="0"/>
          </a:p>
          <a:p>
            <a:endParaRPr lang="en-IN" dirty="0" smtClean="0"/>
          </a:p>
          <a:p>
            <a:r>
              <a:rPr lang="en-IN" dirty="0" smtClean="0"/>
              <a:t>Using </a:t>
            </a:r>
            <a:r>
              <a:rPr lang="en-IN" dirty="0" err="1" smtClean="0"/>
              <a:t>Bayes</a:t>
            </a:r>
            <a:r>
              <a:rPr lang="en-IN" dirty="0" smtClean="0"/>
              <a:t>’ Rule:</a:t>
            </a:r>
          </a:p>
          <a:p>
            <a:endParaRPr lang="en-IN" dirty="0" smtClean="0"/>
          </a:p>
          <a:p>
            <a:endParaRPr lang="en-IN" dirty="0" smtClean="0"/>
          </a:p>
          <a:p>
            <a:endParaRPr lang="en-IN" dirty="0" smtClean="0"/>
          </a:p>
          <a:p>
            <a:r>
              <a:rPr lang="en-IN" dirty="0" smtClean="0"/>
              <a:t>Since P(w) is constant for all tag sequences:</a:t>
            </a:r>
          </a:p>
          <a:p>
            <a:endParaRPr lang="en-IN" dirty="0" smtClean="0"/>
          </a:p>
          <a:p>
            <a:endParaRPr lang="en-IN" dirty="0" smtClean="0"/>
          </a:p>
          <a:p>
            <a:pPr>
              <a:buNone/>
            </a:pPr>
            <a:r>
              <a:rPr lang="en-IN" dirty="0" smtClean="0"/>
              <a:t>			</a:t>
            </a:r>
          </a:p>
          <a:p>
            <a:endParaRPr lang="en-IN" dirty="0"/>
          </a:p>
        </p:txBody>
      </p:sp>
      <p:pic>
        <p:nvPicPr>
          <p:cNvPr id="1028" name="Picture 4"/>
          <p:cNvPicPr>
            <a:picLocks noChangeAspect="1" noChangeArrowheads="1"/>
          </p:cNvPicPr>
          <p:nvPr/>
        </p:nvPicPr>
        <p:blipFill>
          <a:blip r:embed="rId2"/>
          <a:srcRect/>
          <a:stretch>
            <a:fillRect/>
          </a:stretch>
        </p:blipFill>
        <p:spPr bwMode="auto">
          <a:xfrm>
            <a:off x="3657600" y="1524000"/>
            <a:ext cx="4495800" cy="1264227"/>
          </a:xfrm>
          <a:prstGeom prst="rect">
            <a:avLst/>
          </a:prstGeom>
          <a:noFill/>
          <a:ln w="9525">
            <a:noFill/>
            <a:miter lim="800000"/>
            <a:headEnd/>
            <a:tailEnd/>
          </a:ln>
          <a:effectLst/>
        </p:spPr>
      </p:pic>
      <p:pic>
        <p:nvPicPr>
          <p:cNvPr id="1029" name="Picture 5"/>
          <p:cNvPicPr>
            <a:picLocks noChangeAspect="1" noChangeArrowheads="1"/>
          </p:cNvPicPr>
          <p:nvPr/>
        </p:nvPicPr>
        <p:blipFill>
          <a:blip r:embed="rId3"/>
          <a:srcRect/>
          <a:stretch>
            <a:fillRect/>
          </a:stretch>
        </p:blipFill>
        <p:spPr bwMode="auto">
          <a:xfrm>
            <a:off x="3276600" y="3124200"/>
            <a:ext cx="4661568" cy="1062838"/>
          </a:xfrm>
          <a:prstGeom prst="rect">
            <a:avLst/>
          </a:prstGeom>
          <a:noFill/>
          <a:ln w="9525">
            <a:noFill/>
            <a:miter lim="800000"/>
            <a:headEnd/>
            <a:tailEnd/>
          </a:ln>
          <a:effectLst/>
        </p:spPr>
      </p:pic>
      <p:pic>
        <p:nvPicPr>
          <p:cNvPr id="10" name="Picture 2"/>
          <p:cNvPicPr>
            <a:picLocks noChangeAspect="1" noChangeArrowheads="1"/>
          </p:cNvPicPr>
          <p:nvPr/>
        </p:nvPicPr>
        <p:blipFill>
          <a:blip r:embed="rId4"/>
          <a:srcRect/>
          <a:stretch>
            <a:fillRect/>
          </a:stretch>
        </p:blipFill>
        <p:spPr bwMode="auto">
          <a:xfrm>
            <a:off x="3048000" y="5181600"/>
            <a:ext cx="4232013" cy="842962"/>
          </a:xfrm>
          <a:prstGeom prst="rect">
            <a:avLst/>
          </a:prstGeom>
          <a:noFill/>
          <a:ln w="9525">
            <a:noFill/>
            <a:miter lim="800000"/>
            <a:headEnd/>
            <a:tailEnd/>
          </a:ln>
          <a:effec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HMM Assumptions</a:t>
            </a:r>
            <a:endParaRPr lang="en-IN" dirty="0"/>
          </a:p>
        </p:txBody>
      </p:sp>
      <p:sp>
        <p:nvSpPr>
          <p:cNvPr id="3" name="Content Placeholder 2"/>
          <p:cNvSpPr>
            <a:spLocks noGrp="1"/>
          </p:cNvSpPr>
          <p:nvPr>
            <p:ph idx="1"/>
          </p:nvPr>
        </p:nvSpPr>
        <p:spPr/>
        <p:txBody>
          <a:bodyPr/>
          <a:lstStyle/>
          <a:p>
            <a:r>
              <a:rPr lang="en-IN" dirty="0" smtClean="0"/>
              <a:t>Output Independence</a:t>
            </a:r>
          </a:p>
          <a:p>
            <a:endParaRPr lang="en-IN" dirty="0" smtClean="0"/>
          </a:p>
          <a:p>
            <a:endParaRPr lang="en-IN" dirty="0" smtClean="0"/>
          </a:p>
          <a:p>
            <a:r>
              <a:rPr lang="en-IN" dirty="0" smtClean="0"/>
              <a:t>Markov Assumption (Bigram):</a:t>
            </a:r>
          </a:p>
          <a:p>
            <a:endParaRPr lang="en-IN" dirty="0" smtClean="0"/>
          </a:p>
          <a:p>
            <a:endParaRPr lang="en-IN" dirty="0" smtClean="0"/>
          </a:p>
          <a:p>
            <a:r>
              <a:rPr lang="en-IN" dirty="0" smtClean="0"/>
              <a:t>Final Equation:</a:t>
            </a:r>
          </a:p>
          <a:p>
            <a:endParaRPr lang="en-IN" dirty="0"/>
          </a:p>
        </p:txBody>
      </p:sp>
      <p:pic>
        <p:nvPicPr>
          <p:cNvPr id="3074" name="Picture 2"/>
          <p:cNvPicPr>
            <a:picLocks noChangeAspect="1" noChangeArrowheads="1"/>
          </p:cNvPicPr>
          <p:nvPr/>
        </p:nvPicPr>
        <p:blipFill>
          <a:blip r:embed="rId2"/>
          <a:srcRect/>
          <a:stretch>
            <a:fillRect/>
          </a:stretch>
        </p:blipFill>
        <p:spPr bwMode="auto">
          <a:xfrm>
            <a:off x="4267200" y="2133600"/>
            <a:ext cx="3429000" cy="956163"/>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4495800" y="3962400"/>
            <a:ext cx="3276600" cy="1247437"/>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a:srcRect/>
          <a:stretch>
            <a:fillRect/>
          </a:stretch>
        </p:blipFill>
        <p:spPr bwMode="auto">
          <a:xfrm>
            <a:off x="3657600" y="5257800"/>
            <a:ext cx="4876800" cy="1159630"/>
          </a:xfrm>
          <a:prstGeom prst="rect">
            <a:avLst/>
          </a:prstGeom>
          <a:noFill/>
          <a:ln w="9525">
            <a:noFill/>
            <a:miter lim="800000"/>
            <a:headEnd/>
            <a:tailEnd/>
          </a:ln>
          <a:effec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IN" dirty="0" smtClean="0"/>
              <a:t>Transition &amp; Emission Probabilities</a:t>
            </a:r>
            <a:endParaRPr lang="en-IN" dirty="0"/>
          </a:p>
        </p:txBody>
      </p:sp>
      <p:sp>
        <p:nvSpPr>
          <p:cNvPr id="3" name="Content Placeholder 2"/>
          <p:cNvSpPr>
            <a:spLocks noGrp="1"/>
          </p:cNvSpPr>
          <p:nvPr>
            <p:ph idx="1"/>
          </p:nvPr>
        </p:nvSpPr>
        <p:spPr>
          <a:xfrm>
            <a:off x="457200" y="1219200"/>
            <a:ext cx="8229600" cy="5410200"/>
          </a:xfrm>
        </p:spPr>
        <p:txBody>
          <a:bodyPr>
            <a:normAutofit/>
          </a:bodyPr>
          <a:lstStyle/>
          <a:p>
            <a:r>
              <a:rPr lang="en-IN" b="1" dirty="0" smtClean="0"/>
              <a:t>Transition probability</a:t>
            </a:r>
            <a:r>
              <a:rPr lang="en-IN" dirty="0" smtClean="0"/>
              <a:t>:</a:t>
            </a:r>
          </a:p>
          <a:p>
            <a:endParaRPr lang="en-IN" dirty="0" smtClean="0"/>
          </a:p>
          <a:p>
            <a:endParaRPr lang="en-IN" dirty="0" smtClean="0"/>
          </a:p>
          <a:p>
            <a:pPr>
              <a:buNone/>
            </a:pPr>
            <a:r>
              <a:rPr lang="en-IN" i="1" dirty="0" smtClean="0"/>
              <a:t>		Example:</a:t>
            </a:r>
            <a:r>
              <a:rPr lang="en-IN" dirty="0" smtClean="0"/>
              <a:t> From Brown Corpus → 				P(NN∣DT)=56,509/116,454= 0.49</a:t>
            </a:r>
          </a:p>
          <a:p>
            <a:r>
              <a:rPr lang="en-IN" b="1" dirty="0" smtClean="0"/>
              <a:t>Emission probability</a:t>
            </a:r>
            <a:r>
              <a:rPr lang="en-IN" dirty="0" smtClean="0"/>
              <a:t>:</a:t>
            </a:r>
          </a:p>
          <a:p>
            <a:endParaRPr lang="en-IN" dirty="0" smtClean="0"/>
          </a:p>
          <a:p>
            <a:pPr>
              <a:buNone/>
            </a:pPr>
            <a:endParaRPr lang="en-IN" i="1" dirty="0" smtClean="0"/>
          </a:p>
          <a:p>
            <a:pPr>
              <a:buNone/>
            </a:pPr>
            <a:r>
              <a:rPr lang="en-IN" i="1" dirty="0" smtClean="0"/>
              <a:t>		Example:</a:t>
            </a:r>
            <a:r>
              <a:rPr lang="en-IN" dirty="0" smtClean="0"/>
              <a:t> P(</a:t>
            </a:r>
            <a:r>
              <a:rPr lang="en-IN" dirty="0" err="1" smtClean="0"/>
              <a:t>is∣VBZ</a:t>
            </a:r>
            <a:r>
              <a:rPr lang="en-IN" dirty="0" smtClean="0"/>
              <a:t>)=10073/21627​=0.47</a:t>
            </a:r>
            <a:endParaRPr lang="en-IN" dirty="0"/>
          </a:p>
        </p:txBody>
      </p:sp>
      <p:pic>
        <p:nvPicPr>
          <p:cNvPr id="4098" name="Picture 2"/>
          <p:cNvPicPr>
            <a:picLocks noChangeAspect="1" noChangeArrowheads="1"/>
          </p:cNvPicPr>
          <p:nvPr/>
        </p:nvPicPr>
        <p:blipFill>
          <a:blip r:embed="rId2"/>
          <a:srcRect/>
          <a:stretch>
            <a:fillRect/>
          </a:stretch>
        </p:blipFill>
        <p:spPr bwMode="auto">
          <a:xfrm>
            <a:off x="4800600" y="1905000"/>
            <a:ext cx="3108960" cy="990600"/>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4343400" y="4572000"/>
            <a:ext cx="3609474" cy="1143000"/>
          </a:xfrm>
          <a:prstGeom prst="rect">
            <a:avLst/>
          </a:prstGeom>
          <a:noFill/>
          <a:ln w="9525">
            <a:noFill/>
            <a:miter lim="800000"/>
            <a:headEnd/>
            <a:tailEnd/>
          </a:ln>
          <a:effec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pPr algn="just"/>
            <a:r>
              <a:rPr lang="en-IN" dirty="0" smtClean="0"/>
              <a:t>Worked Example - Ambiguity of "Race"</a:t>
            </a:r>
            <a:endParaRPr lang="en-IN" dirty="0"/>
          </a:p>
        </p:txBody>
      </p:sp>
      <p:sp>
        <p:nvSpPr>
          <p:cNvPr id="3" name="Content Placeholder 2"/>
          <p:cNvSpPr>
            <a:spLocks noGrp="1"/>
          </p:cNvSpPr>
          <p:nvPr>
            <p:ph idx="1"/>
          </p:nvPr>
        </p:nvSpPr>
        <p:spPr>
          <a:xfrm>
            <a:off x="457200" y="1219200"/>
            <a:ext cx="8229600" cy="5334000"/>
          </a:xfrm>
        </p:spPr>
        <p:txBody>
          <a:bodyPr>
            <a:normAutofit lnSpcReduction="10000"/>
          </a:bodyPr>
          <a:lstStyle/>
          <a:p>
            <a:pPr algn="just"/>
            <a:r>
              <a:rPr lang="en-IN" dirty="0" smtClean="0"/>
              <a:t>Sentence: </a:t>
            </a:r>
            <a:r>
              <a:rPr lang="en-IN" i="1" dirty="0" smtClean="0"/>
              <a:t>“Secretariat is expected to race tomorrow”</a:t>
            </a:r>
          </a:p>
          <a:p>
            <a:r>
              <a:rPr lang="en-IN" dirty="0" smtClean="0"/>
              <a:t>Race can be NN or VB.</a:t>
            </a:r>
          </a:p>
          <a:p>
            <a:pPr>
              <a:buNone/>
            </a:pPr>
            <a:r>
              <a:rPr lang="en-IN" b="1" dirty="0" smtClean="0"/>
              <a:t>Probabilities:</a:t>
            </a:r>
          </a:p>
          <a:p>
            <a:r>
              <a:rPr lang="en-IN" dirty="0" smtClean="0"/>
              <a:t>P(NN∣TO)=0.00047, P(VB∣TO)=0.83</a:t>
            </a:r>
          </a:p>
          <a:p>
            <a:r>
              <a:rPr lang="en-IN" dirty="0" smtClean="0"/>
              <a:t>P(</a:t>
            </a:r>
            <a:r>
              <a:rPr lang="en-IN" dirty="0" err="1" smtClean="0"/>
              <a:t>race∣NN</a:t>
            </a:r>
            <a:r>
              <a:rPr lang="en-IN" dirty="0" smtClean="0"/>
              <a:t>)=0.00057, P(</a:t>
            </a:r>
            <a:r>
              <a:rPr lang="en-IN" dirty="0" err="1" smtClean="0"/>
              <a:t>race∣VB</a:t>
            </a:r>
            <a:r>
              <a:rPr lang="en-IN" dirty="0" smtClean="0"/>
              <a:t>)=0.00012</a:t>
            </a:r>
          </a:p>
          <a:p>
            <a:pPr>
              <a:buNone/>
            </a:pPr>
            <a:r>
              <a:rPr lang="en-IN" b="1" dirty="0" smtClean="0"/>
              <a:t>Combined sequence probabilities:</a:t>
            </a:r>
          </a:p>
          <a:p>
            <a:r>
              <a:rPr lang="en-IN" dirty="0" smtClean="0"/>
              <a:t>With VB → 2.7×10^</a:t>
            </a:r>
            <a:r>
              <a:rPr lang="en-IN" sz="3000" dirty="0" smtClean="0"/>
              <a:t>−7</a:t>
            </a:r>
            <a:endParaRPr lang="en-IN" dirty="0" smtClean="0"/>
          </a:p>
          <a:p>
            <a:r>
              <a:rPr lang="en-IN" dirty="0" smtClean="0"/>
              <a:t>With NN → 3.2×10^</a:t>
            </a:r>
            <a:r>
              <a:rPr lang="en-IN" sz="3000" dirty="0" smtClean="0"/>
              <a:t>−10</a:t>
            </a:r>
          </a:p>
          <a:p>
            <a:pPr>
              <a:buNone/>
            </a:pPr>
            <a:r>
              <a:rPr lang="en-IN" dirty="0" smtClean="0"/>
              <a:t>Correct tag chosen: </a:t>
            </a:r>
            <a:r>
              <a:rPr lang="en-IN" b="1" dirty="0" smtClean="0"/>
              <a:t>VB</a:t>
            </a:r>
            <a:endParaRPr lang="en-IN" dirty="0" smtClean="0"/>
          </a:p>
          <a:p>
            <a:pPr>
              <a:buNone/>
            </a:pPr>
            <a:endParaRPr lang="en-IN"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The Viterbi Algorithm for HMM Tagging</a:t>
            </a:r>
            <a:endParaRPr lang="en-IN" dirty="0"/>
          </a:p>
        </p:txBody>
      </p:sp>
      <p:sp>
        <p:nvSpPr>
          <p:cNvPr id="3" name="Content Placeholder 2"/>
          <p:cNvSpPr>
            <a:spLocks noGrp="1"/>
          </p:cNvSpPr>
          <p:nvPr>
            <p:ph idx="1"/>
          </p:nvPr>
        </p:nvSpPr>
        <p:spPr/>
        <p:txBody>
          <a:bodyPr>
            <a:normAutofit lnSpcReduction="10000"/>
          </a:bodyPr>
          <a:lstStyle/>
          <a:p>
            <a:pPr algn="just"/>
            <a:r>
              <a:rPr lang="en-IN" dirty="0" smtClean="0"/>
              <a:t>For any model, such as an HMM, that contains hidden variables, the task of determining which sequence of variables is the underlying source of some sequence of observations is called the </a:t>
            </a:r>
            <a:r>
              <a:rPr lang="en-IN" b="1" dirty="0" smtClean="0"/>
              <a:t>decoding task.</a:t>
            </a:r>
          </a:p>
          <a:p>
            <a:pPr algn="just"/>
            <a:r>
              <a:rPr lang="en-IN" dirty="0" smtClean="0"/>
              <a:t>The </a:t>
            </a:r>
            <a:r>
              <a:rPr lang="en-IN" b="1" dirty="0" smtClean="0"/>
              <a:t>Viterbi algorithm is perhaps the most common </a:t>
            </a:r>
            <a:r>
              <a:rPr lang="en-IN" dirty="0" smtClean="0"/>
              <a:t>decoding algorithm used for HMMs, whether for part-of-speech tagging or for speech recognition</a:t>
            </a:r>
            <a:endParaRPr lang="en-IN"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Viterbi Algorithm</a:t>
            </a:r>
            <a:endParaRPr lang="en-IN" dirty="0"/>
          </a:p>
        </p:txBody>
      </p:sp>
      <p:sp>
        <p:nvSpPr>
          <p:cNvPr id="3" name="Content Placeholder 2"/>
          <p:cNvSpPr>
            <a:spLocks noGrp="1"/>
          </p:cNvSpPr>
          <p:nvPr>
            <p:ph idx="1"/>
          </p:nvPr>
        </p:nvSpPr>
        <p:spPr/>
        <p:txBody>
          <a:bodyPr/>
          <a:lstStyle/>
          <a:p>
            <a:endParaRPr lang="en-IN" dirty="0"/>
          </a:p>
        </p:txBody>
      </p:sp>
      <p:pic>
        <p:nvPicPr>
          <p:cNvPr id="5122" name="Picture 2"/>
          <p:cNvPicPr>
            <a:picLocks noChangeAspect="1" noChangeArrowheads="1"/>
          </p:cNvPicPr>
          <p:nvPr/>
        </p:nvPicPr>
        <p:blipFill>
          <a:blip r:embed="rId2"/>
          <a:srcRect/>
          <a:stretch>
            <a:fillRect/>
          </a:stretch>
        </p:blipFill>
        <p:spPr bwMode="auto">
          <a:xfrm>
            <a:off x="304800" y="1371600"/>
            <a:ext cx="8579521" cy="495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Viterbi Algorithm</a:t>
            </a:r>
            <a:endParaRPr lang="en-IN" dirty="0"/>
          </a:p>
        </p:txBody>
      </p:sp>
      <p:sp>
        <p:nvSpPr>
          <p:cNvPr id="3" name="Content Placeholder 2"/>
          <p:cNvSpPr>
            <a:spLocks noGrp="1"/>
          </p:cNvSpPr>
          <p:nvPr>
            <p:ph idx="1"/>
          </p:nvPr>
        </p:nvSpPr>
        <p:spPr/>
        <p:txBody>
          <a:bodyPr/>
          <a:lstStyle/>
          <a:p>
            <a:pPr algn="just"/>
            <a:r>
              <a:rPr lang="en-IN" dirty="0" smtClean="0"/>
              <a:t>Finds the </a:t>
            </a:r>
            <a:r>
              <a:rPr lang="en-IN" b="1" dirty="0" smtClean="0"/>
              <a:t>most probable tag sequence</a:t>
            </a:r>
            <a:r>
              <a:rPr lang="en-IN" dirty="0" smtClean="0"/>
              <a:t> for a sentence.</a:t>
            </a:r>
          </a:p>
          <a:p>
            <a:pPr algn="just"/>
            <a:r>
              <a:rPr lang="en-IN" dirty="0" smtClean="0"/>
              <a:t>Uses dynamic programming to avoid </a:t>
            </a:r>
            <a:r>
              <a:rPr lang="en-IN" dirty="0" err="1" smtClean="0"/>
              <a:t>recomputing</a:t>
            </a:r>
            <a:r>
              <a:rPr lang="en-IN" dirty="0" smtClean="0"/>
              <a:t> probabilities.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Viterbi Example</a:t>
            </a:r>
            <a:endParaRPr lang="en-IN" dirty="0"/>
          </a:p>
        </p:txBody>
      </p:sp>
      <p:sp>
        <p:nvSpPr>
          <p:cNvPr id="3" name="Content Placeholder 2"/>
          <p:cNvSpPr>
            <a:spLocks noGrp="1"/>
          </p:cNvSpPr>
          <p:nvPr>
            <p:ph idx="1"/>
          </p:nvPr>
        </p:nvSpPr>
        <p:spPr>
          <a:xfrm>
            <a:off x="457200" y="1600200"/>
            <a:ext cx="8686800" cy="4525963"/>
          </a:xfrm>
        </p:spPr>
        <p:txBody>
          <a:bodyPr/>
          <a:lstStyle/>
          <a:p>
            <a:pPr>
              <a:buNone/>
            </a:pPr>
            <a:r>
              <a:rPr lang="en-IN" dirty="0" smtClean="0"/>
              <a:t>Sentence: </a:t>
            </a:r>
            <a:r>
              <a:rPr lang="en-IN" i="1" dirty="0" smtClean="0"/>
              <a:t>“I saw her duck.”</a:t>
            </a:r>
            <a:endParaRPr lang="en-IN" dirty="0" smtClean="0"/>
          </a:p>
          <a:p>
            <a:pPr>
              <a:buNone/>
            </a:pPr>
            <a:r>
              <a:rPr lang="en-IN" dirty="0" smtClean="0"/>
              <a:t>Ambiguity: “duck” → noun or verb.</a:t>
            </a:r>
          </a:p>
          <a:p>
            <a:pPr marL="0" indent="0">
              <a:buNone/>
            </a:pPr>
            <a:r>
              <a:rPr lang="en-IN" dirty="0" smtClean="0"/>
              <a:t>HMM + Viterbi chooses the most probable tag sequence:</a:t>
            </a:r>
          </a:p>
          <a:p>
            <a:pPr lvl="1">
              <a:buNone/>
            </a:pPr>
            <a:r>
              <a:rPr lang="en-IN" dirty="0" smtClean="0"/>
              <a:t>“I/PRP saw/VBD her/PRP duck/NN” &gt; “I/PRP saw/VBD her/PRP duck/VB”.</a:t>
            </a:r>
          </a:p>
          <a:p>
            <a:pPr>
              <a:buNone/>
            </a:pPr>
            <a:endParaRPr lang="en-IN"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Transition to Maximum Entropy Models</a:t>
            </a:r>
            <a:endParaRPr lang="en-IN" dirty="0"/>
          </a:p>
        </p:txBody>
      </p:sp>
      <p:sp>
        <p:nvSpPr>
          <p:cNvPr id="3" name="Content Placeholder 2"/>
          <p:cNvSpPr>
            <a:spLocks noGrp="1"/>
          </p:cNvSpPr>
          <p:nvPr>
            <p:ph idx="1"/>
          </p:nvPr>
        </p:nvSpPr>
        <p:spPr/>
        <p:txBody>
          <a:bodyPr/>
          <a:lstStyle/>
          <a:p>
            <a:pPr algn="just"/>
            <a:r>
              <a:rPr lang="en-IN" dirty="0" smtClean="0"/>
              <a:t>HMMs are </a:t>
            </a:r>
            <a:r>
              <a:rPr lang="en-IN" b="1" dirty="0" smtClean="0"/>
              <a:t>generative models</a:t>
            </a:r>
            <a:r>
              <a:rPr lang="en-IN" dirty="0" smtClean="0"/>
              <a:t>.</a:t>
            </a:r>
          </a:p>
          <a:p>
            <a:pPr algn="just"/>
            <a:r>
              <a:rPr lang="en-IN" b="1" dirty="0" smtClean="0"/>
              <a:t>Maximum Entropy (</a:t>
            </a:r>
            <a:r>
              <a:rPr lang="en-IN" b="1" dirty="0" err="1" smtClean="0"/>
              <a:t>MaxEnt</a:t>
            </a:r>
            <a:r>
              <a:rPr lang="en-IN" b="1" dirty="0" smtClean="0"/>
              <a:t>)</a:t>
            </a:r>
            <a:r>
              <a:rPr lang="en-IN" dirty="0" smtClean="0"/>
              <a:t> models are </a:t>
            </a:r>
            <a:r>
              <a:rPr lang="en-IN" b="1" dirty="0" smtClean="0"/>
              <a:t>discriminative models</a:t>
            </a:r>
            <a:r>
              <a:rPr lang="en-IN" dirty="0" smtClean="0"/>
              <a:t>:</a:t>
            </a:r>
          </a:p>
          <a:p>
            <a:pPr lvl="1" algn="just"/>
            <a:r>
              <a:rPr lang="en-IN" dirty="0" smtClean="0"/>
              <a:t>Focus directly on P(</a:t>
            </a:r>
            <a:r>
              <a:rPr lang="en-IN" dirty="0" err="1" smtClean="0"/>
              <a:t>tag∣context</a:t>
            </a:r>
            <a:r>
              <a:rPr lang="en-IN" dirty="0" smtClean="0"/>
              <a:t>) instead of joint P(</a:t>
            </a:r>
            <a:r>
              <a:rPr lang="en-IN" dirty="0" err="1" smtClean="0"/>
              <a:t>tags,words</a:t>
            </a:r>
            <a:r>
              <a:rPr lang="en-IN" dirty="0" smtClean="0"/>
              <a:t>)</a:t>
            </a:r>
          </a:p>
          <a:p>
            <a:endParaRPr lang="en-IN"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What is a Maximum Entropy Model?</a:t>
            </a:r>
            <a:endParaRPr lang="en-IN" dirty="0"/>
          </a:p>
        </p:txBody>
      </p:sp>
      <p:sp>
        <p:nvSpPr>
          <p:cNvPr id="3" name="Content Placeholder 2"/>
          <p:cNvSpPr>
            <a:spLocks noGrp="1"/>
          </p:cNvSpPr>
          <p:nvPr>
            <p:ph idx="1"/>
          </p:nvPr>
        </p:nvSpPr>
        <p:spPr/>
        <p:txBody>
          <a:bodyPr/>
          <a:lstStyle/>
          <a:p>
            <a:pPr algn="just"/>
            <a:r>
              <a:rPr lang="en-IN" dirty="0" smtClean="0"/>
              <a:t>Logistic regression model for sequence </a:t>
            </a:r>
            <a:r>
              <a:rPr lang="en-IN" dirty="0" err="1" smtClean="0"/>
              <a:t>labeling</a:t>
            </a:r>
            <a:r>
              <a:rPr lang="en-IN" dirty="0" smtClean="0"/>
              <a:t>.</a:t>
            </a:r>
          </a:p>
          <a:p>
            <a:pPr algn="just"/>
            <a:r>
              <a:rPr lang="en-IN" dirty="0" smtClean="0"/>
              <a:t>Uses </a:t>
            </a:r>
            <a:r>
              <a:rPr lang="en-IN" b="1" dirty="0" smtClean="0"/>
              <a:t>feature functions</a:t>
            </a:r>
            <a:r>
              <a:rPr lang="en-IN" dirty="0" smtClean="0"/>
              <a:t> instead of just previous tags.</a:t>
            </a:r>
          </a:p>
          <a:p>
            <a:pPr algn="just"/>
            <a:r>
              <a:rPr lang="en-IN" dirty="0" smtClean="0"/>
              <a:t>Formula:</a:t>
            </a:r>
          </a:p>
          <a:p>
            <a:endParaRPr lang="en-IN" dirty="0"/>
          </a:p>
        </p:txBody>
      </p:sp>
      <p:pic>
        <p:nvPicPr>
          <p:cNvPr id="72706" name="Picture 2"/>
          <p:cNvPicPr>
            <a:picLocks noChangeAspect="1" noChangeArrowheads="1"/>
          </p:cNvPicPr>
          <p:nvPr/>
        </p:nvPicPr>
        <p:blipFill>
          <a:blip r:embed="rId2"/>
          <a:srcRect/>
          <a:stretch>
            <a:fillRect/>
          </a:stretch>
        </p:blipFill>
        <p:spPr bwMode="auto">
          <a:xfrm>
            <a:off x="2761079" y="3703835"/>
            <a:ext cx="4868914" cy="1362043"/>
          </a:xfrm>
          <a:prstGeom prst="rect">
            <a:avLst/>
          </a:prstGeom>
          <a:noFill/>
          <a:ln w="9525">
            <a:noFill/>
            <a:miter lim="800000"/>
            <a:headEnd/>
            <a:tailEnd/>
          </a:ln>
          <a:effectLst/>
        </p:spPr>
      </p:pic>
      <p:sp>
        <p:nvSpPr>
          <p:cNvPr id="5" name="Rectangle 4"/>
          <p:cNvSpPr/>
          <p:nvPr/>
        </p:nvSpPr>
        <p:spPr>
          <a:xfrm>
            <a:off x="966866" y="4856813"/>
            <a:ext cx="4572000" cy="1938992"/>
          </a:xfrm>
          <a:prstGeom prst="rect">
            <a:avLst/>
          </a:prstGeom>
        </p:spPr>
        <p:txBody>
          <a:bodyPr>
            <a:spAutoFit/>
          </a:bodyPr>
          <a:lstStyle/>
          <a:p>
            <a:r>
              <a:rPr lang="en-IN" sz="2400" dirty="0" smtClean="0"/>
              <a:t>where:</a:t>
            </a:r>
          </a:p>
          <a:p>
            <a:r>
              <a:rPr lang="en-IN" sz="2400" dirty="0" smtClean="0"/>
              <a:t>t = tag, c = context,</a:t>
            </a:r>
          </a:p>
          <a:p>
            <a:r>
              <a:rPr lang="en-IN" sz="2400" dirty="0" err="1" smtClean="0"/>
              <a:t>fi</a:t>
            </a:r>
            <a:r>
              <a:rPr lang="en-IN" sz="2400" dirty="0" smtClean="0"/>
              <a:t> = feature function,</a:t>
            </a:r>
          </a:p>
          <a:p>
            <a:r>
              <a:rPr lang="el-GR" sz="2400" dirty="0" smtClean="0"/>
              <a:t>λ</a:t>
            </a:r>
            <a:r>
              <a:rPr lang="en-IN" sz="2400" dirty="0" err="1" smtClean="0"/>
              <a:t>i</a:t>
            </a:r>
            <a:r>
              <a:rPr lang="en-IN" sz="2400" dirty="0" smtClean="0"/>
              <a:t> = learned weights,</a:t>
            </a:r>
          </a:p>
          <a:p>
            <a:r>
              <a:rPr lang="en-IN" sz="2400" dirty="0" smtClean="0"/>
              <a:t>Z(c) = normalization factor.</a:t>
            </a:r>
            <a:endParaRPr lang="en-IN" sz="24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228600" y="568377"/>
            <a:ext cx="8518008" cy="44383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srcRect/>
          <a:stretch>
            <a:fillRect/>
          </a:stretch>
        </p:blipFill>
        <p:spPr bwMode="auto">
          <a:xfrm>
            <a:off x="381000" y="599607"/>
            <a:ext cx="8229600" cy="4810593"/>
          </a:xfrm>
          <a:prstGeom prst="rect">
            <a:avLst/>
          </a:prstGeom>
          <a:noFill/>
          <a:ln w="9525">
            <a:noFill/>
            <a:miter lim="800000"/>
            <a:headEnd/>
            <a:tailEnd/>
          </a:ln>
          <a:effec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293350" y="762000"/>
            <a:ext cx="8622050" cy="4648200"/>
          </a:xfrm>
          <a:prstGeom prst="rect">
            <a:avLst/>
          </a:prstGeom>
          <a:noFill/>
          <a:ln w="9525">
            <a:noFill/>
            <a:miter lim="800000"/>
            <a:headEnd/>
            <a:tailEnd/>
          </a:ln>
          <a:effec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381000" y="533400"/>
            <a:ext cx="8129162" cy="4800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228600" y="609600"/>
            <a:ext cx="8543141" cy="4495800"/>
          </a:xfrm>
          <a:prstGeom prst="rect">
            <a:avLst/>
          </a:prstGeom>
          <a:noFill/>
          <a:ln w="9525">
            <a:noFill/>
            <a:miter lim="800000"/>
            <a:headEnd/>
            <a:tailEnd/>
          </a:ln>
          <a:effec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304800" y="304800"/>
            <a:ext cx="8343900" cy="5562600"/>
          </a:xfrm>
          <a:prstGeom prst="rect">
            <a:avLst/>
          </a:prstGeom>
          <a:noFill/>
          <a:ln w="9525">
            <a:noFill/>
            <a:miter lim="800000"/>
            <a:headEnd/>
            <a:tailEnd/>
          </a:ln>
          <a:effec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1" y="533400"/>
            <a:ext cx="9143999" cy="5334000"/>
          </a:xfrm>
          <a:prstGeom prst="rect">
            <a:avLst/>
          </a:prstGeom>
          <a:noFill/>
          <a:ln w="9525">
            <a:noFill/>
            <a:miter lim="800000"/>
            <a:headEnd/>
            <a:tailEnd/>
          </a:ln>
          <a:effec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0" y="1143000"/>
            <a:ext cx="9144000" cy="3505200"/>
          </a:xfrm>
          <a:prstGeom prst="rect">
            <a:avLst/>
          </a:prstGeom>
          <a:noFill/>
          <a:ln w="9525">
            <a:noFill/>
            <a:miter lim="800000"/>
            <a:headEnd/>
            <a:tailEnd/>
          </a:ln>
          <a:effec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304799" y="381000"/>
            <a:ext cx="8610601" cy="5486400"/>
          </a:xfrm>
          <a:prstGeom prst="rect">
            <a:avLst/>
          </a:prstGeom>
          <a:noFill/>
          <a:ln w="9525">
            <a:noFill/>
            <a:miter lim="800000"/>
            <a:headEnd/>
            <a:tailEnd/>
          </a:ln>
          <a:effec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228600" y="381000"/>
            <a:ext cx="8717964" cy="5334000"/>
          </a:xfrm>
          <a:prstGeom prst="rect">
            <a:avLst/>
          </a:prstGeom>
          <a:noFill/>
          <a:ln w="9525">
            <a:noFill/>
            <a:miter lim="800000"/>
            <a:headEnd/>
            <a:tailEnd/>
          </a:ln>
          <a:effectLst/>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a:stretch>
            <a:fillRect/>
          </a:stretch>
        </p:blipFill>
        <p:spPr bwMode="auto">
          <a:xfrm>
            <a:off x="0" y="381000"/>
            <a:ext cx="8852647" cy="5638800"/>
          </a:xfrm>
          <a:prstGeom prst="rect">
            <a:avLst/>
          </a:prstGeom>
          <a:noFill/>
          <a:ln w="9525">
            <a:noFill/>
            <a:miter lim="800000"/>
            <a:headEnd/>
            <a:tailEnd/>
          </a:ln>
          <a:effec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srcRect/>
          <a:stretch>
            <a:fillRect/>
          </a:stretch>
        </p:blipFill>
        <p:spPr bwMode="auto">
          <a:xfrm>
            <a:off x="0" y="304800"/>
            <a:ext cx="9028336" cy="5791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srcRect/>
          <a:stretch>
            <a:fillRect/>
          </a:stretch>
        </p:blipFill>
        <p:spPr bwMode="auto">
          <a:xfrm>
            <a:off x="0" y="457200"/>
            <a:ext cx="8991600" cy="6019800"/>
          </a:xfrm>
          <a:prstGeom prst="rect">
            <a:avLst/>
          </a:prstGeom>
          <a:noFill/>
          <a:ln w="9525">
            <a:noFill/>
            <a:miter lim="800000"/>
            <a:headEnd/>
            <a:tailEnd/>
          </a:ln>
          <a:effec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Features in </a:t>
            </a:r>
            <a:r>
              <a:rPr lang="en-IN" b="1" dirty="0" err="1" smtClean="0"/>
              <a:t>MaxEnt</a:t>
            </a:r>
            <a:endParaRPr lang="en-IN" dirty="0"/>
          </a:p>
        </p:txBody>
      </p:sp>
      <p:sp>
        <p:nvSpPr>
          <p:cNvPr id="3" name="Content Placeholder 2"/>
          <p:cNvSpPr>
            <a:spLocks noGrp="1"/>
          </p:cNvSpPr>
          <p:nvPr>
            <p:ph idx="1"/>
          </p:nvPr>
        </p:nvSpPr>
        <p:spPr/>
        <p:txBody>
          <a:bodyPr/>
          <a:lstStyle/>
          <a:p>
            <a:r>
              <a:rPr lang="en-IN" dirty="0" smtClean="0"/>
              <a:t>Word identity: Is the word “the”?</a:t>
            </a:r>
          </a:p>
          <a:p>
            <a:r>
              <a:rPr lang="en-IN" dirty="0" smtClean="0"/>
              <a:t>Prefix/suffix: Does it end in “-</a:t>
            </a:r>
            <a:r>
              <a:rPr lang="en-IN" dirty="0" err="1" smtClean="0"/>
              <a:t>ing</a:t>
            </a:r>
            <a:r>
              <a:rPr lang="en-IN" dirty="0" smtClean="0"/>
              <a:t>”?</a:t>
            </a:r>
          </a:p>
          <a:p>
            <a:r>
              <a:rPr lang="en-IN" dirty="0" smtClean="0"/>
              <a:t>Capitalization: Is it uppercase?</a:t>
            </a:r>
          </a:p>
          <a:p>
            <a:r>
              <a:rPr lang="en-IN" dirty="0" smtClean="0"/>
              <a:t>Previous and next tags.</a:t>
            </a:r>
          </a:p>
          <a:p>
            <a:pPr>
              <a:buNone/>
            </a:pPr>
            <a:endParaRPr lang="en-IN"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MaxEnt</a:t>
            </a:r>
            <a:r>
              <a:rPr lang="en-IN" dirty="0" smtClean="0"/>
              <a:t> Example</a:t>
            </a:r>
            <a:endParaRPr lang="en-IN" dirty="0"/>
          </a:p>
        </p:txBody>
      </p:sp>
      <p:sp>
        <p:nvSpPr>
          <p:cNvPr id="3" name="Content Placeholder 2"/>
          <p:cNvSpPr>
            <a:spLocks noGrp="1"/>
          </p:cNvSpPr>
          <p:nvPr>
            <p:ph idx="1"/>
          </p:nvPr>
        </p:nvSpPr>
        <p:spPr/>
        <p:txBody>
          <a:bodyPr/>
          <a:lstStyle/>
          <a:p>
            <a:pPr>
              <a:buNone/>
            </a:pPr>
            <a:r>
              <a:rPr lang="en-IN" dirty="0" smtClean="0"/>
              <a:t>Sentence: </a:t>
            </a:r>
            <a:r>
              <a:rPr lang="en-IN" i="1" dirty="0" smtClean="0"/>
              <a:t>“Dogs bark loudly.”</a:t>
            </a:r>
          </a:p>
          <a:p>
            <a:pPr>
              <a:buNone/>
            </a:pPr>
            <a:r>
              <a:rPr lang="en-IN" b="1" dirty="0" smtClean="0"/>
              <a:t>Features:</a:t>
            </a:r>
          </a:p>
          <a:p>
            <a:pPr>
              <a:buNone/>
            </a:pPr>
            <a:r>
              <a:rPr lang="en-IN" dirty="0" smtClean="0"/>
              <a:t>	Current word = “Dogs” → likely Noun.</a:t>
            </a:r>
          </a:p>
          <a:p>
            <a:pPr>
              <a:buNone/>
            </a:pPr>
            <a:r>
              <a:rPr lang="en-IN" dirty="0" smtClean="0"/>
              <a:t>	Starts with capital → proper noun or sentence start.</a:t>
            </a:r>
          </a:p>
          <a:p>
            <a:pPr>
              <a:buNone/>
            </a:pPr>
            <a:r>
              <a:rPr lang="en-IN" dirty="0" smtClean="0"/>
              <a:t>	Next word = verb → increases probability for Noun.</a:t>
            </a:r>
          </a:p>
          <a:p>
            <a:pPr>
              <a:buNone/>
            </a:pPr>
            <a:endParaRPr lang="en-IN"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MaxEnt</a:t>
            </a:r>
            <a:r>
              <a:rPr lang="en-IN" dirty="0" smtClean="0"/>
              <a:t> vs. HMM</a:t>
            </a:r>
            <a:endParaRPr lang="en-IN" dirty="0"/>
          </a:p>
        </p:txBody>
      </p:sp>
      <p:graphicFrame>
        <p:nvGraphicFramePr>
          <p:cNvPr id="4" name="Content Placeholder 3"/>
          <p:cNvGraphicFramePr>
            <a:graphicFrameLocks noGrp="1"/>
          </p:cNvGraphicFramePr>
          <p:nvPr>
            <p:ph idx="1"/>
          </p:nvPr>
        </p:nvGraphicFramePr>
        <p:xfrm>
          <a:off x="457200" y="1600200"/>
          <a:ext cx="8229600" cy="185420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r>
                        <a:rPr lang="en-IN" dirty="0" smtClean="0"/>
                        <a:t>Feature</a:t>
                      </a:r>
                      <a:endParaRPr lang="en-IN" dirty="0"/>
                    </a:p>
                  </a:txBody>
                  <a:tcPr/>
                </a:tc>
                <a:tc>
                  <a:txBody>
                    <a:bodyPr/>
                    <a:lstStyle/>
                    <a:p>
                      <a:r>
                        <a:rPr lang="en-IN" dirty="0" smtClean="0"/>
                        <a:t>HMM</a:t>
                      </a:r>
                      <a:endParaRPr lang="en-IN" dirty="0"/>
                    </a:p>
                  </a:txBody>
                  <a:tcPr/>
                </a:tc>
                <a:tc>
                  <a:txBody>
                    <a:bodyPr/>
                    <a:lstStyle/>
                    <a:p>
                      <a:r>
                        <a:rPr lang="en-IN" dirty="0" err="1" smtClean="0"/>
                        <a:t>MaxEnt</a:t>
                      </a:r>
                      <a:endParaRPr lang="en-IN" dirty="0"/>
                    </a:p>
                  </a:txBody>
                  <a:tcPr/>
                </a:tc>
              </a:tr>
              <a:tr h="370840">
                <a:tc>
                  <a:txBody>
                    <a:bodyPr/>
                    <a:lstStyle/>
                    <a:p>
                      <a:r>
                        <a:rPr lang="en-IN" dirty="0" smtClean="0"/>
                        <a:t>Model type</a:t>
                      </a:r>
                      <a:endParaRPr lang="en-IN" dirty="0"/>
                    </a:p>
                  </a:txBody>
                  <a:tcPr/>
                </a:tc>
                <a:tc>
                  <a:txBody>
                    <a:bodyPr/>
                    <a:lstStyle/>
                    <a:p>
                      <a:r>
                        <a:rPr lang="en-IN" dirty="0" smtClean="0"/>
                        <a:t>Generative</a:t>
                      </a:r>
                      <a:endParaRPr lang="en-IN" dirty="0"/>
                    </a:p>
                  </a:txBody>
                  <a:tcPr/>
                </a:tc>
                <a:tc>
                  <a:txBody>
                    <a:bodyPr/>
                    <a:lstStyle/>
                    <a:p>
                      <a:r>
                        <a:rPr lang="en-IN" dirty="0" smtClean="0"/>
                        <a:t>Discriminative</a:t>
                      </a:r>
                      <a:endParaRPr lang="en-IN" dirty="0"/>
                    </a:p>
                  </a:txBody>
                  <a:tcPr/>
                </a:tc>
              </a:tr>
              <a:tr h="370840">
                <a:tc>
                  <a:txBody>
                    <a:bodyPr/>
                    <a:lstStyle/>
                    <a:p>
                      <a:r>
                        <a:rPr lang="en-IN" dirty="0" smtClean="0"/>
                        <a:t>Uses features</a:t>
                      </a:r>
                      <a:endParaRPr lang="en-IN" dirty="0"/>
                    </a:p>
                  </a:txBody>
                  <a:tcPr/>
                </a:tc>
                <a:tc>
                  <a:txBody>
                    <a:bodyPr/>
                    <a:lstStyle/>
                    <a:p>
                      <a:r>
                        <a:rPr lang="en-IN" dirty="0" smtClean="0"/>
                        <a:t>Limited</a:t>
                      </a:r>
                      <a:endParaRPr lang="en-IN" dirty="0"/>
                    </a:p>
                  </a:txBody>
                  <a:tcPr/>
                </a:tc>
                <a:tc>
                  <a:txBody>
                    <a:bodyPr/>
                    <a:lstStyle/>
                    <a:p>
                      <a:r>
                        <a:rPr lang="en-IN" dirty="0" smtClean="0"/>
                        <a:t>Rich, flexible</a:t>
                      </a:r>
                      <a:endParaRPr lang="en-IN" dirty="0"/>
                    </a:p>
                  </a:txBody>
                  <a:tcPr/>
                </a:tc>
              </a:tr>
              <a:tr h="370840">
                <a:tc>
                  <a:txBody>
                    <a:bodyPr/>
                    <a:lstStyle/>
                    <a:p>
                      <a:r>
                        <a:rPr lang="en-IN" dirty="0" smtClean="0"/>
                        <a:t>Long dependencies</a:t>
                      </a:r>
                      <a:endParaRPr lang="en-IN" dirty="0"/>
                    </a:p>
                  </a:txBody>
                  <a:tcPr/>
                </a:tc>
                <a:tc>
                  <a:txBody>
                    <a:bodyPr/>
                    <a:lstStyle/>
                    <a:p>
                      <a:r>
                        <a:rPr lang="en-IN" dirty="0" smtClean="0"/>
                        <a:t>Weak</a:t>
                      </a:r>
                      <a:endParaRPr lang="en-IN" dirty="0"/>
                    </a:p>
                  </a:txBody>
                  <a:tcPr/>
                </a:tc>
                <a:tc>
                  <a:txBody>
                    <a:bodyPr/>
                    <a:lstStyle/>
                    <a:p>
                      <a:r>
                        <a:rPr lang="en-IN" dirty="0" smtClean="0"/>
                        <a:t>Strong</a:t>
                      </a:r>
                      <a:endParaRPr lang="en-IN" dirty="0"/>
                    </a:p>
                  </a:txBody>
                  <a:tcPr/>
                </a:tc>
              </a:tr>
              <a:tr h="370840">
                <a:tc>
                  <a:txBody>
                    <a:bodyPr/>
                    <a:lstStyle/>
                    <a:p>
                      <a:r>
                        <a:rPr lang="en-IN" dirty="0" smtClean="0"/>
                        <a:t>Data requirements</a:t>
                      </a:r>
                      <a:endParaRPr lang="en-IN" dirty="0"/>
                    </a:p>
                  </a:txBody>
                  <a:tcPr/>
                </a:tc>
                <a:tc>
                  <a:txBody>
                    <a:bodyPr/>
                    <a:lstStyle/>
                    <a:p>
                      <a:r>
                        <a:rPr lang="en-IN" dirty="0" smtClean="0"/>
                        <a:t>Less</a:t>
                      </a:r>
                      <a:endParaRPr lang="en-IN" dirty="0"/>
                    </a:p>
                  </a:txBody>
                  <a:tcPr/>
                </a:tc>
                <a:tc>
                  <a:txBody>
                    <a:bodyPr/>
                    <a:lstStyle/>
                    <a:p>
                      <a:r>
                        <a:rPr lang="en-IN" dirty="0" smtClean="0"/>
                        <a:t>More</a:t>
                      </a:r>
                      <a:endParaRPr lang="en-IN" dirty="0"/>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1003</TotalTime>
  <Words>3265</Words>
  <Application>Microsoft Office PowerPoint</Application>
  <PresentationFormat>On-screen Show (4:3)</PresentationFormat>
  <Paragraphs>725</Paragraphs>
  <Slides>110</Slides>
  <Notes>1</Notes>
  <HiddenSlides>0</HiddenSlides>
  <MMClips>0</MMClips>
  <ScaleCrop>false</ScaleCrop>
  <HeadingPairs>
    <vt:vector size="4" baseType="variant">
      <vt:variant>
        <vt:lpstr>Theme</vt:lpstr>
      </vt:variant>
      <vt:variant>
        <vt:i4>1</vt:i4>
      </vt:variant>
      <vt:variant>
        <vt:lpstr>Slide Titles</vt:lpstr>
      </vt:variant>
      <vt:variant>
        <vt:i4>110</vt:i4>
      </vt:variant>
    </vt:vector>
  </HeadingPairs>
  <TitlesOfParts>
    <vt:vector size="111" baseType="lpstr">
      <vt:lpstr>Office Theme</vt:lpstr>
      <vt:lpstr>UNIT 2 Word Level Analysis</vt:lpstr>
      <vt:lpstr>What are N-grams?</vt:lpstr>
      <vt:lpstr>Mathematical Model for N-grams Definition</vt:lpstr>
      <vt:lpstr>Example Corpus</vt:lpstr>
      <vt:lpstr>Unigram Frequency Distribution</vt:lpstr>
      <vt:lpstr>Unigram Probability Example</vt:lpstr>
      <vt:lpstr>Bigram Counts Visualization</vt:lpstr>
      <vt:lpstr>Bigram Probability Example</vt:lpstr>
      <vt:lpstr>Zero-Probability Problem</vt:lpstr>
      <vt:lpstr>Evaluating N-grams</vt:lpstr>
      <vt:lpstr>Cross-Entropy Definition</vt:lpstr>
      <vt:lpstr>Cross-Entropy Example</vt:lpstr>
      <vt:lpstr>PowerPoint Presentation</vt:lpstr>
      <vt:lpstr>What is Perplexity?</vt:lpstr>
      <vt:lpstr>Perplexity Example</vt:lpstr>
      <vt:lpstr>Why Perplexity is Useful</vt:lpstr>
      <vt:lpstr>Limitations of Perplexity</vt:lpstr>
      <vt:lpstr>Cross-Entropy vs. Perplexity</vt:lpstr>
      <vt:lpstr>Data Sparsity Impact</vt:lpstr>
      <vt:lpstr>Transition to Smoothing</vt:lpstr>
      <vt:lpstr>Why Do We Need Smoothing?</vt:lpstr>
      <vt:lpstr>Laplace (Add-1) Smoothing</vt:lpstr>
      <vt:lpstr>Laplace Example: Bigram</vt:lpstr>
      <vt:lpstr>Laplace Probability Distribution</vt:lpstr>
      <vt:lpstr>Laplace: Pros and Cons</vt:lpstr>
      <vt:lpstr>Good-Turing Smoothing</vt:lpstr>
      <vt:lpstr>Good-Turing Probability</vt:lpstr>
      <vt:lpstr>Example 1 – Simple Word Frequency Case</vt:lpstr>
      <vt:lpstr>Step 1: Compute Nc</vt:lpstr>
      <vt:lpstr>Step 2: Apply Good-Turing for observed counts</vt:lpstr>
      <vt:lpstr>Example 2: Good-Turing on Trigram Frequencies</vt:lpstr>
      <vt:lpstr>Step 1: Tabulate Nc​ — the number of trigrams with frequency c</vt:lpstr>
      <vt:lpstr>PowerPoint Presentation</vt:lpstr>
      <vt:lpstr>PowerPoint Presentation</vt:lpstr>
      <vt:lpstr>Good-Turing Pros &amp; Cons</vt:lpstr>
      <vt:lpstr>Transition to Interpolation and Backoff</vt:lpstr>
      <vt:lpstr>What is Interpolation?</vt:lpstr>
      <vt:lpstr>Why Use Interpolation?</vt:lpstr>
      <vt:lpstr>PowerPoint Presentation</vt:lpstr>
      <vt:lpstr>Choosing λ Values</vt:lpstr>
      <vt:lpstr>Backoff Concept</vt:lpstr>
      <vt:lpstr>Katz Backoff Formula</vt:lpstr>
      <vt:lpstr>Example</vt:lpstr>
      <vt:lpstr>PowerPoint Presentation</vt:lpstr>
      <vt:lpstr>PowerPoint Presentation</vt:lpstr>
      <vt:lpstr>PowerPoint Presentation</vt:lpstr>
      <vt:lpstr>PowerPoint Presentation</vt:lpstr>
      <vt:lpstr>Example 2</vt:lpstr>
      <vt:lpstr>PowerPoint Presentation</vt:lpstr>
      <vt:lpstr>PowerPoint Presentation</vt:lpstr>
      <vt:lpstr>PowerPoint Presentation</vt:lpstr>
      <vt:lpstr>PowerPoint Presentation</vt:lpstr>
      <vt:lpstr>Practical Use Cases</vt:lpstr>
      <vt:lpstr>Word Classes</vt:lpstr>
      <vt:lpstr>Major Word Classes</vt:lpstr>
      <vt:lpstr>Why Word Classes Matter in NLP</vt:lpstr>
      <vt:lpstr>Part- of-Speech Tagging</vt:lpstr>
      <vt:lpstr>Why PoS Tagging?</vt:lpstr>
      <vt:lpstr>PoS Tagging Example</vt:lpstr>
      <vt:lpstr>PowerPoint Presentation</vt:lpstr>
      <vt:lpstr>Approaches to POS Tagging</vt:lpstr>
      <vt:lpstr>Rule-based PoS Tagging</vt:lpstr>
      <vt:lpstr>PowerPoint Presentation</vt:lpstr>
      <vt:lpstr>Rule-based Example</vt:lpstr>
      <vt:lpstr>PowerPoint Presentation</vt:lpstr>
      <vt:lpstr>Rule-based POS Tagging Examples</vt:lpstr>
      <vt:lpstr>Rule-based Pros &amp; Cons</vt:lpstr>
      <vt:lpstr>Stochastic-based POS Tagging</vt:lpstr>
      <vt:lpstr>PowerPoint Presentation</vt:lpstr>
      <vt:lpstr>Stochastic-based POS Tagging Example</vt:lpstr>
      <vt:lpstr>Stochastic - HMM-Based PoS Tagging</vt:lpstr>
      <vt:lpstr>HMM Formula Example</vt:lpstr>
      <vt:lpstr>Transformation-based Tagging</vt:lpstr>
      <vt:lpstr>How Transformation-based Learning (TBL) Works</vt:lpstr>
      <vt:lpstr>Transformation-based Tagging Example</vt:lpstr>
      <vt:lpstr>PowerPoint Presentation</vt:lpstr>
      <vt:lpstr>Transformation Pros &amp; Cons</vt:lpstr>
      <vt:lpstr>Issues in PoS Tagging</vt:lpstr>
      <vt:lpstr>Handling Unknown Words</vt:lpstr>
      <vt:lpstr>Evaluation of PoS Taggers</vt:lpstr>
      <vt:lpstr>PoS Tagging Example (Full Sentence)</vt:lpstr>
      <vt:lpstr>Hidden Markov Model (HMM)?</vt:lpstr>
      <vt:lpstr>Components of HMM</vt:lpstr>
      <vt:lpstr>Why Use HMM?</vt:lpstr>
      <vt:lpstr>Bayesian Formulation</vt:lpstr>
      <vt:lpstr>HMM Assumptions</vt:lpstr>
      <vt:lpstr>Transition &amp; Emission Probabilities</vt:lpstr>
      <vt:lpstr>Worked Example - Ambiguity of "Race"</vt:lpstr>
      <vt:lpstr>The Viterbi Algorithm for HMM Tagging</vt:lpstr>
      <vt:lpstr>Viterbi Algorithm</vt:lpstr>
      <vt:lpstr>Viterbi Algorithm</vt:lpstr>
      <vt:lpstr>Viterbi Example</vt:lpstr>
      <vt:lpstr>Transition to Maximum Entropy Models</vt:lpstr>
      <vt:lpstr>What is a Maximum Entropy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Features in MaxEnt</vt:lpstr>
      <vt:lpstr>MaxEnt Example</vt:lpstr>
      <vt:lpstr>MaxEnt vs. HMM</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Detailed NLP Presentation – Part 1</dc:title>
  <dc:subject/>
  <dc:creator/>
  <cp:keywords/>
  <dc:description>generated using python-pptx</dc:description>
  <cp:lastModifiedBy>Windows User</cp:lastModifiedBy>
  <cp:revision>307</cp:revision>
  <dcterms:created xsi:type="dcterms:W3CDTF">2013-01-27T09:14:16Z</dcterms:created>
  <dcterms:modified xsi:type="dcterms:W3CDTF">2026-02-01T04:13:31Z</dcterms:modified>
  <cp:category/>
</cp:coreProperties>
</file>